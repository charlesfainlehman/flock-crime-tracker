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0B2545"/>
                </a:solidFill>
                <a:latin typeface="Arial"/>
              </a:defRPr>
            </a:pPr>
            <a:r>
              <a:rPr sz="1500" b="0" i="0" u="none" strike="noStrike">
                <a:solidFill>
                  <a:srgbClr val="0B2545"/>
                </a:solidFill>
                <a:latin typeface="Arial"/>
              </a:rPr>
              <a:t>Who made the 337 commits</a:t>
            </a:r>
          </a:p>
        </c:rich>
      </c:tx>
      <c:layout/>
      <c:overlay val="0"/>
    </c:title>
    <c:autoTitleDeleted val="0"/>
    <c:plotArea>
      <c:layout/>
      <c:doughnutChart>
        <c:varyColors val="1"/>
        <c:ser>
          <c:idx val="0"/>
          <c:order val="0"/>
          <c:tx>
            <c:strRef>
              <c:f>Sheet1!$B$1</c:f>
              <c:strCache>
                <c:ptCount val="1"/>
                <c:pt idx="0">
                  <c:v>Commits</c:v>
                </c:pt>
              </c:strCache>
            </c:strRef>
          </c:tx>
          <c:spPr>
            <a:solidFill>
              <a:schemeClr val="accent1"/>
            </a:solidFill>
            <a:ln w="9525" cap="flat">
              <a:solidFill>
                <a:srgbClr val="F9F9F9"/>
              </a:solidFill>
              <a:prstDash val="solid"/>
              <a:round/>
            </a:ln>
            <a:effectLst/>
          </c:spPr>
          <c:dPt>
            <c:idx val="0"/>
            <c:bubble3D val="0"/>
            <c:spPr>
              <a:solidFill>
                <a:srgbClr val="2A78D6"/>
              </a:solidFill>
              <a:effectLst/>
            </c:spPr>
          </c:dPt>
          <c:dPt>
            <c:idx val="1"/>
            <c:bubble3D val="0"/>
            <c:spPr>
              <a:solidFill>
                <a:srgbClr val="E8A33D"/>
              </a:solidFill>
              <a:effectLst/>
            </c:spPr>
          </c:dPt>
          <c:dLbls>
            <c:dLbl>
              <c:idx val="0"/>
              <c:numFmt formatCode="General" sourceLinked="0"/>
              <c:spPr/>
              <c:txPr>
                <a:bodyPr/>
                <a:lstStyle/>
                <a:p>
                  <a:pPr>
                    <a:defRPr sz="1400" b="1" i="0" u="none" strike="noStrike">
                      <a:solidFill>
                        <a:srgbClr val="FFFFFF"/>
                      </a:solidFill>
                      <a:latin typeface="Arial"/>
                    </a:defRPr>
                  </a:pPr>
                </a:p>
              </c:txPr>
              <c:showLegendKey val="0"/>
              <c:showVal val="1"/>
              <c:showCatName val="0"/>
              <c:showSerName val="0"/>
              <c:showPercent val="0"/>
              <c:showBubbleSize val="0"/>
            </c:dLbl>
            <c:dLbl>
              <c:idx val="1"/>
              <c:numFmt formatCode="General" sourceLinked="0"/>
              <c:spPr/>
              <c:txPr>
                <a:bodyPr/>
                <a:lstStyle/>
                <a:p>
                  <a:pPr>
                    <a:defRPr sz="1400" b="1" i="0" u="none" strike="noStrike">
                      <a:solidFill>
                        <a:srgbClr val="FFFFFF"/>
                      </a:solidFill>
                      <a:latin typeface="Arial"/>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Automated bot</c:v>
                </c:pt>
                <c:pt idx="1">
                  <c:v>Human + Claude</c:v>
                </c:pt>
              </c:strCache>
            </c:strRef>
          </c:cat>
          <c:val>
            <c:numRef>
              <c:f>Sheet1!$B$2:$B$3</c:f>
              <c:numCache>
                <c:ptCount val="2"/>
                <c:pt idx="0">
                  <c:v>250</c:v>
                </c:pt>
                <c:pt idx="1">
                  <c:v>87</c:v>
                </c:pt>
              </c:numCache>
            </c:numRef>
          </c:val>
        </c:ser>
        <c:firstSliceAng val="0"/>
        <c:holeSize val="62"/>
      </c:doughnutChart>
      <c:spPr>
        <a:noFill/>
        <a:ln>
          <a:noFill/>
        </a:ln>
        <a:effectLst/>
      </c:spPr>
    </c:plotArea>
    <c:legend>
      <c:legendPos val="b"/>
      <c:overlay val="0"/>
      <c:txPr>
        <a:bodyPr/>
        <a:lstStyle/>
        <a:p>
          <a:pPr>
            <a:defRPr sz="1300">
              <a:solidFill>
                <a:srgbClr val="1A223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2545"/>
                </a:solidFill>
                <a:latin typeface="Arial"/>
              </a:defRPr>
            </a:pPr>
            <a:r>
              <a:rPr sz="1400" b="0" i="0" u="none" strike="noStrike">
                <a:solidFill>
                  <a:srgbClr val="0B2545"/>
                </a:solidFill>
                <a:latin typeface="Arial"/>
              </a:rPr>
              <a:t>Rows in the database after each stage</a:t>
            </a:r>
          </a:p>
        </c:rich>
      </c:tx>
      <c:layout/>
      <c:overlay val="0"/>
    </c:title>
    <c:autoTitleDeleted val="0"/>
    <c:plotArea>
      <c:layout/>
      <c:barChart>
        <c:barDir val="col"/>
        <c:grouping val="clustered"/>
        <c:varyColors val="0"/>
        <c:ser>
          <c:idx val="0"/>
          <c:order val="0"/>
          <c:tx>
            <c:strRef>
              <c:f>Sheet1!$B$1</c:f>
              <c:strCache>
                <c:ptCount val="1"/>
                <c:pt idx="0">
                  <c:v>News stories</c:v>
                </c:pt>
              </c:strCache>
            </c:strRef>
          </c:tx>
          <c:spPr>
            <a:solidFill>
              <a:srgbClr val="2A78D6"/>
            </a:solidFill>
            <a:effectLst/>
          </c:spPr>
          <c:invertIfNegative val="0"/>
          <c:dLbls>
            <c:numFmt formatCode="#,##0" sourceLinked="0"/>
            <c:txPr>
              <a:bodyPr/>
              <a:lstStyle/>
              <a:p>
                <a:pPr>
                  <a:defRPr b="0" i="0" strike="noStrike" sz="1200" u="none">
                    <a:solidFill>
                      <a:srgbClr val="1A2230"/>
                    </a:solidFill>
                    <a:latin typeface="Arial"/>
                  </a:defRPr>
                </a:pPr>
              </a:p>
            </c:txPr>
            <c:showLegendKey val="0"/>
            <c:showVal val="1"/>
            <c:showCatName val="0"/>
            <c:showSerName val="0"/>
            <c:showPercent val="0"/>
            <c:showBubbleSize val="0"/>
            <c:showLeaderLines val="0"/>
          </c:dLbls>
          <c:cat>
            <c:multiLvlStrRef>
              <c:f>Sheet1!$A$2:$A$8</c:f>
              <c:multiLvlStrCache>
                <c:ptCount val="7"/>
                <c:lvl>
                  <c:pt idx="0">
                    <c:v>Backfill</c:v>
                  </c:pt>
                  <c:pt idx="1">
                    <c:v>Review 1</c:v>
                  </c:pt>
                  <c:pt idx="2">
                    <c:v>Review 2</c:v>
                  </c:pt>
                  <c:pt idx="3">
                    <c:v>Import</c:v>
                  </c:pt>
                  <c:pt idx="4">
                    <c:v>Review 3</c:v>
                  </c:pt>
                  <c:pt idx="5">
                    <c:v>Restores + 3rd party</c:v>
                  </c:pt>
                  <c:pt idx="6">
                    <c:v>Today</c:v>
                  </c:pt>
                </c:lvl>
              </c:multiLvlStrCache>
            </c:multiLvlStrRef>
          </c:cat>
          <c:val>
            <c:numRef>
              <c:f>Sheet1!$B$2:$B$8</c:f>
              <c:numCache>
                <c:formatCode>General</c:formatCode>
                <c:ptCount val="7"/>
                <c:pt idx="0">
                  <c:v>894</c:v>
                </c:pt>
                <c:pt idx="1">
                  <c:v>774</c:v>
                </c:pt>
                <c:pt idx="2">
                  <c:v>714</c:v>
                </c:pt>
                <c:pt idx="3">
                  <c:v>1918</c:v>
                </c:pt>
                <c:pt idx="4">
                  <c:v>1607</c:v>
                </c:pt>
                <c:pt idx="5">
                  <c:v>1632</c:v>
                </c:pt>
                <c:pt idx="6">
                  <c:v>1774</c:v>
                </c:pt>
              </c:numCache>
            </c:numRef>
          </c:val>
        </c:ser>
        <c:dLbls>
          <c:numFmt formatCode="#,##0" sourceLinked="0"/>
          <c:txPr>
            <a:bodyPr/>
            <a:lstStyle/>
            <a:p>
              <a:pPr>
                <a:defRPr b="0" i="0" strike="noStrike" sz="1200" u="none">
                  <a:solidFill>
                    <a:srgbClr val="1A2230"/>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678"/>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uses one real project to teach the vibecoding workflow. Everything described happened: the facts come from the project's git history, commit messages, and docs. Sample prompts are illustrative reconstructions, not verbatim.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as of Sept 23, 2026. 1,789 = news stories plus court records. 250 of the 337 commits were made by the automated daily bot, not a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Code is an AI agent that works inside a code project. It can be used from a terminal, a desktop app, or the web at claude.ai/code. The web version runs in a cloud container attached to a GitHub repository, so a beginner needs no local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not need to know how to set any of these up. Ask Claude Code to walk you through each one. The one thing you must do yourself is paste secrets (like the API key) into GitHub's secret settings. Never paste them into chat or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commit in the repo, 'Flock camera crime tracker: pipeline, site, daily workflow,' contains the whole first version. The prompt shown is a reconstruction of the kind of request that produces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beginner does not need to read this code. But knowing the four steps lets you give precise instructions, like 'the dedupe step is missing syndicated copies.'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87 non-bot commits include the maintainer's direct edits and commits Claude Code made during sessions. Many were attributed to the maintainer's account because Claude Code commits as the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commits f5c2ded (error handling), 9b066a6 (GDELT user-agent), and f4a237b (conflict-marker corruption). The key habit: after the fix, ask 'how do we prevent this from happening again?' That question produced the data validator, which now runs before every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bullet is a real commit, e.g. 26794e7 (nav, charts, sortable columns), 49bb981 (blue accent passing 4.16:1 contrast), 0709396 (map and icon tiles), 921e018 (mobile layout), 4727256 (daily link-preview image), 8b4189a (thousands separators). Claude Code can also take screenshots of the site to check its own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docs/adversarial-review-protocol.md and commits 7abc304 (894 -&gt; 774), fc917c1 (780 -&gt; 714), 59342b1 (1918 -&gt; 1607), 552cedc (17 restored). Reviews check both directions: wrongly included rows AND wrongly excluded ones. The database shrank twice. Accuracy, not size, was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commit 25a49da ('Fix ten issues found in the pipeline code review') and 0102d8f (URL canonicalization bug). Claude Code has a built-in /code-review command. You do not need to understand the code to ask for a review; you need to insist on plain-English explanations.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commit 2eefd60 ('Triage has no code/data write access; the maintainer applies accepted corrections'). Each reader report became a fix to one row AND, where possible, a fix to the pipeline so the same kind of error stops recurring.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'fix the instance, then fix the cause' pattern appears throughout the history: e.g. #16 merged nine syndicated copies AND closed both dedupe gaps that let them in; #24 dropped two press releases AND closed the filter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for the confidential-data example: commit 393fc2b. The fix also added the folder to .gitignore so it cannot be committed again. The README's 'Caveats' section is a good model for public data disclaimers.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good first project is small and personal: a reading list, a tracker for something you already collect, a page summarizing a dataset. Scheduled jobs and AI classification can come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Text 0"/>
          <p:cNvSpPr txBox="1"/>
          <p:nvPr/>
        </p:nvSpPr>
        <p:spPr>
          <a:xfrm>
            <a:off x="640080" y="914400"/>
            <a:ext cx="5943600" cy="365760"/>
          </a:xfrm>
          <a:prstGeom prst="rect">
            <a:avLst/>
          </a:prstGeom>
          <a:noFill/>
          <a:ln/>
        </p:spPr>
        <p:txBody>
          <a:bodyPr wrap="square" lIns="0" tIns="0" rIns="0" bIns="0" rtlCol="0" anchor="ctr"/>
          <a:lstStyle/>
          <a:p>
            <a:pPr indent="0" marL="0">
              <a:buNone/>
            </a:pPr>
            <a:r>
              <a:rPr lang="en-US" sz="1400" b="1" spc="400" kern="0" dirty="0">
                <a:solidFill>
                  <a:srgbClr val="E8A33D"/>
                </a:solidFill>
                <a:latin typeface="Arial" pitchFamily="34" charset="0"/>
                <a:ea typeface="Arial" pitchFamily="34" charset="-122"/>
                <a:cs typeface="Arial" pitchFamily="34" charset="-120"/>
              </a:rPr>
              <a:t>VIBECODING 101</a:t>
            </a:r>
            <a:endParaRPr lang="en-US" sz="1400" dirty="0"/>
          </a:p>
        </p:txBody>
      </p:sp>
      <p:sp>
        <p:nvSpPr>
          <p:cNvPr id="3" name="Text 1"/>
          <p:cNvSpPr txBox="1"/>
          <p:nvPr/>
        </p:nvSpPr>
        <p:spPr>
          <a:xfrm>
            <a:off x="640080" y="1371600"/>
            <a:ext cx="5760720" cy="210312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How to Build a Real Website with Claude Code</a:t>
            </a:r>
            <a:endParaRPr lang="en-US" sz="4000" dirty="0"/>
          </a:p>
        </p:txBody>
      </p:sp>
      <p:sp>
        <p:nvSpPr>
          <p:cNvPr id="4" name="Text 2"/>
          <p:cNvSpPr txBox="1"/>
          <p:nvPr/>
        </p:nvSpPr>
        <p:spPr>
          <a:xfrm>
            <a:off x="640080" y="3657600"/>
            <a:ext cx="5486400" cy="822960"/>
          </a:xfrm>
          <a:prstGeom prst="rect">
            <a:avLst/>
          </a:prstGeom>
          <a:noFill/>
          <a:ln/>
        </p:spPr>
        <p:txBody>
          <a:bodyPr wrap="square" lIns="0" tIns="0" rIns="0" bIns="0" rtlCol="0" anchor="ctr"/>
          <a:lstStyle/>
          <a:p>
            <a:pPr indent="0" marL="0">
              <a:buNone/>
            </a:pPr>
            <a:r>
              <a:rPr lang="en-US" sz="2000" dirty="0">
                <a:solidFill>
                  <a:srgbClr val="B8C7DD"/>
                </a:solidFill>
                <a:latin typeface="Calibri" pitchFamily="34" charset="0"/>
                <a:ea typeface="Calibri" pitchFamily="34" charset="-122"/>
                <a:cs typeface="Calibri" pitchFamily="34" charset="-120"/>
              </a:rPr>
              <a:t>A case study: flockstopscrime.com, the Flock Crime Prevention Tracker</a:t>
            </a:r>
            <a:endParaRPr lang="en-US" sz="2000" dirty="0"/>
          </a:p>
        </p:txBody>
      </p:sp>
      <p:sp>
        <p:nvSpPr>
          <p:cNvPr id="5" name="Text 3"/>
          <p:cNvSpPr txBox="1"/>
          <p:nvPr/>
        </p:nvSpPr>
        <p:spPr>
          <a:xfrm>
            <a:off x="640080" y="5394960"/>
            <a:ext cx="5486400" cy="365760"/>
          </a:xfrm>
          <a:prstGeom prst="rect">
            <a:avLst/>
          </a:prstGeom>
          <a:noFill/>
          <a:ln/>
        </p:spPr>
        <p:txBody>
          <a:bodyPr wrap="square" lIns="0" tIns="0" rIns="0" bIns="0" rtlCol="0" anchor="ctr"/>
          <a:lstStyle/>
          <a:p>
            <a:pPr indent="0" marL="0">
              <a:buNone/>
            </a:pPr>
            <a:r>
              <a:rPr lang="en-US" sz="1400" i="1" dirty="0">
                <a:solidFill>
                  <a:srgbClr val="8FA3C0"/>
                </a:solidFill>
                <a:latin typeface="Calibri" pitchFamily="34" charset="0"/>
                <a:ea typeface="Calibri" pitchFamily="34" charset="-122"/>
                <a:cs typeface="Calibri" pitchFamily="34" charset="-120"/>
              </a:rPr>
              <a:t>For beginners. No prior coding needed.</a:t>
            </a:r>
            <a:endParaRPr lang="en-US" sz="1400" dirty="0"/>
          </a:p>
        </p:txBody>
      </p:sp>
      <p:pic>
        <p:nvPicPr>
          <p:cNvPr id="6" name="Image 0" descr="preencoded.png">    </p:cNvPr>
          <p:cNvPicPr>
            <a:picLocks noChangeAspect="1"/>
          </p:cNvPicPr>
          <p:nvPr/>
        </p:nvPicPr>
        <p:blipFill>
          <a:blip r:embed="rId1"/>
          <a:stretch>
            <a:fillRect/>
          </a:stretch>
        </p:blipFill>
        <p:spPr>
          <a:xfrm>
            <a:off x="6858000" y="960120"/>
            <a:ext cx="4754880" cy="3786293"/>
          </a:xfrm>
          <a:prstGeom prst="rect">
            <a:avLst/>
          </a:prstGeom>
          <a:effectLst>
            <a:outerShdw sx="100000" sy="100000" kx="0" ky="0" algn="bl" rotWithShape="0" blurRad="101600" dist="25400" dir="5400000">
              <a:srgbClr val="000000">
                <a:alpha val="12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0B2545"/>
                </a:solidFill>
                <a:latin typeface="Arial" pitchFamily="34" charset="0"/>
                <a:ea typeface="Arial" pitchFamily="34" charset="-122"/>
                <a:cs typeface="Arial" pitchFamily="34" charset="-120"/>
              </a:rPr>
              <a:t>What we built</a:t>
            </a:r>
            <a:endParaRPr lang="en-US" sz="3400" dirty="0"/>
          </a:p>
        </p:txBody>
      </p:sp>
      <p:sp>
        <p:nvSpPr>
          <p:cNvPr id="3" name="Text 1"/>
          <p:cNvSpPr txBox="1"/>
          <p:nvPr/>
        </p:nvSpPr>
        <p:spPr>
          <a:xfrm>
            <a:off x="548640" y="1097280"/>
            <a:ext cx="11064240" cy="411480"/>
          </a:xfrm>
          <a:prstGeom prst="rect">
            <a:avLst/>
          </a:prstGeom>
          <a:noFill/>
          <a:ln/>
        </p:spPr>
        <p:txBody>
          <a:bodyPr wrap="square" lIns="0" tIns="0" rIns="0" bIns="0" rtlCol="0" anchor="ctr"/>
          <a:lstStyle/>
          <a:p>
            <a:pPr indent="0" marL="0">
              <a:buNone/>
            </a:pPr>
            <a:r>
              <a:rPr lang="en-US" sz="1700" i="1" dirty="0">
                <a:solidFill>
                  <a:srgbClr val="5B6678"/>
                </a:solidFill>
                <a:latin typeface="Calibri" pitchFamily="34" charset="0"/>
                <a:ea typeface="Calibri" pitchFamily="34" charset="-122"/>
                <a:cs typeface="Calibri" pitchFamily="34" charset="-120"/>
              </a:rPr>
              <a:t>A daily-updated public database, built mostly by describing it in plain English</a:t>
            </a:r>
            <a:endParaRPr lang="en-US" sz="1700" dirty="0"/>
          </a:p>
        </p:txBody>
      </p:sp>
      <p:pic>
        <p:nvPicPr>
          <p:cNvPr id="4" name="Image 0" descr="preencoded.png">    </p:cNvPr>
          <p:cNvPicPr>
            <a:picLocks noChangeAspect="1"/>
          </p:cNvPicPr>
          <p:nvPr/>
        </p:nvPicPr>
        <p:blipFill>
          <a:blip r:embed="rId1"/>
          <a:stretch>
            <a:fillRect/>
          </a:stretch>
        </p:blipFill>
        <p:spPr>
          <a:xfrm>
            <a:off x="548640" y="1783080"/>
            <a:ext cx="5669280" cy="3499556"/>
          </a:xfrm>
          <a:prstGeom prst="rect">
            <a:avLst/>
          </a:prstGeom>
          <a:effectLst>
            <a:outerShdw sx="100000" sy="100000" kx="0" ky="0" algn="bl" rotWithShape="0" blurRad="101600" dist="25400" dir="5400000">
              <a:srgbClr val="000000">
                <a:alpha val="12000"/>
              </a:srgbClr>
            </a:outerShdw>
          </a:effectLst>
        </p:spPr>
      </p:pic>
      <p:sp>
        <p:nvSpPr>
          <p:cNvPr id="5" name="Shape 2"/>
          <p:cNvSpPr/>
          <p:nvPr/>
        </p:nvSpPr>
        <p:spPr>
          <a:xfrm>
            <a:off x="6629400" y="1783080"/>
            <a:ext cx="2331720" cy="1554480"/>
          </a:xfrm>
          <a:prstGeom prst="roundRect">
            <a:avLst>
              <a:gd name="adj" fmla="val 7059"/>
            </a:avLst>
          </a:prstGeom>
          <a:solidFill>
            <a:srgbClr val="FFFFFF"/>
          </a:solidFill>
          <a:ln w="9525">
            <a:solidFill>
              <a:srgbClr val="E1E6EE"/>
            </a:solidFill>
            <a:prstDash val="solid"/>
          </a:ln>
          <a:effectLst>
            <a:outerShdw sx="100000" sy="100000" kx="0" ky="0" algn="bl" rotWithShape="0" blurRad="101600" dist="25400" dir="5400000">
              <a:srgbClr val="000000">
                <a:alpha val="12000"/>
              </a:srgbClr>
            </a:outerShdw>
          </a:effectLst>
        </p:spPr>
      </p:sp>
      <p:sp>
        <p:nvSpPr>
          <p:cNvPr id="6" name="Text 3"/>
          <p:cNvSpPr txBox="1"/>
          <p:nvPr/>
        </p:nvSpPr>
        <p:spPr>
          <a:xfrm>
            <a:off x="6812280" y="1965960"/>
            <a:ext cx="2011680" cy="731520"/>
          </a:xfrm>
          <a:prstGeom prst="rect">
            <a:avLst/>
          </a:prstGeom>
          <a:noFill/>
          <a:ln/>
        </p:spPr>
        <p:txBody>
          <a:bodyPr wrap="square" lIns="0" tIns="0" rIns="0" bIns="0" rtlCol="0" anchor="ctr"/>
          <a:lstStyle/>
          <a:p>
            <a:pPr indent="0" marL="0">
              <a:buNone/>
            </a:pPr>
            <a:r>
              <a:rPr lang="en-US" sz="3600" b="1" dirty="0">
                <a:solidFill>
                  <a:srgbClr val="2A78D6"/>
                </a:solidFill>
                <a:latin typeface="Arial" pitchFamily="34" charset="0"/>
                <a:ea typeface="Arial" pitchFamily="34" charset="-122"/>
                <a:cs typeface="Arial" pitchFamily="34" charset="-120"/>
              </a:rPr>
              <a:t>1,789</a:t>
            </a:r>
            <a:endParaRPr lang="en-US" sz="3600" dirty="0"/>
          </a:p>
        </p:txBody>
      </p:sp>
      <p:sp>
        <p:nvSpPr>
          <p:cNvPr id="7" name="Text 4"/>
          <p:cNvSpPr txBox="1"/>
          <p:nvPr/>
        </p:nvSpPr>
        <p:spPr>
          <a:xfrm>
            <a:off x="6812280" y="2697480"/>
            <a:ext cx="2011680" cy="502920"/>
          </a:xfrm>
          <a:prstGeom prst="rect">
            <a:avLst/>
          </a:prstGeom>
          <a:noFill/>
          <a:ln/>
        </p:spPr>
        <p:txBody>
          <a:bodyPr wrap="square" lIns="0" tIns="0" rIns="0" bIns="0" rtlCol="0" anchor="t"/>
          <a:lstStyle/>
          <a:p>
            <a:pPr indent="0" marL="0">
              <a:buNone/>
            </a:pPr>
            <a:r>
              <a:rPr lang="en-US" sz="1400" dirty="0">
                <a:solidFill>
                  <a:srgbClr val="5B6678"/>
                </a:solidFill>
                <a:latin typeface="Calibri" pitchFamily="34" charset="0"/>
                <a:ea typeface="Calibri" pitchFamily="34" charset="-122"/>
                <a:cs typeface="Calibri" pitchFamily="34" charset="-120"/>
              </a:rPr>
              <a:t>documented cases on the site</a:t>
            </a:r>
            <a:endParaRPr lang="en-US" sz="1400" dirty="0"/>
          </a:p>
        </p:txBody>
      </p:sp>
      <p:sp>
        <p:nvSpPr>
          <p:cNvPr id="8" name="Shape 5"/>
          <p:cNvSpPr/>
          <p:nvPr/>
        </p:nvSpPr>
        <p:spPr>
          <a:xfrm>
            <a:off x="9189720" y="1783080"/>
            <a:ext cx="2331720" cy="1554480"/>
          </a:xfrm>
          <a:prstGeom prst="roundRect">
            <a:avLst>
              <a:gd name="adj" fmla="val 7059"/>
            </a:avLst>
          </a:prstGeom>
          <a:solidFill>
            <a:srgbClr val="FFFFFF"/>
          </a:solidFill>
          <a:ln w="9525">
            <a:solidFill>
              <a:srgbClr val="E1E6EE"/>
            </a:solidFill>
            <a:prstDash val="solid"/>
          </a:ln>
          <a:effectLst>
            <a:outerShdw sx="100000" sy="100000" kx="0" ky="0" algn="bl" rotWithShape="0" blurRad="101600" dist="25400" dir="5400000">
              <a:srgbClr val="000000">
                <a:alpha val="12000"/>
              </a:srgbClr>
            </a:outerShdw>
          </a:effectLst>
        </p:spPr>
      </p:sp>
      <p:sp>
        <p:nvSpPr>
          <p:cNvPr id="9" name="Text 6"/>
          <p:cNvSpPr txBox="1"/>
          <p:nvPr/>
        </p:nvSpPr>
        <p:spPr>
          <a:xfrm>
            <a:off x="9372600" y="1965960"/>
            <a:ext cx="2011680" cy="731520"/>
          </a:xfrm>
          <a:prstGeom prst="rect">
            <a:avLst/>
          </a:prstGeom>
          <a:noFill/>
          <a:ln/>
        </p:spPr>
        <p:txBody>
          <a:bodyPr wrap="square" lIns="0" tIns="0" rIns="0" bIns="0" rtlCol="0" anchor="ctr"/>
          <a:lstStyle/>
          <a:p>
            <a:pPr indent="0" marL="0">
              <a:buNone/>
            </a:pPr>
            <a:r>
              <a:rPr lang="en-US" sz="3600" b="1" dirty="0">
                <a:solidFill>
                  <a:srgbClr val="2A78D6"/>
                </a:solidFill>
                <a:latin typeface="Arial" pitchFamily="34" charset="0"/>
                <a:ea typeface="Arial" pitchFamily="34" charset="-122"/>
                <a:cs typeface="Arial" pitchFamily="34" charset="-120"/>
              </a:rPr>
              <a:t>47</a:t>
            </a:r>
            <a:endParaRPr lang="en-US" sz="3600" dirty="0"/>
          </a:p>
        </p:txBody>
      </p:sp>
      <p:sp>
        <p:nvSpPr>
          <p:cNvPr id="10" name="Text 7"/>
          <p:cNvSpPr txBox="1"/>
          <p:nvPr/>
        </p:nvSpPr>
        <p:spPr>
          <a:xfrm>
            <a:off x="9372600" y="2697480"/>
            <a:ext cx="2011680" cy="502920"/>
          </a:xfrm>
          <a:prstGeom prst="rect">
            <a:avLst/>
          </a:prstGeom>
          <a:noFill/>
          <a:ln/>
        </p:spPr>
        <p:txBody>
          <a:bodyPr wrap="square" lIns="0" tIns="0" rIns="0" bIns="0" rtlCol="0" anchor="t"/>
          <a:lstStyle/>
          <a:p>
            <a:pPr indent="0" marL="0">
              <a:buNone/>
            </a:pPr>
            <a:r>
              <a:rPr lang="en-US" sz="1400" dirty="0">
                <a:solidFill>
                  <a:srgbClr val="5B6678"/>
                </a:solidFill>
                <a:latin typeface="Calibri" pitchFamily="34" charset="0"/>
                <a:ea typeface="Calibri" pitchFamily="34" charset="-122"/>
                <a:cs typeface="Calibri" pitchFamily="34" charset="-120"/>
              </a:rPr>
              <a:t>states covered</a:t>
            </a:r>
            <a:endParaRPr lang="en-US" sz="1400" dirty="0"/>
          </a:p>
        </p:txBody>
      </p:sp>
      <p:sp>
        <p:nvSpPr>
          <p:cNvPr id="11" name="Shape 8"/>
          <p:cNvSpPr/>
          <p:nvPr/>
        </p:nvSpPr>
        <p:spPr>
          <a:xfrm>
            <a:off x="6629400" y="3566160"/>
            <a:ext cx="2331720" cy="1554480"/>
          </a:xfrm>
          <a:prstGeom prst="roundRect">
            <a:avLst>
              <a:gd name="adj" fmla="val 7059"/>
            </a:avLst>
          </a:prstGeom>
          <a:solidFill>
            <a:srgbClr val="FFFFFF"/>
          </a:solidFill>
          <a:ln w="9525">
            <a:solidFill>
              <a:srgbClr val="E1E6EE"/>
            </a:solidFill>
            <a:prstDash val="solid"/>
          </a:ln>
          <a:effectLst>
            <a:outerShdw sx="100000" sy="100000" kx="0" ky="0" algn="bl" rotWithShape="0" blurRad="101600" dist="25400" dir="5400000">
              <a:srgbClr val="000000">
                <a:alpha val="12000"/>
              </a:srgbClr>
            </a:outerShdw>
          </a:effectLst>
        </p:spPr>
      </p:sp>
      <p:sp>
        <p:nvSpPr>
          <p:cNvPr id="12" name="Text 9"/>
          <p:cNvSpPr txBox="1"/>
          <p:nvPr/>
        </p:nvSpPr>
        <p:spPr>
          <a:xfrm>
            <a:off x="6812280" y="3749040"/>
            <a:ext cx="2011680" cy="731520"/>
          </a:xfrm>
          <a:prstGeom prst="rect">
            <a:avLst/>
          </a:prstGeom>
          <a:noFill/>
          <a:ln/>
        </p:spPr>
        <p:txBody>
          <a:bodyPr wrap="square" lIns="0" tIns="0" rIns="0" bIns="0" rtlCol="0" anchor="ctr"/>
          <a:lstStyle/>
          <a:p>
            <a:pPr indent="0" marL="0">
              <a:buNone/>
            </a:pPr>
            <a:r>
              <a:rPr lang="en-US" sz="3600" b="1" dirty="0">
                <a:solidFill>
                  <a:srgbClr val="2A78D6"/>
                </a:solidFill>
                <a:latin typeface="Arial" pitchFamily="34" charset="0"/>
                <a:ea typeface="Arial" pitchFamily="34" charset="-122"/>
                <a:cs typeface="Arial" pitchFamily="34" charset="-120"/>
              </a:rPr>
              <a:t>337</a:t>
            </a:r>
            <a:endParaRPr lang="en-US" sz="3600" dirty="0"/>
          </a:p>
        </p:txBody>
      </p:sp>
      <p:sp>
        <p:nvSpPr>
          <p:cNvPr id="13" name="Text 10"/>
          <p:cNvSpPr txBox="1"/>
          <p:nvPr/>
        </p:nvSpPr>
        <p:spPr>
          <a:xfrm>
            <a:off x="6812280" y="4480560"/>
            <a:ext cx="2011680" cy="502920"/>
          </a:xfrm>
          <a:prstGeom prst="rect">
            <a:avLst/>
          </a:prstGeom>
          <a:noFill/>
          <a:ln/>
        </p:spPr>
        <p:txBody>
          <a:bodyPr wrap="square" lIns="0" tIns="0" rIns="0" bIns="0" rtlCol="0" anchor="t"/>
          <a:lstStyle/>
          <a:p>
            <a:pPr indent="0" marL="0">
              <a:buNone/>
            </a:pPr>
            <a:r>
              <a:rPr lang="en-US" sz="1400" dirty="0">
                <a:solidFill>
                  <a:srgbClr val="5B6678"/>
                </a:solidFill>
                <a:latin typeface="Calibri" pitchFamily="34" charset="0"/>
                <a:ea typeface="Calibri" pitchFamily="34" charset="-122"/>
                <a:cs typeface="Calibri" pitchFamily="34" charset="-120"/>
              </a:rPr>
              <a:t>commits since Aug 12, 2026</a:t>
            </a:r>
            <a:endParaRPr lang="en-US" sz="1400" dirty="0"/>
          </a:p>
        </p:txBody>
      </p:sp>
      <p:sp>
        <p:nvSpPr>
          <p:cNvPr id="14" name="Shape 11"/>
          <p:cNvSpPr/>
          <p:nvPr/>
        </p:nvSpPr>
        <p:spPr>
          <a:xfrm>
            <a:off x="9189720" y="3566160"/>
            <a:ext cx="2331720" cy="1554480"/>
          </a:xfrm>
          <a:prstGeom prst="roundRect">
            <a:avLst>
              <a:gd name="adj" fmla="val 7059"/>
            </a:avLst>
          </a:prstGeom>
          <a:solidFill>
            <a:srgbClr val="FFFFFF"/>
          </a:solidFill>
          <a:ln w="9525">
            <a:solidFill>
              <a:srgbClr val="E1E6EE"/>
            </a:solidFill>
            <a:prstDash val="solid"/>
          </a:ln>
          <a:effectLst>
            <a:outerShdw sx="100000" sy="100000" kx="0" ky="0" algn="bl" rotWithShape="0" blurRad="101600" dist="25400" dir="5400000">
              <a:srgbClr val="000000">
                <a:alpha val="12000"/>
              </a:srgbClr>
            </a:outerShdw>
          </a:effectLst>
        </p:spPr>
      </p:sp>
      <p:sp>
        <p:nvSpPr>
          <p:cNvPr id="15" name="Text 12"/>
          <p:cNvSpPr txBox="1"/>
          <p:nvPr/>
        </p:nvSpPr>
        <p:spPr>
          <a:xfrm>
            <a:off x="9372600" y="3749040"/>
            <a:ext cx="2011680" cy="731520"/>
          </a:xfrm>
          <a:prstGeom prst="rect">
            <a:avLst/>
          </a:prstGeom>
          <a:noFill/>
          <a:ln/>
        </p:spPr>
        <p:txBody>
          <a:bodyPr wrap="square" lIns="0" tIns="0" rIns="0" bIns="0" rtlCol="0" anchor="ctr"/>
          <a:lstStyle/>
          <a:p>
            <a:pPr indent="0" marL="0">
              <a:buNone/>
            </a:pPr>
            <a:r>
              <a:rPr lang="en-US" sz="3600" b="1" dirty="0">
                <a:solidFill>
                  <a:srgbClr val="2A78D6"/>
                </a:solidFill>
                <a:latin typeface="Arial" pitchFamily="34" charset="0"/>
                <a:ea typeface="Arial" pitchFamily="34" charset="-122"/>
                <a:cs typeface="Arial" pitchFamily="34" charset="-120"/>
              </a:rPr>
              <a:t>~2,650</a:t>
            </a:r>
            <a:endParaRPr lang="en-US" sz="3600" dirty="0"/>
          </a:p>
        </p:txBody>
      </p:sp>
      <p:sp>
        <p:nvSpPr>
          <p:cNvPr id="16" name="Text 13"/>
          <p:cNvSpPr txBox="1"/>
          <p:nvPr/>
        </p:nvSpPr>
        <p:spPr>
          <a:xfrm>
            <a:off x="9372600" y="4480560"/>
            <a:ext cx="2011680" cy="502920"/>
          </a:xfrm>
          <a:prstGeom prst="rect">
            <a:avLst/>
          </a:prstGeom>
          <a:noFill/>
          <a:ln/>
        </p:spPr>
        <p:txBody>
          <a:bodyPr wrap="square" lIns="0" tIns="0" rIns="0" bIns="0" rtlCol="0" anchor="t"/>
          <a:lstStyle/>
          <a:p>
            <a:pPr indent="0" marL="0">
              <a:buNone/>
            </a:pPr>
            <a:r>
              <a:rPr lang="en-US" sz="1400" dirty="0">
                <a:solidFill>
                  <a:srgbClr val="5B6678"/>
                </a:solidFill>
                <a:latin typeface="Calibri" pitchFamily="34" charset="0"/>
                <a:ea typeface="Calibri" pitchFamily="34" charset="-122"/>
                <a:cs typeface="Calibri" pitchFamily="34" charset="-120"/>
              </a:rPr>
              <a:t>lines of Python Claude wrote</a:t>
            </a:r>
            <a:endParaRPr lang="en-US" sz="1400" dirty="0"/>
          </a:p>
        </p:txBody>
      </p:sp>
      <p:sp>
        <p:nvSpPr>
          <p:cNvPr id="17" name="Text 14"/>
          <p:cNvSpPr txBox="1"/>
          <p:nvPr/>
        </p:nvSpPr>
        <p:spPr>
          <a:xfrm>
            <a:off x="6629400" y="5440680"/>
            <a:ext cx="4937760" cy="822960"/>
          </a:xfrm>
          <a:prstGeom prst="rect">
            <a:avLst/>
          </a:prstGeom>
          <a:noFill/>
          <a:ln/>
        </p:spPr>
        <p:txBody>
          <a:bodyPr wrap="square" lIns="0" tIns="0" rIns="0" bIns="0" rtlCol="0" anchor="ctr"/>
          <a:lstStyle/>
          <a:p>
            <a:pPr indent="0" marL="0">
              <a:buNone/>
            </a:pPr>
            <a:r>
              <a:rPr lang="en-US" sz="1500" dirty="0">
                <a:solidFill>
                  <a:srgbClr val="1A2230"/>
                </a:solidFill>
                <a:latin typeface="Calibri" pitchFamily="34" charset="0"/>
                <a:ea typeface="Calibri" pitchFamily="34" charset="-122"/>
                <a:cs typeface="Calibri" pitchFamily="34" charset="-120"/>
              </a:rPr>
              <a:t>It finds news stories, has an AI decide which qualify, removes duplicates, and republishes the site every morning, without anyone touching it.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0B2545"/>
                </a:solidFill>
                <a:latin typeface="Arial" pitchFamily="34" charset="0"/>
                <a:ea typeface="Arial" pitchFamily="34" charset="-122"/>
                <a:cs typeface="Arial" pitchFamily="34" charset="-120"/>
              </a:rPr>
              <a:t>What is “vibecoding”?</a:t>
            </a:r>
            <a:endParaRPr lang="en-US" sz="3400" dirty="0"/>
          </a:p>
        </p:txBody>
      </p:sp>
      <p:sp>
        <p:nvSpPr>
          <p:cNvPr id="3" name="Text 1"/>
          <p:cNvSpPr txBox="1"/>
          <p:nvPr/>
        </p:nvSpPr>
        <p:spPr>
          <a:xfrm>
            <a:off x="548640" y="1097280"/>
            <a:ext cx="11064240" cy="411480"/>
          </a:xfrm>
          <a:prstGeom prst="rect">
            <a:avLst/>
          </a:prstGeom>
          <a:noFill/>
          <a:ln/>
        </p:spPr>
        <p:txBody>
          <a:bodyPr wrap="square" lIns="0" tIns="0" rIns="0" bIns="0" rtlCol="0" anchor="ctr"/>
          <a:lstStyle/>
          <a:p>
            <a:pPr indent="0" marL="0">
              <a:buNone/>
            </a:pPr>
            <a:r>
              <a:rPr lang="en-US" sz="1700" i="1" dirty="0">
                <a:solidFill>
                  <a:srgbClr val="5B6678"/>
                </a:solidFill>
                <a:latin typeface="Calibri" pitchFamily="34" charset="0"/>
                <a:ea typeface="Calibri" pitchFamily="34" charset="-122"/>
                <a:cs typeface="Calibri" pitchFamily="34" charset="-120"/>
              </a:rPr>
              <a:t>You describe what you want. Claude writes, runs, and fixes the code.</a:t>
            </a:r>
            <a:endParaRPr lang="en-US" sz="1700" dirty="0"/>
          </a:p>
        </p:txBody>
      </p:sp>
      <p:sp>
        <p:nvSpPr>
          <p:cNvPr id="4" name="Shape 2"/>
          <p:cNvSpPr/>
          <p:nvPr/>
        </p:nvSpPr>
        <p:spPr>
          <a:xfrm>
            <a:off x="548640" y="1828800"/>
            <a:ext cx="5394960" cy="3611880"/>
          </a:xfrm>
          <a:prstGeom prst="roundRect">
            <a:avLst>
              <a:gd name="adj" fmla="val 3038"/>
            </a:avLst>
          </a:prstGeom>
          <a:solidFill>
            <a:srgbClr val="FFFFFF"/>
          </a:solidFill>
          <a:ln w="9525">
            <a:solidFill>
              <a:srgbClr val="E1E6EE"/>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868680" y="2103120"/>
            <a:ext cx="731520" cy="731520"/>
          </a:xfrm>
          <a:prstGeom prst="ellipse">
            <a:avLst/>
          </a:prstGeom>
          <a:solidFill>
            <a:srgbClr val="DCE8F7"/>
          </a:solidFill>
          <a:ln w="12700">
            <a:solidFill>
              <a:srgbClr val="DCE8F7"/>
            </a:solidFill>
            <a:prstDash val="solid"/>
          </a:ln>
        </p:spPr>
      </p:sp>
      <p:pic>
        <p:nvPicPr>
          <p:cNvPr id="6" name="Image 0" descr="preencoded.png">    </p:cNvPr>
          <p:cNvPicPr>
            <a:picLocks noChangeAspect="1"/>
          </p:cNvPicPr>
          <p:nvPr/>
        </p:nvPicPr>
        <p:blipFill>
          <a:blip r:embed="rId1"/>
          <a:stretch>
            <a:fillRect/>
          </a:stretch>
        </p:blipFill>
        <p:spPr>
          <a:xfrm>
            <a:off x="1044245" y="2278685"/>
            <a:ext cx="380390" cy="380390"/>
          </a:xfrm>
          <a:prstGeom prst="rect">
            <a:avLst/>
          </a:prstGeom>
        </p:spPr>
      </p:pic>
      <p:sp>
        <p:nvSpPr>
          <p:cNvPr id="7" name="Text 4"/>
          <p:cNvSpPr txBox="1"/>
          <p:nvPr/>
        </p:nvSpPr>
        <p:spPr>
          <a:xfrm>
            <a:off x="1783080" y="2103120"/>
            <a:ext cx="3840480" cy="731520"/>
          </a:xfrm>
          <a:prstGeom prst="rect">
            <a:avLst/>
          </a:prstGeom>
          <a:noFill/>
          <a:ln/>
        </p:spPr>
        <p:txBody>
          <a:bodyPr wrap="square" lIns="0" tIns="0" rIns="0" bIns="0" rtlCol="0" anchor="ctr"/>
          <a:lstStyle/>
          <a:p>
            <a:pPr indent="0" marL="0">
              <a:buNone/>
            </a:pPr>
            <a:r>
              <a:rPr lang="en-US" sz="2200" b="1" dirty="0">
                <a:solidFill>
                  <a:srgbClr val="0B2545"/>
                </a:solidFill>
                <a:latin typeface="Arial" pitchFamily="34" charset="0"/>
                <a:ea typeface="Arial" pitchFamily="34" charset="-122"/>
                <a:cs typeface="Arial" pitchFamily="34" charset="-120"/>
              </a:rPr>
              <a:t>You do</a:t>
            </a:r>
            <a:endParaRPr lang="en-US" sz="2200" dirty="0"/>
          </a:p>
        </p:txBody>
      </p:sp>
      <p:sp>
        <p:nvSpPr>
          <p:cNvPr id="8" name="Text 5"/>
          <p:cNvSpPr txBox="1"/>
          <p:nvPr/>
        </p:nvSpPr>
        <p:spPr>
          <a:xfrm>
            <a:off x="868680" y="3063240"/>
            <a:ext cx="4846320" cy="21945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1A2230"/>
                </a:solidFill>
                <a:latin typeface="Calibri" pitchFamily="34" charset="0"/>
                <a:ea typeface="Calibri" pitchFamily="34" charset="-122"/>
                <a:cs typeface="Calibri" pitchFamily="34" charset="-120"/>
              </a:rPr>
              <a:t>Decide what the site is for</a:t>
            </a:r>
            <a:endParaRPr lang="en-US" sz="1700" dirty="0"/>
          </a:p>
          <a:p>
            <a:pPr marL="342900" indent="-342900">
              <a:spcAft>
                <a:spcPts val="1000"/>
              </a:spcAft>
              <a:buSzPct val="100000"/>
              <a:buChar char="•"/>
            </a:pPr>
            <a:r>
              <a:rPr lang="en-US" sz="1700" dirty="0">
                <a:solidFill>
                  <a:srgbClr val="1A2230"/>
                </a:solidFill>
                <a:latin typeface="Calibri" pitchFamily="34" charset="0"/>
                <a:ea typeface="Calibri" pitchFamily="34" charset="-122"/>
                <a:cs typeface="Calibri" pitchFamily="34" charset="-120"/>
              </a:rPr>
              <a:t>Set the rules (what counts, what doesn't)</a:t>
            </a:r>
            <a:endParaRPr lang="en-US" sz="1700" dirty="0"/>
          </a:p>
          <a:p>
            <a:pPr marL="342900" indent="-342900">
              <a:spcAft>
                <a:spcPts val="1000"/>
              </a:spcAft>
              <a:buSzPct val="100000"/>
              <a:buChar char="•"/>
            </a:pPr>
            <a:r>
              <a:rPr lang="en-US" sz="1700" dirty="0">
                <a:solidFill>
                  <a:srgbClr val="1A2230"/>
                </a:solidFill>
                <a:latin typeface="Calibri" pitchFamily="34" charset="0"/>
                <a:ea typeface="Calibri" pitchFamily="34" charset="-122"/>
                <a:cs typeface="Calibri" pitchFamily="34" charset="-120"/>
              </a:rPr>
              <a:t>Look at the result and react</a:t>
            </a:r>
            <a:endParaRPr lang="en-US" sz="1700" dirty="0"/>
          </a:p>
          <a:p>
            <a:pPr marL="342900" indent="-342900">
              <a:spcAft>
                <a:spcPts val="1000"/>
              </a:spcAft>
              <a:buSzPct val="100000"/>
              <a:buChar char="•"/>
            </a:pPr>
            <a:r>
              <a:rPr lang="en-US" sz="1700" dirty="0">
                <a:solidFill>
                  <a:srgbClr val="1A2230"/>
                </a:solidFill>
                <a:latin typeface="Calibri" pitchFamily="34" charset="0"/>
                <a:ea typeface="Calibri" pitchFamily="34" charset="-122"/>
                <a:cs typeface="Calibri" pitchFamily="34" charset="-120"/>
              </a:rPr>
              <a:t>Approve or reject changes</a:t>
            </a:r>
            <a:endParaRPr lang="en-US" sz="1700" dirty="0"/>
          </a:p>
        </p:txBody>
      </p:sp>
      <p:sp>
        <p:nvSpPr>
          <p:cNvPr id="9" name="Shape 6"/>
          <p:cNvSpPr/>
          <p:nvPr/>
        </p:nvSpPr>
        <p:spPr>
          <a:xfrm>
            <a:off x="6263640" y="1828800"/>
            <a:ext cx="5394960" cy="3611880"/>
          </a:xfrm>
          <a:prstGeom prst="roundRect">
            <a:avLst>
              <a:gd name="adj" fmla="val 3038"/>
            </a:avLst>
          </a:prstGeom>
          <a:solidFill>
            <a:srgbClr val="FFFFFF"/>
          </a:solidFill>
          <a:ln w="9525">
            <a:solidFill>
              <a:srgbClr val="E1E6EE"/>
            </a:solidFill>
            <a:prstDash val="solid"/>
          </a:ln>
          <a:effectLst>
            <a:outerShdw sx="100000" sy="100000" kx="0" ky="0" algn="bl" rotWithShape="0" blurRad="101600" dist="25400" dir="5400000">
              <a:srgbClr val="000000">
                <a:alpha val="12000"/>
              </a:srgbClr>
            </a:outerShdw>
          </a:effectLst>
        </p:spPr>
      </p:sp>
      <p:sp>
        <p:nvSpPr>
          <p:cNvPr id="10" name="Shape 7"/>
          <p:cNvSpPr/>
          <p:nvPr/>
        </p:nvSpPr>
        <p:spPr>
          <a:xfrm>
            <a:off x="6583680" y="2103120"/>
            <a:ext cx="731520" cy="731520"/>
          </a:xfrm>
          <a:prstGeom prst="ellipse">
            <a:avLst/>
          </a:prstGeom>
          <a:solidFill>
            <a:srgbClr val="2A78D6"/>
          </a:solidFill>
          <a:ln w="12700">
            <a:solidFill>
              <a:srgbClr val="2A78D6"/>
            </a:solidFill>
            <a:prstDash val="solid"/>
          </a:ln>
        </p:spPr>
      </p:sp>
      <p:pic>
        <p:nvPicPr>
          <p:cNvPr id="11" name="Image 1" descr="preencoded.png">    </p:cNvPr>
          <p:cNvPicPr>
            <a:picLocks noChangeAspect="1"/>
          </p:cNvPicPr>
          <p:nvPr/>
        </p:nvPicPr>
        <p:blipFill>
          <a:blip r:embed="rId2"/>
          <a:stretch>
            <a:fillRect/>
          </a:stretch>
        </p:blipFill>
        <p:spPr>
          <a:xfrm>
            <a:off x="6759245" y="2278685"/>
            <a:ext cx="380390" cy="380390"/>
          </a:xfrm>
          <a:prstGeom prst="rect">
            <a:avLst/>
          </a:prstGeom>
        </p:spPr>
      </p:pic>
      <p:sp>
        <p:nvSpPr>
          <p:cNvPr id="12" name="Text 8"/>
          <p:cNvSpPr txBox="1"/>
          <p:nvPr/>
        </p:nvSpPr>
        <p:spPr>
          <a:xfrm>
            <a:off x="7498080" y="2103120"/>
            <a:ext cx="3840480" cy="731520"/>
          </a:xfrm>
          <a:prstGeom prst="rect">
            <a:avLst/>
          </a:prstGeom>
          <a:noFill/>
          <a:ln/>
        </p:spPr>
        <p:txBody>
          <a:bodyPr wrap="square" lIns="0" tIns="0" rIns="0" bIns="0" rtlCol="0" anchor="ctr"/>
          <a:lstStyle/>
          <a:p>
            <a:pPr indent="0" marL="0">
              <a:buNone/>
            </a:pPr>
            <a:r>
              <a:rPr lang="en-US" sz="2200" b="1" dirty="0">
                <a:solidFill>
                  <a:srgbClr val="0B2545"/>
                </a:solidFill>
                <a:latin typeface="Arial" pitchFamily="34" charset="0"/>
                <a:ea typeface="Arial" pitchFamily="34" charset="-122"/>
                <a:cs typeface="Arial" pitchFamily="34" charset="-120"/>
              </a:rPr>
              <a:t>Claude Code does</a:t>
            </a:r>
            <a:endParaRPr lang="en-US" sz="2200" dirty="0"/>
          </a:p>
        </p:txBody>
      </p:sp>
      <p:sp>
        <p:nvSpPr>
          <p:cNvPr id="13" name="Text 9"/>
          <p:cNvSpPr txBox="1"/>
          <p:nvPr/>
        </p:nvSpPr>
        <p:spPr>
          <a:xfrm>
            <a:off x="6583680" y="3063240"/>
            <a:ext cx="4846320" cy="21945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1A2230"/>
                </a:solidFill>
                <a:latin typeface="Calibri" pitchFamily="34" charset="0"/>
                <a:ea typeface="Calibri" pitchFamily="34" charset="-122"/>
                <a:cs typeface="Calibri" pitchFamily="34" charset="-120"/>
              </a:rPr>
              <a:t>Writes and edits files</a:t>
            </a:r>
            <a:endParaRPr lang="en-US" sz="1700" dirty="0"/>
          </a:p>
          <a:p>
            <a:pPr marL="342900" indent="-342900">
              <a:spcAft>
                <a:spcPts val="1000"/>
              </a:spcAft>
              <a:buSzPct val="100000"/>
              <a:buChar char="•"/>
            </a:pPr>
            <a:r>
              <a:rPr lang="en-US" sz="1700" dirty="0">
                <a:solidFill>
                  <a:srgbClr val="1A2230"/>
                </a:solidFill>
                <a:latin typeface="Calibri" pitchFamily="34" charset="0"/>
                <a:ea typeface="Calibri" pitchFamily="34" charset="-122"/>
                <a:cs typeface="Calibri" pitchFamily="34" charset="-120"/>
              </a:rPr>
              <a:t>Runs commands and tests</a:t>
            </a:r>
            <a:endParaRPr lang="en-US" sz="1700" dirty="0"/>
          </a:p>
          <a:p>
            <a:pPr marL="342900" indent="-342900">
              <a:spcAft>
                <a:spcPts val="1000"/>
              </a:spcAft>
              <a:buSzPct val="100000"/>
              <a:buChar char="•"/>
            </a:pPr>
            <a:r>
              <a:rPr lang="en-US" sz="1700" dirty="0">
                <a:solidFill>
                  <a:srgbClr val="1A2230"/>
                </a:solidFill>
                <a:latin typeface="Calibri" pitchFamily="34" charset="0"/>
                <a:ea typeface="Calibri" pitchFamily="34" charset="-122"/>
                <a:cs typeface="Calibri" pitchFamily="34" charset="-120"/>
              </a:rPr>
              <a:t>Reads error messages and fixes them</a:t>
            </a:r>
            <a:endParaRPr lang="en-US" sz="1700" dirty="0"/>
          </a:p>
          <a:p>
            <a:pPr marL="342900" indent="-342900">
              <a:spcAft>
                <a:spcPts val="1000"/>
              </a:spcAft>
              <a:buSzPct val="100000"/>
              <a:buChar char="•"/>
            </a:pPr>
            <a:r>
              <a:rPr lang="en-US" sz="1700" dirty="0">
                <a:solidFill>
                  <a:srgbClr val="1A2230"/>
                </a:solidFill>
                <a:latin typeface="Calibri" pitchFamily="34" charset="0"/>
                <a:ea typeface="Calibri" pitchFamily="34" charset="-122"/>
                <a:cs typeface="Calibri" pitchFamily="34" charset="-120"/>
              </a:rPr>
              <a:t>Commits and pushes to GitHub</a:t>
            </a:r>
            <a:endParaRPr lang="en-US" sz="1700" dirty="0"/>
          </a:p>
        </p:txBody>
      </p:sp>
      <p:sp>
        <p:nvSpPr>
          <p:cNvPr id="14" name="Shape 10"/>
          <p:cNvSpPr/>
          <p:nvPr/>
        </p:nvSpPr>
        <p:spPr>
          <a:xfrm>
            <a:off x="548640" y="5897880"/>
            <a:ext cx="11091672" cy="566928"/>
          </a:xfrm>
          <a:prstGeom prst="roundRect">
            <a:avLst>
              <a:gd name="adj" fmla="val 16129"/>
            </a:avLst>
          </a:prstGeom>
          <a:solidFill>
            <a:srgbClr val="FDF3E2"/>
          </a:solidFill>
          <a:ln w="9525">
            <a:solidFill>
              <a:srgbClr val="F3D9A8"/>
            </a:solidFill>
            <a:prstDash val="solid"/>
          </a:ln>
        </p:spPr>
      </p:sp>
      <p:sp>
        <p:nvSpPr>
          <p:cNvPr id="15" name="Text 11"/>
          <p:cNvSpPr txBox="1"/>
          <p:nvPr/>
        </p:nvSpPr>
        <p:spPr>
          <a:xfrm>
            <a:off x="777240" y="5897880"/>
            <a:ext cx="10698480" cy="566928"/>
          </a:xfrm>
          <a:prstGeom prst="rect">
            <a:avLst/>
          </a:prstGeom>
          <a:noFill/>
          <a:ln/>
        </p:spPr>
        <p:txBody>
          <a:bodyPr wrap="square" lIns="0" tIns="0" rIns="0" bIns="0" rtlCol="0" anchor="ctr"/>
          <a:lstStyle/>
          <a:p>
            <a:pPr indent="0" marL="0">
              <a:buNone/>
            </a:pPr>
            <a:r>
              <a:rPr lang="en-US" sz="1600" b="1" dirty="0">
                <a:solidFill>
                  <a:srgbClr val="8A5A12"/>
                </a:solidFill>
                <a:latin typeface="Calibri" pitchFamily="34" charset="0"/>
                <a:ea typeface="Calibri" pitchFamily="34" charset="-122"/>
                <a:cs typeface="Calibri" pitchFamily="34" charset="-120"/>
              </a:rPr>
              <a:t>Lesson: </a:t>
            </a:r>
            <a:pPr indent="0" marL="0">
              <a:buNone/>
            </a:pPr>
            <a:r>
              <a:rPr lang="en-US" sz="1600" dirty="0">
                <a:solidFill>
                  <a:srgbClr val="1A2230"/>
                </a:solidFill>
                <a:latin typeface="Calibri" pitchFamily="34" charset="0"/>
                <a:ea typeface="Calibri" pitchFamily="34" charset="-122"/>
                <a:cs typeface="Calibri" pitchFamily="34" charset="-120"/>
              </a:rPr>
              <a:t>You are the editor, not the typist. Your judgment is the scarce input.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0B2545"/>
                </a:solidFill>
                <a:latin typeface="Arial" pitchFamily="34" charset="0"/>
                <a:ea typeface="Arial" pitchFamily="34" charset="-122"/>
                <a:cs typeface="Arial" pitchFamily="34" charset="-120"/>
              </a:rPr>
              <a:t>The toolkit</a:t>
            </a:r>
            <a:endParaRPr lang="en-US" sz="3400" dirty="0"/>
          </a:p>
        </p:txBody>
      </p:sp>
      <p:sp>
        <p:nvSpPr>
          <p:cNvPr id="3" name="Text 1"/>
          <p:cNvSpPr txBox="1"/>
          <p:nvPr/>
        </p:nvSpPr>
        <p:spPr>
          <a:xfrm>
            <a:off x="548640" y="1097280"/>
            <a:ext cx="11064240" cy="411480"/>
          </a:xfrm>
          <a:prstGeom prst="rect">
            <a:avLst/>
          </a:prstGeom>
          <a:noFill/>
          <a:ln/>
        </p:spPr>
        <p:txBody>
          <a:bodyPr wrap="square" lIns="0" tIns="0" rIns="0" bIns="0" rtlCol="0" anchor="ctr"/>
          <a:lstStyle/>
          <a:p>
            <a:pPr indent="0" marL="0">
              <a:buNone/>
            </a:pPr>
            <a:r>
              <a:rPr lang="en-US" sz="1700" i="1" dirty="0">
                <a:solidFill>
                  <a:srgbClr val="5B6678"/>
                </a:solidFill>
                <a:latin typeface="Calibri" pitchFamily="34" charset="0"/>
                <a:ea typeface="Calibri" pitchFamily="34" charset="-122"/>
                <a:cs typeface="Calibri" pitchFamily="34" charset="-120"/>
              </a:rPr>
              <a:t>Everything here is free or cheap, except the AI calls</a:t>
            </a:r>
            <a:endParaRPr lang="en-US" sz="1700" dirty="0"/>
          </a:p>
        </p:txBody>
      </p:sp>
      <p:sp>
        <p:nvSpPr>
          <p:cNvPr id="4" name="Shape 2"/>
          <p:cNvSpPr/>
          <p:nvPr/>
        </p:nvSpPr>
        <p:spPr>
          <a:xfrm>
            <a:off x="548640" y="1828800"/>
            <a:ext cx="3520440" cy="1920240"/>
          </a:xfrm>
          <a:prstGeom prst="roundRect">
            <a:avLst>
              <a:gd name="adj" fmla="val 5714"/>
            </a:avLst>
          </a:prstGeom>
          <a:solidFill>
            <a:srgbClr val="FFFFFF"/>
          </a:solidFill>
          <a:ln w="9525">
            <a:solidFill>
              <a:srgbClr val="E1E6EE"/>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822960" y="2103120"/>
            <a:ext cx="640080" cy="640080"/>
          </a:xfrm>
          <a:prstGeom prst="ellipse">
            <a:avLst/>
          </a:prstGeom>
          <a:solidFill>
            <a:srgbClr val="DCE8F7"/>
          </a:solidFill>
          <a:ln w="12700">
            <a:solidFill>
              <a:srgbClr val="DCE8F7"/>
            </a:solidFill>
            <a:prstDash val="solid"/>
          </a:ln>
        </p:spPr>
      </p:sp>
      <p:pic>
        <p:nvPicPr>
          <p:cNvPr id="6" name="Image 0" descr="preencoded.png">    </p:cNvPr>
          <p:cNvPicPr>
            <a:picLocks noChangeAspect="1"/>
          </p:cNvPicPr>
          <p:nvPr/>
        </p:nvPicPr>
        <p:blipFill>
          <a:blip r:embed="rId1"/>
          <a:stretch>
            <a:fillRect/>
          </a:stretch>
        </p:blipFill>
        <p:spPr>
          <a:xfrm>
            <a:off x="976579" y="2256739"/>
            <a:ext cx="332842" cy="332842"/>
          </a:xfrm>
          <a:prstGeom prst="rect">
            <a:avLst/>
          </a:prstGeom>
        </p:spPr>
      </p:pic>
      <p:sp>
        <p:nvSpPr>
          <p:cNvPr id="7" name="Text 4"/>
          <p:cNvSpPr txBox="1"/>
          <p:nvPr/>
        </p:nvSpPr>
        <p:spPr>
          <a:xfrm>
            <a:off x="1600200" y="2103120"/>
            <a:ext cx="2331720" cy="640080"/>
          </a:xfrm>
          <a:prstGeom prst="rect">
            <a:avLst/>
          </a:prstGeom>
          <a:noFill/>
          <a:ln/>
        </p:spPr>
        <p:txBody>
          <a:bodyPr wrap="square" lIns="0" tIns="0" rIns="0" bIns="0" rtlCol="0" anchor="ctr"/>
          <a:lstStyle/>
          <a:p>
            <a:pPr indent="0" marL="0">
              <a:buNone/>
            </a:pPr>
            <a:r>
              <a:rPr lang="en-US" sz="1700" b="1" dirty="0">
                <a:solidFill>
                  <a:srgbClr val="0B2545"/>
                </a:solidFill>
                <a:latin typeface="Arial" pitchFamily="34" charset="0"/>
                <a:ea typeface="Arial" pitchFamily="34" charset="-122"/>
                <a:cs typeface="Arial" pitchFamily="34" charset="-120"/>
              </a:rPr>
              <a:t>Claude Code</a:t>
            </a:r>
            <a:endParaRPr lang="en-US" sz="1700" dirty="0"/>
          </a:p>
        </p:txBody>
      </p:sp>
      <p:sp>
        <p:nvSpPr>
          <p:cNvPr id="8" name="Text 5"/>
          <p:cNvSpPr txBox="1"/>
          <p:nvPr/>
        </p:nvSpPr>
        <p:spPr>
          <a:xfrm>
            <a:off x="822960" y="2834640"/>
            <a:ext cx="3017520" cy="822960"/>
          </a:xfrm>
          <a:prstGeom prst="rect">
            <a:avLst/>
          </a:prstGeom>
          <a:noFill/>
          <a:ln/>
        </p:spPr>
        <p:txBody>
          <a:bodyPr wrap="square" lIns="0" tIns="0" rIns="0" bIns="0" rtlCol="0" anchor="t"/>
          <a:lstStyle/>
          <a:p>
            <a:pPr indent="0" marL="0">
              <a:buNone/>
            </a:pPr>
            <a:r>
              <a:rPr lang="en-US" sz="1400" dirty="0">
                <a:solidFill>
                  <a:srgbClr val="5B6678"/>
                </a:solidFill>
                <a:latin typeface="Calibri" pitchFamily="34" charset="0"/>
                <a:ea typeface="Calibri" pitchFamily="34" charset="-122"/>
                <a:cs typeface="Calibri" pitchFamily="34" charset="-120"/>
              </a:rPr>
              <a:t>The agent that writes the code. Used via claude.ai/code in the browser.</a:t>
            </a:r>
            <a:endParaRPr lang="en-US" sz="1400" dirty="0"/>
          </a:p>
        </p:txBody>
      </p:sp>
      <p:sp>
        <p:nvSpPr>
          <p:cNvPr id="9" name="Shape 6"/>
          <p:cNvSpPr/>
          <p:nvPr/>
        </p:nvSpPr>
        <p:spPr>
          <a:xfrm>
            <a:off x="4297680" y="1828800"/>
            <a:ext cx="3520440" cy="1920240"/>
          </a:xfrm>
          <a:prstGeom prst="roundRect">
            <a:avLst>
              <a:gd name="adj" fmla="val 5714"/>
            </a:avLst>
          </a:prstGeom>
          <a:solidFill>
            <a:srgbClr val="FFFFFF"/>
          </a:solidFill>
          <a:ln w="9525">
            <a:solidFill>
              <a:srgbClr val="E1E6EE"/>
            </a:solidFill>
            <a:prstDash val="solid"/>
          </a:ln>
          <a:effectLst>
            <a:outerShdw sx="100000" sy="100000" kx="0" ky="0" algn="bl" rotWithShape="0" blurRad="101600" dist="25400" dir="5400000">
              <a:srgbClr val="000000">
                <a:alpha val="12000"/>
              </a:srgbClr>
            </a:outerShdw>
          </a:effectLst>
        </p:spPr>
      </p:sp>
      <p:sp>
        <p:nvSpPr>
          <p:cNvPr id="10" name="Shape 7"/>
          <p:cNvSpPr/>
          <p:nvPr/>
        </p:nvSpPr>
        <p:spPr>
          <a:xfrm>
            <a:off x="4572000" y="2103120"/>
            <a:ext cx="640080" cy="640080"/>
          </a:xfrm>
          <a:prstGeom prst="ellipse">
            <a:avLst/>
          </a:prstGeom>
          <a:solidFill>
            <a:srgbClr val="DCE8F7"/>
          </a:solidFill>
          <a:ln w="12700">
            <a:solidFill>
              <a:srgbClr val="DCE8F7"/>
            </a:solidFill>
            <a:prstDash val="solid"/>
          </a:ln>
        </p:spPr>
      </p:sp>
      <p:pic>
        <p:nvPicPr>
          <p:cNvPr id="11" name="Image 1" descr="preencoded.png">    </p:cNvPr>
          <p:cNvPicPr>
            <a:picLocks noChangeAspect="1"/>
          </p:cNvPicPr>
          <p:nvPr/>
        </p:nvPicPr>
        <p:blipFill>
          <a:blip r:embed="rId2"/>
          <a:stretch>
            <a:fillRect/>
          </a:stretch>
        </p:blipFill>
        <p:spPr>
          <a:xfrm>
            <a:off x="4725619" y="2256739"/>
            <a:ext cx="332842" cy="332842"/>
          </a:xfrm>
          <a:prstGeom prst="rect">
            <a:avLst/>
          </a:prstGeom>
        </p:spPr>
      </p:pic>
      <p:sp>
        <p:nvSpPr>
          <p:cNvPr id="12" name="Text 8"/>
          <p:cNvSpPr txBox="1"/>
          <p:nvPr/>
        </p:nvSpPr>
        <p:spPr>
          <a:xfrm>
            <a:off x="5349240" y="2103120"/>
            <a:ext cx="2331720" cy="640080"/>
          </a:xfrm>
          <a:prstGeom prst="rect">
            <a:avLst/>
          </a:prstGeom>
          <a:noFill/>
          <a:ln/>
        </p:spPr>
        <p:txBody>
          <a:bodyPr wrap="square" lIns="0" tIns="0" rIns="0" bIns="0" rtlCol="0" anchor="ctr"/>
          <a:lstStyle/>
          <a:p>
            <a:pPr indent="0" marL="0">
              <a:buNone/>
            </a:pPr>
            <a:r>
              <a:rPr lang="en-US" sz="1700" b="1" dirty="0">
                <a:solidFill>
                  <a:srgbClr val="0B2545"/>
                </a:solidFill>
                <a:latin typeface="Arial" pitchFamily="34" charset="0"/>
                <a:ea typeface="Arial" pitchFamily="34" charset="-122"/>
                <a:cs typeface="Arial" pitchFamily="34" charset="-120"/>
              </a:rPr>
              <a:t>GitHub repository</a:t>
            </a:r>
            <a:endParaRPr lang="en-US" sz="1700" dirty="0"/>
          </a:p>
        </p:txBody>
      </p:sp>
      <p:sp>
        <p:nvSpPr>
          <p:cNvPr id="13" name="Text 9"/>
          <p:cNvSpPr txBox="1"/>
          <p:nvPr/>
        </p:nvSpPr>
        <p:spPr>
          <a:xfrm>
            <a:off x="4572000" y="2834640"/>
            <a:ext cx="3017520" cy="822960"/>
          </a:xfrm>
          <a:prstGeom prst="rect">
            <a:avLst/>
          </a:prstGeom>
          <a:noFill/>
          <a:ln/>
        </p:spPr>
        <p:txBody>
          <a:bodyPr wrap="square" lIns="0" tIns="0" rIns="0" bIns="0" rtlCol="0" anchor="t"/>
          <a:lstStyle/>
          <a:p>
            <a:pPr indent="0" marL="0">
              <a:buNone/>
            </a:pPr>
            <a:r>
              <a:rPr lang="en-US" sz="1400" dirty="0">
                <a:solidFill>
                  <a:srgbClr val="5B6678"/>
                </a:solidFill>
                <a:latin typeface="Calibri" pitchFamily="34" charset="0"/>
                <a:ea typeface="Calibri" pitchFamily="34" charset="-122"/>
                <a:cs typeface="Calibri" pitchFamily="34" charset="-120"/>
              </a:rPr>
              <a:t>Stores the code and the data. Every change is saved as a commit.</a:t>
            </a:r>
            <a:endParaRPr lang="en-US" sz="1400" dirty="0"/>
          </a:p>
        </p:txBody>
      </p:sp>
      <p:sp>
        <p:nvSpPr>
          <p:cNvPr id="14" name="Shape 10"/>
          <p:cNvSpPr/>
          <p:nvPr/>
        </p:nvSpPr>
        <p:spPr>
          <a:xfrm>
            <a:off x="8046720" y="1828800"/>
            <a:ext cx="3520440" cy="1920240"/>
          </a:xfrm>
          <a:prstGeom prst="roundRect">
            <a:avLst>
              <a:gd name="adj" fmla="val 5714"/>
            </a:avLst>
          </a:prstGeom>
          <a:solidFill>
            <a:srgbClr val="FFFFFF"/>
          </a:solidFill>
          <a:ln w="9525">
            <a:solidFill>
              <a:srgbClr val="E1E6EE"/>
            </a:solidFill>
            <a:prstDash val="solid"/>
          </a:ln>
          <a:effectLst>
            <a:outerShdw sx="100000" sy="100000" kx="0" ky="0" algn="bl" rotWithShape="0" blurRad="101600" dist="25400" dir="5400000">
              <a:srgbClr val="000000">
                <a:alpha val="12000"/>
              </a:srgbClr>
            </a:outerShdw>
          </a:effectLst>
        </p:spPr>
      </p:sp>
      <p:sp>
        <p:nvSpPr>
          <p:cNvPr id="15" name="Shape 11"/>
          <p:cNvSpPr/>
          <p:nvPr/>
        </p:nvSpPr>
        <p:spPr>
          <a:xfrm>
            <a:off x="8321040" y="2103120"/>
            <a:ext cx="640080" cy="640080"/>
          </a:xfrm>
          <a:prstGeom prst="ellipse">
            <a:avLst/>
          </a:prstGeom>
          <a:solidFill>
            <a:srgbClr val="DCE8F7"/>
          </a:solidFill>
          <a:ln w="12700">
            <a:solidFill>
              <a:srgbClr val="DCE8F7"/>
            </a:solidFill>
            <a:prstDash val="solid"/>
          </a:ln>
        </p:spPr>
      </p:sp>
      <p:pic>
        <p:nvPicPr>
          <p:cNvPr id="16" name="Image 2" descr="preencoded.png">    </p:cNvPr>
          <p:cNvPicPr>
            <a:picLocks noChangeAspect="1"/>
          </p:cNvPicPr>
          <p:nvPr/>
        </p:nvPicPr>
        <p:blipFill>
          <a:blip r:embed="rId3"/>
          <a:stretch>
            <a:fillRect/>
          </a:stretch>
        </p:blipFill>
        <p:spPr>
          <a:xfrm>
            <a:off x="8474659" y="2256739"/>
            <a:ext cx="332842" cy="332842"/>
          </a:xfrm>
          <a:prstGeom prst="rect">
            <a:avLst/>
          </a:prstGeom>
        </p:spPr>
      </p:pic>
      <p:sp>
        <p:nvSpPr>
          <p:cNvPr id="17" name="Text 12"/>
          <p:cNvSpPr txBox="1"/>
          <p:nvPr/>
        </p:nvSpPr>
        <p:spPr>
          <a:xfrm>
            <a:off x="9098280" y="2103120"/>
            <a:ext cx="2331720" cy="640080"/>
          </a:xfrm>
          <a:prstGeom prst="rect">
            <a:avLst/>
          </a:prstGeom>
          <a:noFill/>
          <a:ln/>
        </p:spPr>
        <p:txBody>
          <a:bodyPr wrap="square" lIns="0" tIns="0" rIns="0" bIns="0" rtlCol="0" anchor="ctr"/>
          <a:lstStyle/>
          <a:p>
            <a:pPr indent="0" marL="0">
              <a:buNone/>
            </a:pPr>
            <a:r>
              <a:rPr lang="en-US" sz="1700" b="1" dirty="0">
                <a:solidFill>
                  <a:srgbClr val="0B2545"/>
                </a:solidFill>
                <a:latin typeface="Arial" pitchFamily="34" charset="0"/>
                <a:ea typeface="Arial" pitchFamily="34" charset="-122"/>
                <a:cs typeface="Arial" pitchFamily="34" charset="-120"/>
              </a:rPr>
              <a:t>GitHub Actions</a:t>
            </a:r>
            <a:endParaRPr lang="en-US" sz="1700" dirty="0"/>
          </a:p>
        </p:txBody>
      </p:sp>
      <p:sp>
        <p:nvSpPr>
          <p:cNvPr id="18" name="Text 13"/>
          <p:cNvSpPr txBox="1"/>
          <p:nvPr/>
        </p:nvSpPr>
        <p:spPr>
          <a:xfrm>
            <a:off x="8321040" y="2834640"/>
            <a:ext cx="3017520" cy="822960"/>
          </a:xfrm>
          <a:prstGeom prst="rect">
            <a:avLst/>
          </a:prstGeom>
          <a:noFill/>
          <a:ln/>
        </p:spPr>
        <p:txBody>
          <a:bodyPr wrap="square" lIns="0" tIns="0" rIns="0" bIns="0" rtlCol="0" anchor="t"/>
          <a:lstStyle/>
          <a:p>
            <a:pPr indent="0" marL="0">
              <a:buNone/>
            </a:pPr>
            <a:r>
              <a:rPr lang="en-US" sz="1400" dirty="0">
                <a:solidFill>
                  <a:srgbClr val="5B6678"/>
                </a:solidFill>
                <a:latin typeface="Calibri" pitchFamily="34" charset="0"/>
                <a:ea typeface="Calibri" pitchFamily="34" charset="-122"/>
                <a:cs typeface="Calibri" pitchFamily="34" charset="-120"/>
              </a:rPr>
              <a:t>Free scheduled robot. Runs the update script every day at 6:30am ET.</a:t>
            </a:r>
            <a:endParaRPr lang="en-US" sz="1400" dirty="0"/>
          </a:p>
        </p:txBody>
      </p:sp>
      <p:sp>
        <p:nvSpPr>
          <p:cNvPr id="19" name="Shape 14"/>
          <p:cNvSpPr/>
          <p:nvPr/>
        </p:nvSpPr>
        <p:spPr>
          <a:xfrm>
            <a:off x="548640" y="3977640"/>
            <a:ext cx="3520440" cy="1920240"/>
          </a:xfrm>
          <a:prstGeom prst="roundRect">
            <a:avLst>
              <a:gd name="adj" fmla="val 5714"/>
            </a:avLst>
          </a:prstGeom>
          <a:solidFill>
            <a:srgbClr val="FFFFFF"/>
          </a:solidFill>
          <a:ln w="9525">
            <a:solidFill>
              <a:srgbClr val="E1E6EE"/>
            </a:solidFill>
            <a:prstDash val="solid"/>
          </a:ln>
          <a:effectLst>
            <a:outerShdw sx="100000" sy="100000" kx="0" ky="0" algn="bl" rotWithShape="0" blurRad="101600" dist="25400" dir="5400000">
              <a:srgbClr val="000000">
                <a:alpha val="12000"/>
              </a:srgbClr>
            </a:outerShdw>
          </a:effectLst>
        </p:spPr>
      </p:sp>
      <p:sp>
        <p:nvSpPr>
          <p:cNvPr id="20" name="Shape 15"/>
          <p:cNvSpPr/>
          <p:nvPr/>
        </p:nvSpPr>
        <p:spPr>
          <a:xfrm>
            <a:off x="822960" y="4251960"/>
            <a:ext cx="640080" cy="640080"/>
          </a:xfrm>
          <a:prstGeom prst="ellipse">
            <a:avLst/>
          </a:prstGeom>
          <a:solidFill>
            <a:srgbClr val="DCE8F7"/>
          </a:solidFill>
          <a:ln w="12700">
            <a:solidFill>
              <a:srgbClr val="DCE8F7"/>
            </a:solidFill>
            <a:prstDash val="solid"/>
          </a:ln>
        </p:spPr>
      </p:sp>
      <p:pic>
        <p:nvPicPr>
          <p:cNvPr id="21" name="Image 3" descr="preencoded.png">    </p:cNvPr>
          <p:cNvPicPr>
            <a:picLocks noChangeAspect="1"/>
          </p:cNvPicPr>
          <p:nvPr/>
        </p:nvPicPr>
        <p:blipFill>
          <a:blip r:embed="rId4"/>
          <a:stretch>
            <a:fillRect/>
          </a:stretch>
        </p:blipFill>
        <p:spPr>
          <a:xfrm>
            <a:off x="976579" y="4405579"/>
            <a:ext cx="332842" cy="332842"/>
          </a:xfrm>
          <a:prstGeom prst="rect">
            <a:avLst/>
          </a:prstGeom>
        </p:spPr>
      </p:pic>
      <p:sp>
        <p:nvSpPr>
          <p:cNvPr id="22" name="Text 16"/>
          <p:cNvSpPr txBox="1"/>
          <p:nvPr/>
        </p:nvSpPr>
        <p:spPr>
          <a:xfrm>
            <a:off x="1600200" y="4251960"/>
            <a:ext cx="2331720" cy="640080"/>
          </a:xfrm>
          <a:prstGeom prst="rect">
            <a:avLst/>
          </a:prstGeom>
          <a:noFill/>
          <a:ln/>
        </p:spPr>
        <p:txBody>
          <a:bodyPr wrap="square" lIns="0" tIns="0" rIns="0" bIns="0" rtlCol="0" anchor="ctr"/>
          <a:lstStyle/>
          <a:p>
            <a:pPr indent="0" marL="0">
              <a:buNone/>
            </a:pPr>
            <a:r>
              <a:rPr lang="en-US" sz="1700" b="1" dirty="0">
                <a:solidFill>
                  <a:srgbClr val="0B2545"/>
                </a:solidFill>
                <a:latin typeface="Arial" pitchFamily="34" charset="0"/>
                <a:ea typeface="Arial" pitchFamily="34" charset="-122"/>
                <a:cs typeface="Arial" pitchFamily="34" charset="-120"/>
              </a:rPr>
              <a:t>GitHub Pages</a:t>
            </a:r>
            <a:endParaRPr lang="en-US" sz="1700" dirty="0"/>
          </a:p>
        </p:txBody>
      </p:sp>
      <p:sp>
        <p:nvSpPr>
          <p:cNvPr id="23" name="Text 17"/>
          <p:cNvSpPr txBox="1"/>
          <p:nvPr/>
        </p:nvSpPr>
        <p:spPr>
          <a:xfrm>
            <a:off x="822960" y="4983480"/>
            <a:ext cx="3017520" cy="822960"/>
          </a:xfrm>
          <a:prstGeom prst="rect">
            <a:avLst/>
          </a:prstGeom>
          <a:noFill/>
          <a:ln/>
        </p:spPr>
        <p:txBody>
          <a:bodyPr wrap="square" lIns="0" tIns="0" rIns="0" bIns="0" rtlCol="0" anchor="t"/>
          <a:lstStyle/>
          <a:p>
            <a:pPr indent="0" marL="0">
              <a:buNone/>
            </a:pPr>
            <a:r>
              <a:rPr lang="en-US" sz="1400" dirty="0">
                <a:solidFill>
                  <a:srgbClr val="5B6678"/>
                </a:solidFill>
                <a:latin typeface="Calibri" pitchFamily="34" charset="0"/>
                <a:ea typeface="Calibri" pitchFamily="34" charset="-122"/>
                <a:cs typeface="Calibri" pitchFamily="34" charset="-120"/>
              </a:rPr>
              <a:t>Free hosting for the finished site, plus a custom domain.</a:t>
            </a:r>
            <a:endParaRPr lang="en-US" sz="1400" dirty="0"/>
          </a:p>
        </p:txBody>
      </p:sp>
      <p:sp>
        <p:nvSpPr>
          <p:cNvPr id="24" name="Shape 18"/>
          <p:cNvSpPr/>
          <p:nvPr/>
        </p:nvSpPr>
        <p:spPr>
          <a:xfrm>
            <a:off x="4297680" y="3977640"/>
            <a:ext cx="3520440" cy="1920240"/>
          </a:xfrm>
          <a:prstGeom prst="roundRect">
            <a:avLst>
              <a:gd name="adj" fmla="val 5714"/>
            </a:avLst>
          </a:prstGeom>
          <a:solidFill>
            <a:srgbClr val="FFFFFF"/>
          </a:solidFill>
          <a:ln w="9525">
            <a:solidFill>
              <a:srgbClr val="E1E6EE"/>
            </a:solidFill>
            <a:prstDash val="solid"/>
          </a:ln>
          <a:effectLst>
            <a:outerShdw sx="100000" sy="100000" kx="0" ky="0" algn="bl" rotWithShape="0" blurRad="101600" dist="25400" dir="5400000">
              <a:srgbClr val="000000">
                <a:alpha val="12000"/>
              </a:srgbClr>
            </a:outerShdw>
          </a:effectLst>
        </p:spPr>
      </p:sp>
      <p:sp>
        <p:nvSpPr>
          <p:cNvPr id="25" name="Shape 19"/>
          <p:cNvSpPr/>
          <p:nvPr/>
        </p:nvSpPr>
        <p:spPr>
          <a:xfrm>
            <a:off x="4572000" y="4251960"/>
            <a:ext cx="640080" cy="640080"/>
          </a:xfrm>
          <a:prstGeom prst="ellipse">
            <a:avLst/>
          </a:prstGeom>
          <a:solidFill>
            <a:srgbClr val="DCE8F7"/>
          </a:solidFill>
          <a:ln w="12700">
            <a:solidFill>
              <a:srgbClr val="DCE8F7"/>
            </a:solidFill>
            <a:prstDash val="solid"/>
          </a:ln>
        </p:spPr>
      </p:sp>
      <p:pic>
        <p:nvPicPr>
          <p:cNvPr id="26" name="Image 4" descr="preencoded.png">    </p:cNvPr>
          <p:cNvPicPr>
            <a:picLocks noChangeAspect="1"/>
          </p:cNvPicPr>
          <p:nvPr/>
        </p:nvPicPr>
        <p:blipFill>
          <a:blip r:embed="rId5"/>
          <a:stretch>
            <a:fillRect/>
          </a:stretch>
        </p:blipFill>
        <p:spPr>
          <a:xfrm>
            <a:off x="4725619" y="4405579"/>
            <a:ext cx="332842" cy="332842"/>
          </a:xfrm>
          <a:prstGeom prst="rect">
            <a:avLst/>
          </a:prstGeom>
        </p:spPr>
      </p:pic>
      <p:sp>
        <p:nvSpPr>
          <p:cNvPr id="27" name="Text 20"/>
          <p:cNvSpPr txBox="1"/>
          <p:nvPr/>
        </p:nvSpPr>
        <p:spPr>
          <a:xfrm>
            <a:off x="5349240" y="4251960"/>
            <a:ext cx="2331720" cy="640080"/>
          </a:xfrm>
          <a:prstGeom prst="rect">
            <a:avLst/>
          </a:prstGeom>
          <a:noFill/>
          <a:ln/>
        </p:spPr>
        <p:txBody>
          <a:bodyPr wrap="square" lIns="0" tIns="0" rIns="0" bIns="0" rtlCol="0" anchor="ctr"/>
          <a:lstStyle/>
          <a:p>
            <a:pPr indent="0" marL="0">
              <a:buNone/>
            </a:pPr>
            <a:r>
              <a:rPr lang="en-US" sz="1700" b="1" dirty="0">
                <a:solidFill>
                  <a:srgbClr val="0B2545"/>
                </a:solidFill>
                <a:latin typeface="Arial" pitchFamily="34" charset="0"/>
                <a:ea typeface="Arial" pitchFamily="34" charset="-122"/>
                <a:cs typeface="Arial" pitchFamily="34" charset="-120"/>
              </a:rPr>
              <a:t>Anthropic API</a:t>
            </a:r>
            <a:endParaRPr lang="en-US" sz="1700" dirty="0"/>
          </a:p>
        </p:txBody>
      </p:sp>
      <p:sp>
        <p:nvSpPr>
          <p:cNvPr id="28" name="Text 21"/>
          <p:cNvSpPr txBox="1"/>
          <p:nvPr/>
        </p:nvSpPr>
        <p:spPr>
          <a:xfrm>
            <a:off x="4572000" y="4983480"/>
            <a:ext cx="3017520" cy="822960"/>
          </a:xfrm>
          <a:prstGeom prst="rect">
            <a:avLst/>
          </a:prstGeom>
          <a:noFill/>
          <a:ln/>
        </p:spPr>
        <p:txBody>
          <a:bodyPr wrap="square" lIns="0" tIns="0" rIns="0" bIns="0" rtlCol="0" anchor="t"/>
          <a:lstStyle/>
          <a:p>
            <a:pPr indent="0" marL="0">
              <a:buNone/>
            </a:pPr>
            <a:r>
              <a:rPr lang="en-US" sz="1400" dirty="0">
                <a:solidFill>
                  <a:srgbClr val="5B6678"/>
                </a:solidFill>
                <a:latin typeface="Calibri" pitchFamily="34" charset="0"/>
                <a:ea typeface="Calibri" pitchFamily="34" charset="-122"/>
                <a:cs typeface="Calibri" pitchFamily="34" charset="-120"/>
              </a:rPr>
              <a:t>The site itself calls Claude (Haiku 4.5) to read and classify articles.</a:t>
            </a:r>
            <a:endParaRPr lang="en-US" sz="1400" dirty="0"/>
          </a:p>
        </p:txBody>
      </p:sp>
      <p:sp>
        <p:nvSpPr>
          <p:cNvPr id="29" name="Shape 22"/>
          <p:cNvSpPr/>
          <p:nvPr/>
        </p:nvSpPr>
        <p:spPr>
          <a:xfrm>
            <a:off x="8046720" y="3977640"/>
            <a:ext cx="3520440" cy="1920240"/>
          </a:xfrm>
          <a:prstGeom prst="roundRect">
            <a:avLst>
              <a:gd name="adj" fmla="val 5714"/>
            </a:avLst>
          </a:prstGeom>
          <a:solidFill>
            <a:srgbClr val="FFFFFF"/>
          </a:solidFill>
          <a:ln w="9525">
            <a:solidFill>
              <a:srgbClr val="E1E6EE"/>
            </a:solidFill>
            <a:prstDash val="solid"/>
          </a:ln>
          <a:effectLst>
            <a:outerShdw sx="100000" sy="100000" kx="0" ky="0" algn="bl" rotWithShape="0" blurRad="101600" dist="25400" dir="5400000">
              <a:srgbClr val="000000">
                <a:alpha val="12000"/>
              </a:srgbClr>
            </a:outerShdw>
          </a:effectLst>
        </p:spPr>
      </p:sp>
      <p:sp>
        <p:nvSpPr>
          <p:cNvPr id="30" name="Shape 23"/>
          <p:cNvSpPr/>
          <p:nvPr/>
        </p:nvSpPr>
        <p:spPr>
          <a:xfrm>
            <a:off x="8321040" y="4251960"/>
            <a:ext cx="640080" cy="640080"/>
          </a:xfrm>
          <a:prstGeom prst="ellipse">
            <a:avLst/>
          </a:prstGeom>
          <a:solidFill>
            <a:srgbClr val="DCE8F7"/>
          </a:solidFill>
          <a:ln w="12700">
            <a:solidFill>
              <a:srgbClr val="DCE8F7"/>
            </a:solidFill>
            <a:prstDash val="solid"/>
          </a:ln>
        </p:spPr>
      </p:sp>
      <p:pic>
        <p:nvPicPr>
          <p:cNvPr id="31" name="Image 5" descr="preencoded.png">    </p:cNvPr>
          <p:cNvPicPr>
            <a:picLocks noChangeAspect="1"/>
          </p:cNvPicPr>
          <p:nvPr/>
        </p:nvPicPr>
        <p:blipFill>
          <a:blip r:embed="rId6"/>
          <a:stretch>
            <a:fillRect/>
          </a:stretch>
        </p:blipFill>
        <p:spPr>
          <a:xfrm>
            <a:off x="8474659" y="4405579"/>
            <a:ext cx="332842" cy="332842"/>
          </a:xfrm>
          <a:prstGeom prst="rect">
            <a:avLst/>
          </a:prstGeom>
        </p:spPr>
      </p:pic>
      <p:sp>
        <p:nvSpPr>
          <p:cNvPr id="32" name="Text 24"/>
          <p:cNvSpPr txBox="1"/>
          <p:nvPr/>
        </p:nvSpPr>
        <p:spPr>
          <a:xfrm>
            <a:off x="9098280" y="4251960"/>
            <a:ext cx="2331720" cy="640080"/>
          </a:xfrm>
          <a:prstGeom prst="rect">
            <a:avLst/>
          </a:prstGeom>
          <a:noFill/>
          <a:ln/>
        </p:spPr>
        <p:txBody>
          <a:bodyPr wrap="square" lIns="0" tIns="0" rIns="0" bIns="0" rtlCol="0" anchor="ctr"/>
          <a:lstStyle/>
          <a:p>
            <a:pPr indent="0" marL="0">
              <a:buNone/>
            </a:pPr>
            <a:r>
              <a:rPr lang="en-US" sz="1700" b="1" dirty="0">
                <a:solidFill>
                  <a:srgbClr val="0B2545"/>
                </a:solidFill>
                <a:latin typeface="Arial" pitchFamily="34" charset="0"/>
                <a:ea typeface="Arial" pitchFamily="34" charset="-122"/>
                <a:cs typeface="Arial" pitchFamily="34" charset="-120"/>
              </a:rPr>
              <a:t>Free data sources</a:t>
            </a:r>
            <a:endParaRPr lang="en-US" sz="1700" dirty="0"/>
          </a:p>
        </p:txBody>
      </p:sp>
      <p:sp>
        <p:nvSpPr>
          <p:cNvPr id="33" name="Text 25"/>
          <p:cNvSpPr txBox="1"/>
          <p:nvPr/>
        </p:nvSpPr>
        <p:spPr>
          <a:xfrm>
            <a:off x="8321040" y="4983480"/>
            <a:ext cx="3017520" cy="822960"/>
          </a:xfrm>
          <a:prstGeom prst="rect">
            <a:avLst/>
          </a:prstGeom>
          <a:noFill/>
          <a:ln/>
        </p:spPr>
        <p:txBody>
          <a:bodyPr wrap="square" lIns="0" tIns="0" rIns="0" bIns="0" rtlCol="0" anchor="t"/>
          <a:lstStyle/>
          <a:p>
            <a:pPr indent="0" marL="0">
              <a:buNone/>
            </a:pPr>
            <a:r>
              <a:rPr lang="en-US" sz="1400" dirty="0">
                <a:solidFill>
                  <a:srgbClr val="5B6678"/>
                </a:solidFill>
                <a:latin typeface="Calibri" pitchFamily="34" charset="0"/>
                <a:ea typeface="Calibri" pitchFamily="34" charset="-122"/>
                <a:cs typeface="Calibri" pitchFamily="34" charset="-120"/>
              </a:rPr>
              <a:t>GDELT news API, Google News RSS, CourtListener court records.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438912"/>
            <a:ext cx="566928" cy="566928"/>
          </a:xfrm>
          <a:prstGeom prst="ellipse">
            <a:avLst/>
          </a:prstGeom>
          <a:solidFill>
            <a:srgbClr val="2A78D6"/>
          </a:solidFill>
          <a:ln w="12700">
            <a:solidFill>
              <a:srgbClr val="2A78D6"/>
            </a:solidFill>
            <a:prstDash val="solid"/>
          </a:ln>
        </p:spPr>
      </p:sp>
      <p:sp>
        <p:nvSpPr>
          <p:cNvPr id="3" name="Text 1"/>
          <p:cNvSpPr txBox="1"/>
          <p:nvPr/>
        </p:nvSpPr>
        <p:spPr>
          <a:xfrm>
            <a:off x="548640" y="438912"/>
            <a:ext cx="566928" cy="566928"/>
          </a:xfrm>
          <a:prstGeom prst="rect">
            <a:avLst/>
          </a:prstGeom>
          <a:noFill/>
          <a:ln/>
        </p:spPr>
        <p:txBody>
          <a:bodyPr wrap="square" lIns="0" tIns="0" rIns="0" bIns="0" rtlCol="0" anchor="ctr"/>
          <a:lstStyle/>
          <a:p>
            <a:pPr algn="ctr" indent="0" marL="0">
              <a:buNone/>
            </a:pPr>
            <a:r>
              <a:rPr lang="en-US" sz="1860" b="1" dirty="0">
                <a:solidFill>
                  <a:srgbClr val="FFFFFF"/>
                </a:solidFill>
                <a:latin typeface="Arial" pitchFamily="34" charset="0"/>
                <a:ea typeface="Arial" pitchFamily="34" charset="-122"/>
                <a:cs typeface="Arial" pitchFamily="34" charset="-120"/>
              </a:rPr>
              <a:t>1</a:t>
            </a:r>
            <a:endParaRPr lang="en-US" sz="1860" dirty="0"/>
          </a:p>
        </p:txBody>
      </p:sp>
      <p:sp>
        <p:nvSpPr>
          <p:cNvPr id="4" name="Text 2"/>
          <p:cNvSpPr txBox="1"/>
          <p:nvPr/>
        </p:nvSpPr>
        <p:spPr>
          <a:xfrm>
            <a:off x="1280160" y="365760"/>
            <a:ext cx="10058400" cy="731520"/>
          </a:xfrm>
          <a:prstGeom prst="rect">
            <a:avLst/>
          </a:prstGeom>
          <a:noFill/>
          <a:ln/>
        </p:spPr>
        <p:txBody>
          <a:bodyPr wrap="square" lIns="0" tIns="0" rIns="0" bIns="0" rtlCol="0" anchor="ctr"/>
          <a:lstStyle/>
          <a:p>
            <a:pPr indent="0" marL="0">
              <a:buNone/>
            </a:pPr>
            <a:r>
              <a:rPr lang="en-US" sz="3400" b="1" dirty="0">
                <a:solidFill>
                  <a:srgbClr val="0B2545"/>
                </a:solidFill>
                <a:latin typeface="Arial" pitchFamily="34" charset="0"/>
                <a:ea typeface="Arial" pitchFamily="34" charset="-122"/>
                <a:cs typeface="Arial" pitchFamily="34" charset="-120"/>
              </a:rPr>
              <a:t>Start with a plain-English spec</a:t>
            </a:r>
            <a:endParaRPr lang="en-US" sz="3400" dirty="0"/>
          </a:p>
        </p:txBody>
      </p:sp>
      <p:sp>
        <p:nvSpPr>
          <p:cNvPr id="5" name="Text 3"/>
          <p:cNvSpPr txBox="1"/>
          <p:nvPr/>
        </p:nvSpPr>
        <p:spPr>
          <a:xfrm>
            <a:off x="548640" y="1188720"/>
            <a:ext cx="10972800" cy="411480"/>
          </a:xfrm>
          <a:prstGeom prst="rect">
            <a:avLst/>
          </a:prstGeom>
          <a:noFill/>
          <a:ln/>
        </p:spPr>
        <p:txBody>
          <a:bodyPr wrap="square" lIns="0" tIns="0" rIns="0" bIns="0" rtlCol="0" anchor="ctr"/>
          <a:lstStyle/>
          <a:p>
            <a:pPr indent="0" marL="0">
              <a:buNone/>
            </a:pPr>
            <a:r>
              <a:rPr lang="en-US" sz="1700" i="1" dirty="0">
                <a:solidFill>
                  <a:srgbClr val="5B6678"/>
                </a:solidFill>
                <a:latin typeface="Calibri" pitchFamily="34" charset="0"/>
                <a:ea typeface="Calibri" pitchFamily="34" charset="-122"/>
                <a:cs typeface="Calibri" pitchFamily="34" charset="-120"/>
              </a:rPr>
              <a:t>Day 1 (Aug 12): the pipeline, site, and daily workflow arrived in one commit</a:t>
            </a:r>
            <a:endParaRPr lang="en-US" sz="1700" dirty="0"/>
          </a:p>
        </p:txBody>
      </p:sp>
      <p:sp>
        <p:nvSpPr>
          <p:cNvPr id="6" name="Shape 4"/>
          <p:cNvSpPr/>
          <p:nvPr/>
        </p:nvSpPr>
        <p:spPr>
          <a:xfrm>
            <a:off x="548640" y="1828800"/>
            <a:ext cx="6400800" cy="3840480"/>
          </a:xfrm>
          <a:prstGeom prst="roundRect">
            <a:avLst>
              <a:gd name="adj" fmla="val 2857"/>
            </a:avLst>
          </a:prstGeom>
          <a:solidFill>
            <a:srgbClr val="1E293B"/>
          </a:solidFill>
          <a:ln w="12700">
            <a:solidFill>
              <a:srgbClr val="1E293B"/>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822960" y="2011680"/>
            <a:ext cx="5486400" cy="32004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EXAMPLE PROMPT (illustrative)</a:t>
            </a:r>
            <a:endParaRPr lang="en-US" sz="1200" dirty="0"/>
          </a:p>
        </p:txBody>
      </p:sp>
      <p:sp>
        <p:nvSpPr>
          <p:cNvPr id="8" name="Text 6"/>
          <p:cNvSpPr txBox="1"/>
          <p:nvPr/>
        </p:nvSpPr>
        <p:spPr>
          <a:xfrm>
            <a:off x="822960" y="2377440"/>
            <a:ext cx="5943600" cy="3154680"/>
          </a:xfrm>
          <a:prstGeom prst="rect">
            <a:avLst/>
          </a:prstGeom>
          <a:noFill/>
          <a:ln/>
        </p:spPr>
        <p:txBody>
          <a:bodyPr wrap="square" lIns="0" tIns="0" rIns="0" bIns="0" rtlCol="0" anchor="t"/>
          <a:lstStyle/>
          <a:p>
            <a:pPr indent="0" marL="0">
              <a:buNone/>
            </a:pPr>
            <a:r>
              <a:rPr lang="en-US" sz="1350" dirty="0">
                <a:solidFill>
                  <a:srgbClr val="E2E8F0"/>
                </a:solidFill>
                <a:latin typeface="Courier New" pitchFamily="34" charset="0"/>
                <a:ea typeface="Courier New" pitchFamily="34" charset="-122"/>
                <a:cs typeface="Courier New" pitchFamily="34" charset="-120"/>
              </a:rPr>
              <a:t>Build a website that tracks news stories where Flock Safety license-plate cameras helped solve or prevent a crime.</a:t>
            </a:r>
            <a:endParaRPr lang="en-US" sz="1350" dirty="0"/>
          </a:p>
          <a:p>
            <a:pPr indent="0" marL="0">
              <a:buNone/>
            </a:pPr>
            <a:endParaRPr lang="en-US" sz="1350" dirty="0"/>
          </a:p>
          <a:p>
            <a:pPr indent="0" marL="0">
              <a:buNone/>
            </a:pPr>
            <a:r>
              <a:rPr lang="en-US" sz="1350" dirty="0">
                <a:solidFill>
                  <a:srgbClr val="E2E8F0"/>
                </a:solidFill>
                <a:latin typeface="Courier New" pitchFamily="34" charset="0"/>
                <a:ea typeface="Courier New" pitchFamily="34" charset="-122"/>
                <a:cs typeface="Courier New" pitchFamily="34" charset="-120"/>
              </a:rPr>
              <a:t>Each day: search news sources, use Claude to decide if each article qualifies, pull out date, city, state, crime type and outcome, and merge duplicate stories.</a:t>
            </a:r>
            <a:endParaRPr lang="en-US" sz="1350" dirty="0"/>
          </a:p>
          <a:p>
            <a:pPr indent="0" marL="0">
              <a:buNone/>
            </a:pPr>
            <a:endParaRPr lang="en-US" sz="1350" dirty="0"/>
          </a:p>
          <a:p>
            <a:pPr indent="0" marL="0">
              <a:buNone/>
            </a:pPr>
            <a:r>
              <a:rPr lang="en-US" sz="1350" dirty="0">
                <a:solidFill>
                  <a:srgbClr val="E2E8F0"/>
                </a:solidFill>
                <a:latin typeface="Courier New" pitchFamily="34" charset="0"/>
                <a:ea typeface="Courier New" pitchFamily="34" charset="-122"/>
                <a:cs typeface="Courier New" pitchFamily="34" charset="-120"/>
              </a:rPr>
              <a:t>Store it in a CSV. Publish a searchable table on GitHub Pages. Run it daily with GitHub Actions.</a:t>
            </a:r>
            <a:endParaRPr lang="en-US" sz="1350" dirty="0"/>
          </a:p>
        </p:txBody>
      </p:sp>
      <p:sp>
        <p:nvSpPr>
          <p:cNvPr id="9" name="Shape 7"/>
          <p:cNvSpPr/>
          <p:nvPr/>
        </p:nvSpPr>
        <p:spPr>
          <a:xfrm>
            <a:off x="7315200" y="1901952"/>
            <a:ext cx="384048" cy="384048"/>
          </a:xfrm>
          <a:prstGeom prst="ellipse">
            <a:avLst/>
          </a:prstGeom>
          <a:solidFill>
            <a:srgbClr val="DCE8F7"/>
          </a:solidFill>
          <a:ln w="12700">
            <a:solidFill>
              <a:srgbClr val="DCE8F7"/>
            </a:solidFill>
            <a:prstDash val="solid"/>
          </a:ln>
        </p:spPr>
      </p:sp>
      <p:sp>
        <p:nvSpPr>
          <p:cNvPr id="10" name="Text 8"/>
          <p:cNvSpPr txBox="1"/>
          <p:nvPr/>
        </p:nvSpPr>
        <p:spPr>
          <a:xfrm>
            <a:off x="7315200" y="1901952"/>
            <a:ext cx="384048" cy="384048"/>
          </a:xfrm>
          <a:prstGeom prst="rect">
            <a:avLst/>
          </a:prstGeom>
          <a:noFill/>
          <a:ln/>
        </p:spPr>
        <p:txBody>
          <a:bodyPr wrap="square" lIns="0" tIns="0" rIns="0" bIns="0" rtlCol="0" anchor="ctr"/>
          <a:lstStyle/>
          <a:p>
            <a:pPr algn="ctr" indent="0" marL="0">
              <a:buNone/>
            </a:pPr>
            <a:r>
              <a:rPr lang="en-US" sz="1600" b="1" dirty="0">
                <a:solidFill>
                  <a:srgbClr val="2A78D6"/>
                </a:solidFill>
              </a:rPr>
              <a:t>✓</a:t>
            </a:r>
            <a:endParaRPr lang="en-US" sz="1600" dirty="0"/>
          </a:p>
        </p:txBody>
      </p:sp>
      <p:sp>
        <p:nvSpPr>
          <p:cNvPr id="11" name="Text 9"/>
          <p:cNvSpPr txBox="1"/>
          <p:nvPr/>
        </p:nvSpPr>
        <p:spPr>
          <a:xfrm>
            <a:off x="7863840" y="1828800"/>
            <a:ext cx="3749040" cy="365760"/>
          </a:xfrm>
          <a:prstGeom prst="rect">
            <a:avLst/>
          </a:prstGeom>
          <a:noFill/>
          <a:ln/>
        </p:spPr>
        <p:txBody>
          <a:bodyPr wrap="square" lIns="0" tIns="0" rIns="0" bIns="0" rtlCol="0" anchor="ctr"/>
          <a:lstStyle/>
          <a:p>
            <a:pPr indent="0" marL="0">
              <a:buNone/>
            </a:pPr>
            <a:r>
              <a:rPr lang="en-US" sz="1600" b="1" dirty="0">
                <a:solidFill>
                  <a:srgbClr val="0B2545"/>
                </a:solidFill>
                <a:latin typeface="Arial" pitchFamily="34" charset="0"/>
                <a:ea typeface="Arial" pitchFamily="34" charset="-122"/>
                <a:cs typeface="Arial" pitchFamily="34" charset="-120"/>
              </a:rPr>
              <a:t>Say what it is for</a:t>
            </a:r>
            <a:endParaRPr lang="en-US" sz="1600" dirty="0"/>
          </a:p>
        </p:txBody>
      </p:sp>
      <p:sp>
        <p:nvSpPr>
          <p:cNvPr id="12" name="Text 10"/>
          <p:cNvSpPr txBox="1"/>
          <p:nvPr/>
        </p:nvSpPr>
        <p:spPr>
          <a:xfrm>
            <a:off x="7863840" y="2194560"/>
            <a:ext cx="3749040" cy="457200"/>
          </a:xfrm>
          <a:prstGeom prst="rect">
            <a:avLst/>
          </a:prstGeom>
          <a:noFill/>
          <a:ln/>
        </p:spPr>
        <p:txBody>
          <a:bodyPr wrap="square" lIns="0" tIns="0" rIns="0" bIns="0" rtlCol="0" anchor="t"/>
          <a:lstStyle/>
          <a:p>
            <a:pPr indent="0" marL="0">
              <a:buNone/>
            </a:pPr>
            <a:r>
              <a:rPr lang="en-US" sz="1400" dirty="0">
                <a:solidFill>
                  <a:srgbClr val="5B6678"/>
                </a:solidFill>
                <a:latin typeface="Calibri" pitchFamily="34" charset="0"/>
                <a:ea typeface="Calibri" pitchFamily="34" charset="-122"/>
                <a:cs typeface="Calibri" pitchFamily="34" charset="-120"/>
              </a:rPr>
              <a:t>Who uses it, and what question it answers.</a:t>
            </a:r>
            <a:endParaRPr lang="en-US" sz="1400" dirty="0"/>
          </a:p>
        </p:txBody>
      </p:sp>
      <p:sp>
        <p:nvSpPr>
          <p:cNvPr id="13" name="Shape 11"/>
          <p:cNvSpPr/>
          <p:nvPr/>
        </p:nvSpPr>
        <p:spPr>
          <a:xfrm>
            <a:off x="7315200" y="2889504"/>
            <a:ext cx="384048" cy="384048"/>
          </a:xfrm>
          <a:prstGeom prst="ellipse">
            <a:avLst/>
          </a:prstGeom>
          <a:solidFill>
            <a:srgbClr val="DCE8F7"/>
          </a:solidFill>
          <a:ln w="12700">
            <a:solidFill>
              <a:srgbClr val="DCE8F7"/>
            </a:solidFill>
            <a:prstDash val="solid"/>
          </a:ln>
        </p:spPr>
      </p:sp>
      <p:sp>
        <p:nvSpPr>
          <p:cNvPr id="14" name="Text 12"/>
          <p:cNvSpPr txBox="1"/>
          <p:nvPr/>
        </p:nvSpPr>
        <p:spPr>
          <a:xfrm>
            <a:off x="7315200" y="2889504"/>
            <a:ext cx="384048" cy="384048"/>
          </a:xfrm>
          <a:prstGeom prst="rect">
            <a:avLst/>
          </a:prstGeom>
          <a:noFill/>
          <a:ln/>
        </p:spPr>
        <p:txBody>
          <a:bodyPr wrap="square" lIns="0" tIns="0" rIns="0" bIns="0" rtlCol="0" anchor="ctr"/>
          <a:lstStyle/>
          <a:p>
            <a:pPr algn="ctr" indent="0" marL="0">
              <a:buNone/>
            </a:pPr>
            <a:r>
              <a:rPr lang="en-US" sz="1600" b="1" dirty="0">
                <a:solidFill>
                  <a:srgbClr val="2A78D6"/>
                </a:solidFill>
              </a:rPr>
              <a:t>✓</a:t>
            </a:r>
            <a:endParaRPr lang="en-US" sz="1600" dirty="0"/>
          </a:p>
        </p:txBody>
      </p:sp>
      <p:sp>
        <p:nvSpPr>
          <p:cNvPr id="15" name="Text 13"/>
          <p:cNvSpPr txBox="1"/>
          <p:nvPr/>
        </p:nvSpPr>
        <p:spPr>
          <a:xfrm>
            <a:off x="7863840" y="2816352"/>
            <a:ext cx="3749040" cy="365760"/>
          </a:xfrm>
          <a:prstGeom prst="rect">
            <a:avLst/>
          </a:prstGeom>
          <a:noFill/>
          <a:ln/>
        </p:spPr>
        <p:txBody>
          <a:bodyPr wrap="square" lIns="0" tIns="0" rIns="0" bIns="0" rtlCol="0" anchor="ctr"/>
          <a:lstStyle/>
          <a:p>
            <a:pPr indent="0" marL="0">
              <a:buNone/>
            </a:pPr>
            <a:r>
              <a:rPr lang="en-US" sz="1600" b="1" dirty="0">
                <a:solidFill>
                  <a:srgbClr val="0B2545"/>
                </a:solidFill>
                <a:latin typeface="Arial" pitchFamily="34" charset="0"/>
                <a:ea typeface="Arial" pitchFamily="34" charset="-122"/>
                <a:cs typeface="Arial" pitchFamily="34" charset="-120"/>
              </a:rPr>
              <a:t>Say what counts</a:t>
            </a:r>
            <a:endParaRPr lang="en-US" sz="1600" dirty="0"/>
          </a:p>
        </p:txBody>
      </p:sp>
      <p:sp>
        <p:nvSpPr>
          <p:cNvPr id="16" name="Text 14"/>
          <p:cNvSpPr txBox="1"/>
          <p:nvPr/>
        </p:nvSpPr>
        <p:spPr>
          <a:xfrm>
            <a:off x="7863840" y="3182112"/>
            <a:ext cx="3749040" cy="457200"/>
          </a:xfrm>
          <a:prstGeom prst="rect">
            <a:avLst/>
          </a:prstGeom>
          <a:noFill/>
          <a:ln/>
        </p:spPr>
        <p:txBody>
          <a:bodyPr wrap="square" lIns="0" tIns="0" rIns="0" bIns="0" rtlCol="0" anchor="t"/>
          <a:lstStyle/>
          <a:p>
            <a:pPr indent="0" marL="0">
              <a:buNone/>
            </a:pPr>
            <a:r>
              <a:rPr lang="en-US" sz="1400" dirty="0">
                <a:solidFill>
                  <a:srgbClr val="5B6678"/>
                </a:solidFill>
                <a:latin typeface="Calibri" pitchFamily="34" charset="0"/>
                <a:ea typeface="Calibri" pitchFamily="34" charset="-122"/>
                <a:cs typeface="Calibri" pitchFamily="34" charset="-120"/>
              </a:rPr>
              <a:t>Inclusion rules are the heart of a data site.</a:t>
            </a:r>
            <a:endParaRPr lang="en-US" sz="1400" dirty="0"/>
          </a:p>
        </p:txBody>
      </p:sp>
      <p:sp>
        <p:nvSpPr>
          <p:cNvPr id="17" name="Shape 15"/>
          <p:cNvSpPr/>
          <p:nvPr/>
        </p:nvSpPr>
        <p:spPr>
          <a:xfrm>
            <a:off x="7315200" y="3877056"/>
            <a:ext cx="384048" cy="384048"/>
          </a:xfrm>
          <a:prstGeom prst="ellipse">
            <a:avLst/>
          </a:prstGeom>
          <a:solidFill>
            <a:srgbClr val="DCE8F7"/>
          </a:solidFill>
          <a:ln w="12700">
            <a:solidFill>
              <a:srgbClr val="DCE8F7"/>
            </a:solidFill>
            <a:prstDash val="solid"/>
          </a:ln>
        </p:spPr>
      </p:sp>
      <p:sp>
        <p:nvSpPr>
          <p:cNvPr id="18" name="Text 16"/>
          <p:cNvSpPr txBox="1"/>
          <p:nvPr/>
        </p:nvSpPr>
        <p:spPr>
          <a:xfrm>
            <a:off x="7315200" y="3877056"/>
            <a:ext cx="384048" cy="384048"/>
          </a:xfrm>
          <a:prstGeom prst="rect">
            <a:avLst/>
          </a:prstGeom>
          <a:noFill/>
          <a:ln/>
        </p:spPr>
        <p:txBody>
          <a:bodyPr wrap="square" lIns="0" tIns="0" rIns="0" bIns="0" rtlCol="0" anchor="ctr"/>
          <a:lstStyle/>
          <a:p>
            <a:pPr algn="ctr" indent="0" marL="0">
              <a:buNone/>
            </a:pPr>
            <a:r>
              <a:rPr lang="en-US" sz="1600" b="1" dirty="0">
                <a:solidFill>
                  <a:srgbClr val="2A78D6"/>
                </a:solidFill>
              </a:rPr>
              <a:t>✓</a:t>
            </a:r>
            <a:endParaRPr lang="en-US" sz="1600" dirty="0"/>
          </a:p>
        </p:txBody>
      </p:sp>
      <p:sp>
        <p:nvSpPr>
          <p:cNvPr id="19" name="Text 17"/>
          <p:cNvSpPr txBox="1"/>
          <p:nvPr/>
        </p:nvSpPr>
        <p:spPr>
          <a:xfrm>
            <a:off x="7863840" y="3803904"/>
            <a:ext cx="3749040" cy="365760"/>
          </a:xfrm>
          <a:prstGeom prst="rect">
            <a:avLst/>
          </a:prstGeom>
          <a:noFill/>
          <a:ln/>
        </p:spPr>
        <p:txBody>
          <a:bodyPr wrap="square" lIns="0" tIns="0" rIns="0" bIns="0" rtlCol="0" anchor="ctr"/>
          <a:lstStyle/>
          <a:p>
            <a:pPr indent="0" marL="0">
              <a:buNone/>
            </a:pPr>
            <a:r>
              <a:rPr lang="en-US" sz="1600" b="1" dirty="0">
                <a:solidFill>
                  <a:srgbClr val="0B2545"/>
                </a:solidFill>
                <a:latin typeface="Arial" pitchFamily="34" charset="0"/>
                <a:ea typeface="Arial" pitchFamily="34" charset="-122"/>
                <a:cs typeface="Arial" pitchFamily="34" charset="-120"/>
              </a:rPr>
              <a:t>Say where data lives</a:t>
            </a:r>
            <a:endParaRPr lang="en-US" sz="1600" dirty="0"/>
          </a:p>
        </p:txBody>
      </p:sp>
      <p:sp>
        <p:nvSpPr>
          <p:cNvPr id="20" name="Text 18"/>
          <p:cNvSpPr txBox="1"/>
          <p:nvPr/>
        </p:nvSpPr>
        <p:spPr>
          <a:xfrm>
            <a:off x="7863840" y="4169664"/>
            <a:ext cx="3749040" cy="457200"/>
          </a:xfrm>
          <a:prstGeom prst="rect">
            <a:avLst/>
          </a:prstGeom>
          <a:noFill/>
          <a:ln/>
        </p:spPr>
        <p:txBody>
          <a:bodyPr wrap="square" lIns="0" tIns="0" rIns="0" bIns="0" rtlCol="0" anchor="t"/>
          <a:lstStyle/>
          <a:p>
            <a:pPr indent="0" marL="0">
              <a:buNone/>
            </a:pPr>
            <a:r>
              <a:rPr lang="en-US" sz="1400" dirty="0">
                <a:solidFill>
                  <a:srgbClr val="5B6678"/>
                </a:solidFill>
                <a:latin typeface="Calibri" pitchFamily="34" charset="0"/>
                <a:ea typeface="Calibri" pitchFamily="34" charset="-122"/>
                <a:cs typeface="Calibri" pitchFamily="34" charset="-120"/>
              </a:rPr>
              <a:t>A CSV file is easy to read and to fix by hand.</a:t>
            </a:r>
            <a:endParaRPr lang="en-US" sz="1400" dirty="0"/>
          </a:p>
        </p:txBody>
      </p:sp>
      <p:sp>
        <p:nvSpPr>
          <p:cNvPr id="21" name="Shape 19"/>
          <p:cNvSpPr/>
          <p:nvPr/>
        </p:nvSpPr>
        <p:spPr>
          <a:xfrm>
            <a:off x="7315200" y="4864608"/>
            <a:ext cx="384048" cy="384048"/>
          </a:xfrm>
          <a:prstGeom prst="ellipse">
            <a:avLst/>
          </a:prstGeom>
          <a:solidFill>
            <a:srgbClr val="DCE8F7"/>
          </a:solidFill>
          <a:ln w="12700">
            <a:solidFill>
              <a:srgbClr val="DCE8F7"/>
            </a:solidFill>
            <a:prstDash val="solid"/>
          </a:ln>
        </p:spPr>
      </p:sp>
      <p:sp>
        <p:nvSpPr>
          <p:cNvPr id="22" name="Text 20"/>
          <p:cNvSpPr txBox="1"/>
          <p:nvPr/>
        </p:nvSpPr>
        <p:spPr>
          <a:xfrm>
            <a:off x="7315200" y="4864608"/>
            <a:ext cx="384048" cy="384048"/>
          </a:xfrm>
          <a:prstGeom prst="rect">
            <a:avLst/>
          </a:prstGeom>
          <a:noFill/>
          <a:ln/>
        </p:spPr>
        <p:txBody>
          <a:bodyPr wrap="square" lIns="0" tIns="0" rIns="0" bIns="0" rtlCol="0" anchor="ctr"/>
          <a:lstStyle/>
          <a:p>
            <a:pPr algn="ctr" indent="0" marL="0">
              <a:buNone/>
            </a:pPr>
            <a:r>
              <a:rPr lang="en-US" sz="1600" b="1" dirty="0">
                <a:solidFill>
                  <a:srgbClr val="2A78D6"/>
                </a:solidFill>
              </a:rPr>
              <a:t>✓</a:t>
            </a:r>
            <a:endParaRPr lang="en-US" sz="1600" dirty="0"/>
          </a:p>
        </p:txBody>
      </p:sp>
      <p:sp>
        <p:nvSpPr>
          <p:cNvPr id="23" name="Text 21"/>
          <p:cNvSpPr txBox="1"/>
          <p:nvPr/>
        </p:nvSpPr>
        <p:spPr>
          <a:xfrm>
            <a:off x="7863840" y="4791456"/>
            <a:ext cx="3749040" cy="365760"/>
          </a:xfrm>
          <a:prstGeom prst="rect">
            <a:avLst/>
          </a:prstGeom>
          <a:noFill/>
          <a:ln/>
        </p:spPr>
        <p:txBody>
          <a:bodyPr wrap="square" lIns="0" tIns="0" rIns="0" bIns="0" rtlCol="0" anchor="ctr"/>
          <a:lstStyle/>
          <a:p>
            <a:pPr indent="0" marL="0">
              <a:buNone/>
            </a:pPr>
            <a:r>
              <a:rPr lang="en-US" sz="1600" b="1" dirty="0">
                <a:solidFill>
                  <a:srgbClr val="0B2545"/>
                </a:solidFill>
                <a:latin typeface="Arial" pitchFamily="34" charset="0"/>
                <a:ea typeface="Arial" pitchFamily="34" charset="-122"/>
                <a:cs typeface="Arial" pitchFamily="34" charset="-120"/>
              </a:rPr>
              <a:t>Ask for a plan first</a:t>
            </a:r>
            <a:endParaRPr lang="en-US" sz="1600" dirty="0"/>
          </a:p>
        </p:txBody>
      </p:sp>
      <p:sp>
        <p:nvSpPr>
          <p:cNvPr id="24" name="Text 22"/>
          <p:cNvSpPr txBox="1"/>
          <p:nvPr/>
        </p:nvSpPr>
        <p:spPr>
          <a:xfrm>
            <a:off x="7863840" y="5157216"/>
            <a:ext cx="3749040" cy="457200"/>
          </a:xfrm>
          <a:prstGeom prst="rect">
            <a:avLst/>
          </a:prstGeom>
          <a:noFill/>
          <a:ln/>
        </p:spPr>
        <p:txBody>
          <a:bodyPr wrap="square" lIns="0" tIns="0" rIns="0" bIns="0" rtlCol="0" anchor="t"/>
          <a:lstStyle/>
          <a:p>
            <a:pPr indent="0" marL="0">
              <a:buNone/>
            </a:pPr>
            <a:r>
              <a:rPr lang="en-US" sz="1400" dirty="0">
                <a:solidFill>
                  <a:srgbClr val="5B6678"/>
                </a:solidFill>
                <a:latin typeface="Calibri" pitchFamily="34" charset="0"/>
                <a:ea typeface="Calibri" pitchFamily="34" charset="-122"/>
                <a:cs typeface="Calibri" pitchFamily="34" charset="-120"/>
              </a:rPr>
              <a:t>Have Claude explain its design before it builds.</a:t>
            </a:r>
            <a:endParaRPr lang="en-US" sz="1400" dirty="0"/>
          </a:p>
        </p:txBody>
      </p:sp>
      <p:sp>
        <p:nvSpPr>
          <p:cNvPr id="25" name="Shape 23"/>
          <p:cNvSpPr/>
          <p:nvPr/>
        </p:nvSpPr>
        <p:spPr>
          <a:xfrm>
            <a:off x="548640" y="5897880"/>
            <a:ext cx="11091672" cy="566928"/>
          </a:xfrm>
          <a:prstGeom prst="roundRect">
            <a:avLst>
              <a:gd name="adj" fmla="val 16129"/>
            </a:avLst>
          </a:prstGeom>
          <a:solidFill>
            <a:srgbClr val="FDF3E2"/>
          </a:solidFill>
          <a:ln w="9525">
            <a:solidFill>
              <a:srgbClr val="F3D9A8"/>
            </a:solidFill>
            <a:prstDash val="solid"/>
          </a:ln>
        </p:spPr>
      </p:sp>
      <p:sp>
        <p:nvSpPr>
          <p:cNvPr id="26" name="Text 24"/>
          <p:cNvSpPr txBox="1"/>
          <p:nvPr/>
        </p:nvSpPr>
        <p:spPr>
          <a:xfrm>
            <a:off x="777240" y="5897880"/>
            <a:ext cx="10698480" cy="566928"/>
          </a:xfrm>
          <a:prstGeom prst="rect">
            <a:avLst/>
          </a:prstGeom>
          <a:noFill/>
          <a:ln/>
        </p:spPr>
        <p:txBody>
          <a:bodyPr wrap="square" lIns="0" tIns="0" rIns="0" bIns="0" rtlCol="0" anchor="ctr"/>
          <a:lstStyle/>
          <a:p>
            <a:pPr indent="0" marL="0">
              <a:buNone/>
            </a:pPr>
            <a:r>
              <a:rPr lang="en-US" sz="1600" b="1" dirty="0">
                <a:solidFill>
                  <a:srgbClr val="8A5A12"/>
                </a:solidFill>
                <a:latin typeface="Calibri" pitchFamily="34" charset="0"/>
                <a:ea typeface="Calibri" pitchFamily="34" charset="-122"/>
                <a:cs typeface="Calibri" pitchFamily="34" charset="-120"/>
              </a:rPr>
              <a:t>Lesson: </a:t>
            </a:r>
            <a:pPr indent="0" marL="0">
              <a:buNone/>
            </a:pPr>
            <a:r>
              <a:rPr lang="en-US" sz="1600" dirty="0">
                <a:solidFill>
                  <a:srgbClr val="1A2230"/>
                </a:solidFill>
                <a:latin typeface="Calibri" pitchFamily="34" charset="0"/>
                <a:ea typeface="Calibri" pitchFamily="34" charset="-122"/>
                <a:cs typeface="Calibri" pitchFamily="34" charset="-120"/>
              </a:rPr>
              <a:t>Be specific about the goal and the rules. Let Claude pick the technology.</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0B2545"/>
                </a:solidFill>
                <a:latin typeface="Arial" pitchFamily="34" charset="0"/>
                <a:ea typeface="Arial" pitchFamily="34" charset="-122"/>
                <a:cs typeface="Arial" pitchFamily="34" charset="-120"/>
              </a:rPr>
              <a:t>How the site works</a:t>
            </a:r>
            <a:endParaRPr lang="en-US" sz="3400" dirty="0"/>
          </a:p>
        </p:txBody>
      </p:sp>
      <p:sp>
        <p:nvSpPr>
          <p:cNvPr id="3" name="Text 1"/>
          <p:cNvSpPr txBox="1"/>
          <p:nvPr/>
        </p:nvSpPr>
        <p:spPr>
          <a:xfrm>
            <a:off x="548640" y="1097280"/>
            <a:ext cx="11064240" cy="411480"/>
          </a:xfrm>
          <a:prstGeom prst="rect">
            <a:avLst/>
          </a:prstGeom>
          <a:noFill/>
          <a:ln/>
        </p:spPr>
        <p:txBody>
          <a:bodyPr wrap="square" lIns="0" tIns="0" rIns="0" bIns="0" rtlCol="0" anchor="ctr"/>
          <a:lstStyle/>
          <a:p>
            <a:pPr indent="0" marL="0">
              <a:buNone/>
            </a:pPr>
            <a:r>
              <a:rPr lang="en-US" sz="1700" i="1" dirty="0">
                <a:solidFill>
                  <a:srgbClr val="5B6678"/>
                </a:solidFill>
                <a:latin typeface="Calibri" pitchFamily="34" charset="0"/>
                <a:ea typeface="Calibri" pitchFamily="34" charset="-122"/>
                <a:cs typeface="Calibri" pitchFamily="34" charset="-120"/>
              </a:rPr>
              <a:t>Four steps, each one a short Python file Claude wrote</a:t>
            </a:r>
            <a:endParaRPr lang="en-US" sz="1700" dirty="0"/>
          </a:p>
        </p:txBody>
      </p:sp>
      <p:sp>
        <p:nvSpPr>
          <p:cNvPr id="4" name="Shape 2"/>
          <p:cNvSpPr/>
          <p:nvPr/>
        </p:nvSpPr>
        <p:spPr>
          <a:xfrm>
            <a:off x="548640" y="1920240"/>
            <a:ext cx="2514600" cy="3108960"/>
          </a:xfrm>
          <a:prstGeom prst="roundRect">
            <a:avLst>
              <a:gd name="adj" fmla="val 4364"/>
            </a:avLst>
          </a:prstGeom>
          <a:solidFill>
            <a:srgbClr val="FFFFFF"/>
          </a:solidFill>
          <a:ln w="9525">
            <a:solidFill>
              <a:srgbClr val="E1E6EE"/>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1417320" y="2148840"/>
            <a:ext cx="777240" cy="777240"/>
          </a:xfrm>
          <a:prstGeom prst="ellipse">
            <a:avLst/>
          </a:prstGeom>
          <a:solidFill>
            <a:srgbClr val="2A78D6"/>
          </a:solidFill>
          <a:ln w="12700">
            <a:solidFill>
              <a:srgbClr val="2A78D6"/>
            </a:solidFill>
            <a:prstDash val="solid"/>
          </a:ln>
        </p:spPr>
      </p:sp>
      <p:pic>
        <p:nvPicPr>
          <p:cNvPr id="6" name="Image 0" descr="preencoded.png">    </p:cNvPr>
          <p:cNvPicPr>
            <a:picLocks noChangeAspect="1"/>
          </p:cNvPicPr>
          <p:nvPr/>
        </p:nvPicPr>
        <p:blipFill>
          <a:blip r:embed="rId1"/>
          <a:stretch>
            <a:fillRect/>
          </a:stretch>
        </p:blipFill>
        <p:spPr>
          <a:xfrm>
            <a:off x="1603858" y="2335378"/>
            <a:ext cx="404165" cy="404165"/>
          </a:xfrm>
          <a:prstGeom prst="rect">
            <a:avLst/>
          </a:prstGeom>
        </p:spPr>
      </p:pic>
      <p:sp>
        <p:nvSpPr>
          <p:cNvPr id="7" name="Text 4"/>
          <p:cNvSpPr txBox="1"/>
          <p:nvPr/>
        </p:nvSpPr>
        <p:spPr>
          <a:xfrm>
            <a:off x="731520" y="3063240"/>
            <a:ext cx="2148840" cy="457200"/>
          </a:xfrm>
          <a:prstGeom prst="rect">
            <a:avLst/>
          </a:prstGeom>
          <a:noFill/>
          <a:ln/>
        </p:spPr>
        <p:txBody>
          <a:bodyPr wrap="square" lIns="0" tIns="0" rIns="0" bIns="0" rtlCol="0" anchor="ctr"/>
          <a:lstStyle/>
          <a:p>
            <a:pPr algn="ctr" indent="0" marL="0">
              <a:buNone/>
            </a:pPr>
            <a:r>
              <a:rPr lang="en-US" sz="2000" b="1" dirty="0">
                <a:solidFill>
                  <a:srgbClr val="0B2545"/>
                </a:solidFill>
                <a:latin typeface="Arial" pitchFamily="34" charset="0"/>
                <a:ea typeface="Arial" pitchFamily="34" charset="-122"/>
                <a:cs typeface="Arial" pitchFamily="34" charset="-120"/>
              </a:rPr>
              <a:t>Discover</a:t>
            </a:r>
            <a:endParaRPr lang="en-US" sz="2000" dirty="0"/>
          </a:p>
        </p:txBody>
      </p:sp>
      <p:sp>
        <p:nvSpPr>
          <p:cNvPr id="8" name="Text 5"/>
          <p:cNvSpPr txBox="1"/>
          <p:nvPr/>
        </p:nvSpPr>
        <p:spPr>
          <a:xfrm>
            <a:off x="731520" y="3566160"/>
            <a:ext cx="2148840" cy="914400"/>
          </a:xfrm>
          <a:prstGeom prst="rect">
            <a:avLst/>
          </a:prstGeom>
          <a:noFill/>
          <a:ln/>
        </p:spPr>
        <p:txBody>
          <a:bodyPr wrap="square" lIns="0" tIns="0" rIns="0" bIns="0" rtlCol="0" anchor="t"/>
          <a:lstStyle/>
          <a:p>
            <a:pPr algn="ctr" indent="0" marL="0">
              <a:buNone/>
            </a:pPr>
            <a:r>
              <a:rPr lang="en-US" sz="1400" dirty="0">
                <a:solidFill>
                  <a:srgbClr val="5B6678"/>
                </a:solidFill>
                <a:latin typeface="Calibri" pitchFamily="34" charset="0"/>
                <a:ea typeface="Calibri" pitchFamily="34" charset="-122"/>
                <a:cs typeface="Calibri" pitchFamily="34" charset="-120"/>
              </a:rPr>
              <a:t>Pull candidate articles from GDELT and Google News</a:t>
            </a:r>
            <a:endParaRPr lang="en-US" sz="1400" dirty="0"/>
          </a:p>
        </p:txBody>
      </p:sp>
      <p:sp>
        <p:nvSpPr>
          <p:cNvPr id="9" name="Text 6"/>
          <p:cNvSpPr txBox="1"/>
          <p:nvPr/>
        </p:nvSpPr>
        <p:spPr>
          <a:xfrm>
            <a:off x="731520" y="4526280"/>
            <a:ext cx="2148840" cy="320040"/>
          </a:xfrm>
          <a:prstGeom prst="rect">
            <a:avLst/>
          </a:prstGeom>
          <a:noFill/>
          <a:ln/>
        </p:spPr>
        <p:txBody>
          <a:bodyPr wrap="square" lIns="0" tIns="0" rIns="0" bIns="0" rtlCol="0" anchor="ctr"/>
          <a:lstStyle/>
          <a:p>
            <a:pPr algn="ctr" indent="0" marL="0">
              <a:buNone/>
            </a:pPr>
            <a:r>
              <a:rPr lang="en-US" sz="1200" dirty="0">
                <a:solidFill>
                  <a:srgbClr val="2A78D6"/>
                </a:solidFill>
                <a:latin typeface="Courier New" pitchFamily="34" charset="0"/>
                <a:ea typeface="Courier New" pitchFamily="34" charset="-122"/>
                <a:cs typeface="Courier New" pitchFamily="34" charset="-120"/>
              </a:rPr>
              <a:t>fetch.py</a:t>
            </a:r>
            <a:endParaRPr lang="en-US" sz="1200" dirty="0"/>
          </a:p>
        </p:txBody>
      </p:sp>
      <p:sp>
        <p:nvSpPr>
          <p:cNvPr id="10" name="Text 7"/>
          <p:cNvSpPr txBox="1"/>
          <p:nvPr/>
        </p:nvSpPr>
        <p:spPr>
          <a:xfrm>
            <a:off x="3063240" y="3108960"/>
            <a:ext cx="365760" cy="548640"/>
          </a:xfrm>
          <a:prstGeom prst="rect">
            <a:avLst/>
          </a:prstGeom>
          <a:noFill/>
          <a:ln/>
        </p:spPr>
        <p:txBody>
          <a:bodyPr wrap="square" lIns="0" tIns="0" rIns="0" bIns="0" rtlCol="0" anchor="ctr"/>
          <a:lstStyle/>
          <a:p>
            <a:pPr algn="ctr" indent="0" marL="0">
              <a:buNone/>
            </a:pPr>
            <a:r>
              <a:rPr lang="en-US" sz="2800" b="1" dirty="0">
                <a:solidFill>
                  <a:srgbClr val="2A78D6"/>
                </a:solidFill>
              </a:rPr>
              <a:t>→</a:t>
            </a:r>
            <a:endParaRPr lang="en-US" sz="2800" dirty="0"/>
          </a:p>
        </p:txBody>
      </p:sp>
      <p:sp>
        <p:nvSpPr>
          <p:cNvPr id="11" name="Shape 8"/>
          <p:cNvSpPr/>
          <p:nvPr/>
        </p:nvSpPr>
        <p:spPr>
          <a:xfrm>
            <a:off x="3429000" y="1920240"/>
            <a:ext cx="2514600" cy="3108960"/>
          </a:xfrm>
          <a:prstGeom prst="roundRect">
            <a:avLst>
              <a:gd name="adj" fmla="val 4364"/>
            </a:avLst>
          </a:prstGeom>
          <a:solidFill>
            <a:srgbClr val="FFFFFF"/>
          </a:solidFill>
          <a:ln w="9525">
            <a:solidFill>
              <a:srgbClr val="E1E6EE"/>
            </a:solidFill>
            <a:prstDash val="solid"/>
          </a:ln>
          <a:effectLst>
            <a:outerShdw sx="100000" sy="100000" kx="0" ky="0" algn="bl" rotWithShape="0" blurRad="101600" dist="25400" dir="5400000">
              <a:srgbClr val="000000">
                <a:alpha val="12000"/>
              </a:srgbClr>
            </a:outerShdw>
          </a:effectLst>
        </p:spPr>
      </p:sp>
      <p:sp>
        <p:nvSpPr>
          <p:cNvPr id="12" name="Shape 9"/>
          <p:cNvSpPr/>
          <p:nvPr/>
        </p:nvSpPr>
        <p:spPr>
          <a:xfrm>
            <a:off x="4297680" y="2148840"/>
            <a:ext cx="777240" cy="777240"/>
          </a:xfrm>
          <a:prstGeom prst="ellipse">
            <a:avLst/>
          </a:prstGeom>
          <a:solidFill>
            <a:srgbClr val="2A78D6"/>
          </a:solidFill>
          <a:ln w="12700">
            <a:solidFill>
              <a:srgbClr val="2A78D6"/>
            </a:solidFill>
            <a:prstDash val="solid"/>
          </a:ln>
        </p:spPr>
      </p:sp>
      <p:pic>
        <p:nvPicPr>
          <p:cNvPr id="13" name="Image 1" descr="preencoded.png">    </p:cNvPr>
          <p:cNvPicPr>
            <a:picLocks noChangeAspect="1"/>
          </p:cNvPicPr>
          <p:nvPr/>
        </p:nvPicPr>
        <p:blipFill>
          <a:blip r:embed="rId2"/>
          <a:stretch>
            <a:fillRect/>
          </a:stretch>
        </p:blipFill>
        <p:spPr>
          <a:xfrm>
            <a:off x="4484218" y="2335378"/>
            <a:ext cx="404165" cy="404165"/>
          </a:xfrm>
          <a:prstGeom prst="rect">
            <a:avLst/>
          </a:prstGeom>
        </p:spPr>
      </p:pic>
      <p:sp>
        <p:nvSpPr>
          <p:cNvPr id="14" name="Text 10"/>
          <p:cNvSpPr txBox="1"/>
          <p:nvPr/>
        </p:nvSpPr>
        <p:spPr>
          <a:xfrm>
            <a:off x="3611880" y="3063240"/>
            <a:ext cx="2148840" cy="457200"/>
          </a:xfrm>
          <a:prstGeom prst="rect">
            <a:avLst/>
          </a:prstGeom>
          <a:noFill/>
          <a:ln/>
        </p:spPr>
        <p:txBody>
          <a:bodyPr wrap="square" lIns="0" tIns="0" rIns="0" bIns="0" rtlCol="0" anchor="ctr"/>
          <a:lstStyle/>
          <a:p>
            <a:pPr algn="ctr" indent="0" marL="0">
              <a:buNone/>
            </a:pPr>
            <a:r>
              <a:rPr lang="en-US" sz="2000" b="1" dirty="0">
                <a:solidFill>
                  <a:srgbClr val="0B2545"/>
                </a:solidFill>
                <a:latin typeface="Arial" pitchFamily="34" charset="0"/>
                <a:ea typeface="Arial" pitchFamily="34" charset="-122"/>
                <a:cs typeface="Arial" pitchFamily="34" charset="-120"/>
              </a:rPr>
              <a:t>Classify</a:t>
            </a:r>
            <a:endParaRPr lang="en-US" sz="2000" dirty="0"/>
          </a:p>
        </p:txBody>
      </p:sp>
      <p:sp>
        <p:nvSpPr>
          <p:cNvPr id="15" name="Text 11"/>
          <p:cNvSpPr txBox="1"/>
          <p:nvPr/>
        </p:nvSpPr>
        <p:spPr>
          <a:xfrm>
            <a:off x="3611880" y="3566160"/>
            <a:ext cx="2148840" cy="914400"/>
          </a:xfrm>
          <a:prstGeom prst="rect">
            <a:avLst/>
          </a:prstGeom>
          <a:noFill/>
          <a:ln/>
        </p:spPr>
        <p:txBody>
          <a:bodyPr wrap="square" lIns="0" tIns="0" rIns="0" bIns="0" rtlCol="0" anchor="t"/>
          <a:lstStyle/>
          <a:p>
            <a:pPr algn="ctr" indent="0" marL="0">
              <a:buNone/>
            </a:pPr>
            <a:r>
              <a:rPr lang="en-US" sz="1400" dirty="0">
                <a:solidFill>
                  <a:srgbClr val="5B6678"/>
                </a:solidFill>
                <a:latin typeface="Calibri" pitchFamily="34" charset="0"/>
                <a:ea typeface="Calibri" pitchFamily="34" charset="-122"/>
                <a:cs typeface="Calibri" pitchFamily="34" charset="-120"/>
              </a:rPr>
              <a:t>Claude reads each article: does it qualify? Extract the fields</a:t>
            </a:r>
            <a:endParaRPr lang="en-US" sz="1400" dirty="0"/>
          </a:p>
        </p:txBody>
      </p:sp>
      <p:sp>
        <p:nvSpPr>
          <p:cNvPr id="16" name="Text 12"/>
          <p:cNvSpPr txBox="1"/>
          <p:nvPr/>
        </p:nvSpPr>
        <p:spPr>
          <a:xfrm>
            <a:off x="3611880" y="4526280"/>
            <a:ext cx="2148840" cy="320040"/>
          </a:xfrm>
          <a:prstGeom prst="rect">
            <a:avLst/>
          </a:prstGeom>
          <a:noFill/>
          <a:ln/>
        </p:spPr>
        <p:txBody>
          <a:bodyPr wrap="square" lIns="0" tIns="0" rIns="0" bIns="0" rtlCol="0" anchor="ctr"/>
          <a:lstStyle/>
          <a:p>
            <a:pPr algn="ctr" indent="0" marL="0">
              <a:buNone/>
            </a:pPr>
            <a:r>
              <a:rPr lang="en-US" sz="1200" dirty="0">
                <a:solidFill>
                  <a:srgbClr val="2A78D6"/>
                </a:solidFill>
                <a:latin typeface="Courier New" pitchFamily="34" charset="0"/>
                <a:ea typeface="Courier New" pitchFamily="34" charset="-122"/>
                <a:cs typeface="Courier New" pitchFamily="34" charset="-120"/>
              </a:rPr>
              <a:t>classify.py</a:t>
            </a:r>
            <a:endParaRPr lang="en-US" sz="1200" dirty="0"/>
          </a:p>
        </p:txBody>
      </p:sp>
      <p:sp>
        <p:nvSpPr>
          <p:cNvPr id="17" name="Text 13"/>
          <p:cNvSpPr txBox="1"/>
          <p:nvPr/>
        </p:nvSpPr>
        <p:spPr>
          <a:xfrm>
            <a:off x="5943600" y="3108960"/>
            <a:ext cx="365760" cy="548640"/>
          </a:xfrm>
          <a:prstGeom prst="rect">
            <a:avLst/>
          </a:prstGeom>
          <a:noFill/>
          <a:ln/>
        </p:spPr>
        <p:txBody>
          <a:bodyPr wrap="square" lIns="0" tIns="0" rIns="0" bIns="0" rtlCol="0" anchor="ctr"/>
          <a:lstStyle/>
          <a:p>
            <a:pPr algn="ctr" indent="0" marL="0">
              <a:buNone/>
            </a:pPr>
            <a:r>
              <a:rPr lang="en-US" sz="2800" b="1" dirty="0">
                <a:solidFill>
                  <a:srgbClr val="2A78D6"/>
                </a:solidFill>
              </a:rPr>
              <a:t>→</a:t>
            </a:r>
            <a:endParaRPr lang="en-US" sz="2800" dirty="0"/>
          </a:p>
        </p:txBody>
      </p:sp>
      <p:sp>
        <p:nvSpPr>
          <p:cNvPr id="18" name="Shape 14"/>
          <p:cNvSpPr/>
          <p:nvPr/>
        </p:nvSpPr>
        <p:spPr>
          <a:xfrm>
            <a:off x="6309360" y="1920240"/>
            <a:ext cx="2514600" cy="3108960"/>
          </a:xfrm>
          <a:prstGeom prst="roundRect">
            <a:avLst>
              <a:gd name="adj" fmla="val 4364"/>
            </a:avLst>
          </a:prstGeom>
          <a:solidFill>
            <a:srgbClr val="FFFFFF"/>
          </a:solidFill>
          <a:ln w="9525">
            <a:solidFill>
              <a:srgbClr val="E1E6EE"/>
            </a:solidFill>
            <a:prstDash val="solid"/>
          </a:ln>
          <a:effectLst>
            <a:outerShdw sx="100000" sy="100000" kx="0" ky="0" algn="bl" rotWithShape="0" blurRad="101600" dist="25400" dir="5400000">
              <a:srgbClr val="000000">
                <a:alpha val="12000"/>
              </a:srgbClr>
            </a:outerShdw>
          </a:effectLst>
        </p:spPr>
      </p:sp>
      <p:sp>
        <p:nvSpPr>
          <p:cNvPr id="19" name="Shape 15"/>
          <p:cNvSpPr/>
          <p:nvPr/>
        </p:nvSpPr>
        <p:spPr>
          <a:xfrm>
            <a:off x="7178040" y="2148840"/>
            <a:ext cx="777240" cy="777240"/>
          </a:xfrm>
          <a:prstGeom prst="ellipse">
            <a:avLst/>
          </a:prstGeom>
          <a:solidFill>
            <a:srgbClr val="2A78D6"/>
          </a:solidFill>
          <a:ln w="12700">
            <a:solidFill>
              <a:srgbClr val="2A78D6"/>
            </a:solidFill>
            <a:prstDash val="solid"/>
          </a:ln>
        </p:spPr>
      </p:sp>
      <p:pic>
        <p:nvPicPr>
          <p:cNvPr id="20" name="Image 2" descr="preencoded.png">    </p:cNvPr>
          <p:cNvPicPr>
            <a:picLocks noChangeAspect="1"/>
          </p:cNvPicPr>
          <p:nvPr/>
        </p:nvPicPr>
        <p:blipFill>
          <a:blip r:embed="rId3"/>
          <a:stretch>
            <a:fillRect/>
          </a:stretch>
        </p:blipFill>
        <p:spPr>
          <a:xfrm>
            <a:off x="7364578" y="2335378"/>
            <a:ext cx="404165" cy="404165"/>
          </a:xfrm>
          <a:prstGeom prst="rect">
            <a:avLst/>
          </a:prstGeom>
        </p:spPr>
      </p:pic>
      <p:sp>
        <p:nvSpPr>
          <p:cNvPr id="21" name="Text 16"/>
          <p:cNvSpPr txBox="1"/>
          <p:nvPr/>
        </p:nvSpPr>
        <p:spPr>
          <a:xfrm>
            <a:off x="6492240" y="3063240"/>
            <a:ext cx="2148840" cy="457200"/>
          </a:xfrm>
          <a:prstGeom prst="rect">
            <a:avLst/>
          </a:prstGeom>
          <a:noFill/>
          <a:ln/>
        </p:spPr>
        <p:txBody>
          <a:bodyPr wrap="square" lIns="0" tIns="0" rIns="0" bIns="0" rtlCol="0" anchor="ctr"/>
          <a:lstStyle/>
          <a:p>
            <a:pPr algn="ctr" indent="0" marL="0">
              <a:buNone/>
            </a:pPr>
            <a:r>
              <a:rPr lang="en-US" sz="2000" b="1" dirty="0">
                <a:solidFill>
                  <a:srgbClr val="0B2545"/>
                </a:solidFill>
                <a:latin typeface="Arial" pitchFamily="34" charset="0"/>
                <a:ea typeface="Arial" pitchFamily="34" charset="-122"/>
                <a:cs typeface="Arial" pitchFamily="34" charset="-120"/>
              </a:rPr>
              <a:t>Dedupe</a:t>
            </a:r>
            <a:endParaRPr lang="en-US" sz="2000" dirty="0"/>
          </a:p>
        </p:txBody>
      </p:sp>
      <p:sp>
        <p:nvSpPr>
          <p:cNvPr id="22" name="Text 17"/>
          <p:cNvSpPr txBox="1"/>
          <p:nvPr/>
        </p:nvSpPr>
        <p:spPr>
          <a:xfrm>
            <a:off x="6492240" y="3566160"/>
            <a:ext cx="2148840" cy="914400"/>
          </a:xfrm>
          <a:prstGeom prst="rect">
            <a:avLst/>
          </a:prstGeom>
          <a:noFill/>
          <a:ln/>
        </p:spPr>
        <p:txBody>
          <a:bodyPr wrap="square" lIns="0" tIns="0" rIns="0" bIns="0" rtlCol="0" anchor="t"/>
          <a:lstStyle/>
          <a:p>
            <a:pPr algn="ctr" indent="0" marL="0">
              <a:buNone/>
            </a:pPr>
            <a:r>
              <a:rPr lang="en-US" sz="1400" dirty="0">
                <a:solidFill>
                  <a:srgbClr val="5B6678"/>
                </a:solidFill>
                <a:latin typeface="Calibri" pitchFamily="34" charset="0"/>
                <a:ea typeface="Calibri" pitchFamily="34" charset="-122"/>
                <a:cs typeface="Calibri" pitchFamily="34" charset="-120"/>
              </a:rPr>
              <a:t>Merge stories about the same incident into one row</a:t>
            </a:r>
            <a:endParaRPr lang="en-US" sz="1400" dirty="0"/>
          </a:p>
        </p:txBody>
      </p:sp>
      <p:sp>
        <p:nvSpPr>
          <p:cNvPr id="23" name="Text 18"/>
          <p:cNvSpPr txBox="1"/>
          <p:nvPr/>
        </p:nvSpPr>
        <p:spPr>
          <a:xfrm>
            <a:off x="6492240" y="4526280"/>
            <a:ext cx="2148840" cy="320040"/>
          </a:xfrm>
          <a:prstGeom prst="rect">
            <a:avLst/>
          </a:prstGeom>
          <a:noFill/>
          <a:ln/>
        </p:spPr>
        <p:txBody>
          <a:bodyPr wrap="square" lIns="0" tIns="0" rIns="0" bIns="0" rtlCol="0" anchor="ctr"/>
          <a:lstStyle/>
          <a:p>
            <a:pPr algn="ctr" indent="0" marL="0">
              <a:buNone/>
            </a:pPr>
            <a:r>
              <a:rPr lang="en-US" sz="1200" dirty="0">
                <a:solidFill>
                  <a:srgbClr val="2A78D6"/>
                </a:solidFill>
                <a:latin typeface="Courier New" pitchFamily="34" charset="0"/>
                <a:ea typeface="Courier New" pitchFamily="34" charset="-122"/>
                <a:cs typeface="Courier New" pitchFamily="34" charset="-120"/>
              </a:rPr>
              <a:t>dedupe.py</a:t>
            </a:r>
            <a:endParaRPr lang="en-US" sz="1200" dirty="0"/>
          </a:p>
        </p:txBody>
      </p:sp>
      <p:sp>
        <p:nvSpPr>
          <p:cNvPr id="24" name="Text 19"/>
          <p:cNvSpPr txBox="1"/>
          <p:nvPr/>
        </p:nvSpPr>
        <p:spPr>
          <a:xfrm>
            <a:off x="8823960" y="3108960"/>
            <a:ext cx="365760" cy="548640"/>
          </a:xfrm>
          <a:prstGeom prst="rect">
            <a:avLst/>
          </a:prstGeom>
          <a:noFill/>
          <a:ln/>
        </p:spPr>
        <p:txBody>
          <a:bodyPr wrap="square" lIns="0" tIns="0" rIns="0" bIns="0" rtlCol="0" anchor="ctr"/>
          <a:lstStyle/>
          <a:p>
            <a:pPr algn="ctr" indent="0" marL="0">
              <a:buNone/>
            </a:pPr>
            <a:r>
              <a:rPr lang="en-US" sz="2800" b="1" dirty="0">
                <a:solidFill>
                  <a:srgbClr val="2A78D6"/>
                </a:solidFill>
              </a:rPr>
              <a:t>→</a:t>
            </a:r>
            <a:endParaRPr lang="en-US" sz="2800" dirty="0"/>
          </a:p>
        </p:txBody>
      </p:sp>
      <p:sp>
        <p:nvSpPr>
          <p:cNvPr id="25" name="Shape 20"/>
          <p:cNvSpPr/>
          <p:nvPr/>
        </p:nvSpPr>
        <p:spPr>
          <a:xfrm>
            <a:off x="9189720" y="1920240"/>
            <a:ext cx="2514600" cy="3108960"/>
          </a:xfrm>
          <a:prstGeom prst="roundRect">
            <a:avLst>
              <a:gd name="adj" fmla="val 4364"/>
            </a:avLst>
          </a:prstGeom>
          <a:solidFill>
            <a:srgbClr val="FFFFFF"/>
          </a:solidFill>
          <a:ln w="9525">
            <a:solidFill>
              <a:srgbClr val="E1E6EE"/>
            </a:solidFill>
            <a:prstDash val="solid"/>
          </a:ln>
          <a:effectLst>
            <a:outerShdw sx="100000" sy="100000" kx="0" ky="0" algn="bl" rotWithShape="0" blurRad="101600" dist="25400" dir="5400000">
              <a:srgbClr val="000000">
                <a:alpha val="12000"/>
              </a:srgbClr>
            </a:outerShdw>
          </a:effectLst>
        </p:spPr>
      </p:sp>
      <p:sp>
        <p:nvSpPr>
          <p:cNvPr id="26" name="Shape 21"/>
          <p:cNvSpPr/>
          <p:nvPr/>
        </p:nvSpPr>
        <p:spPr>
          <a:xfrm>
            <a:off x="10058400" y="2148840"/>
            <a:ext cx="777240" cy="777240"/>
          </a:xfrm>
          <a:prstGeom prst="ellipse">
            <a:avLst/>
          </a:prstGeom>
          <a:solidFill>
            <a:srgbClr val="2A78D6"/>
          </a:solidFill>
          <a:ln w="12700">
            <a:solidFill>
              <a:srgbClr val="2A78D6"/>
            </a:solidFill>
            <a:prstDash val="solid"/>
          </a:ln>
        </p:spPr>
      </p:sp>
      <p:pic>
        <p:nvPicPr>
          <p:cNvPr id="27" name="Image 3" descr="preencoded.png">    </p:cNvPr>
          <p:cNvPicPr>
            <a:picLocks noChangeAspect="1"/>
          </p:cNvPicPr>
          <p:nvPr/>
        </p:nvPicPr>
        <p:blipFill>
          <a:blip r:embed="rId4"/>
          <a:stretch>
            <a:fillRect/>
          </a:stretch>
        </p:blipFill>
        <p:spPr>
          <a:xfrm>
            <a:off x="10244938" y="2335378"/>
            <a:ext cx="404165" cy="404165"/>
          </a:xfrm>
          <a:prstGeom prst="rect">
            <a:avLst/>
          </a:prstGeom>
        </p:spPr>
      </p:pic>
      <p:sp>
        <p:nvSpPr>
          <p:cNvPr id="28" name="Text 22"/>
          <p:cNvSpPr txBox="1"/>
          <p:nvPr/>
        </p:nvSpPr>
        <p:spPr>
          <a:xfrm>
            <a:off x="9372600" y="3063240"/>
            <a:ext cx="2148840" cy="457200"/>
          </a:xfrm>
          <a:prstGeom prst="rect">
            <a:avLst/>
          </a:prstGeom>
          <a:noFill/>
          <a:ln/>
        </p:spPr>
        <p:txBody>
          <a:bodyPr wrap="square" lIns="0" tIns="0" rIns="0" bIns="0" rtlCol="0" anchor="ctr"/>
          <a:lstStyle/>
          <a:p>
            <a:pPr algn="ctr" indent="0" marL="0">
              <a:buNone/>
            </a:pPr>
            <a:r>
              <a:rPr lang="en-US" sz="2000" b="1" dirty="0">
                <a:solidFill>
                  <a:srgbClr val="0B2545"/>
                </a:solidFill>
                <a:latin typeface="Arial" pitchFamily="34" charset="0"/>
                <a:ea typeface="Arial" pitchFamily="34" charset="-122"/>
                <a:cs typeface="Arial" pitchFamily="34" charset="-120"/>
              </a:rPr>
              <a:t>Publish</a:t>
            </a:r>
            <a:endParaRPr lang="en-US" sz="2000" dirty="0"/>
          </a:p>
        </p:txBody>
      </p:sp>
      <p:sp>
        <p:nvSpPr>
          <p:cNvPr id="29" name="Text 23"/>
          <p:cNvSpPr txBox="1"/>
          <p:nvPr/>
        </p:nvSpPr>
        <p:spPr>
          <a:xfrm>
            <a:off x="9372600" y="3566160"/>
            <a:ext cx="2148840" cy="914400"/>
          </a:xfrm>
          <a:prstGeom prst="rect">
            <a:avLst/>
          </a:prstGeom>
          <a:noFill/>
          <a:ln/>
        </p:spPr>
        <p:txBody>
          <a:bodyPr wrap="square" lIns="0" tIns="0" rIns="0" bIns="0" rtlCol="0" anchor="t"/>
          <a:lstStyle/>
          <a:p>
            <a:pPr algn="ctr" indent="0" marL="0">
              <a:buNone/>
            </a:pPr>
            <a:r>
              <a:rPr lang="en-US" sz="1400" dirty="0">
                <a:solidFill>
                  <a:srgbClr val="5B6678"/>
                </a:solidFill>
                <a:latin typeface="Calibri" pitchFamily="34" charset="0"/>
                <a:ea typeface="Calibri" pitchFamily="34" charset="-122"/>
                <a:cs typeface="Calibri" pitchFamily="34" charset="-120"/>
              </a:rPr>
              <a:t>Rebuild the site from the CSV and deploy it</a:t>
            </a:r>
            <a:endParaRPr lang="en-US" sz="1400" dirty="0"/>
          </a:p>
        </p:txBody>
      </p:sp>
      <p:sp>
        <p:nvSpPr>
          <p:cNvPr id="30" name="Text 24"/>
          <p:cNvSpPr txBox="1"/>
          <p:nvPr/>
        </p:nvSpPr>
        <p:spPr>
          <a:xfrm>
            <a:off x="9372600" y="4526280"/>
            <a:ext cx="2148840" cy="320040"/>
          </a:xfrm>
          <a:prstGeom prst="rect">
            <a:avLst/>
          </a:prstGeom>
          <a:noFill/>
          <a:ln/>
        </p:spPr>
        <p:txBody>
          <a:bodyPr wrap="square" lIns="0" tIns="0" rIns="0" bIns="0" rtlCol="0" anchor="ctr"/>
          <a:lstStyle/>
          <a:p>
            <a:pPr algn="ctr" indent="0" marL="0">
              <a:buNone/>
            </a:pPr>
            <a:r>
              <a:rPr lang="en-US" sz="1200" dirty="0">
                <a:solidFill>
                  <a:srgbClr val="2A78D6"/>
                </a:solidFill>
                <a:latin typeface="Courier New" pitchFamily="34" charset="0"/>
                <a:ea typeface="Courier New" pitchFamily="34" charset="-122"/>
                <a:cs typeface="Courier New" pitchFamily="34" charset="-120"/>
              </a:rPr>
              <a:t>build_site.py</a:t>
            </a:r>
            <a:endParaRPr lang="en-US" sz="1200" dirty="0"/>
          </a:p>
        </p:txBody>
      </p:sp>
      <p:sp>
        <p:nvSpPr>
          <p:cNvPr id="31" name="Text 25"/>
          <p:cNvSpPr txBox="1"/>
          <p:nvPr/>
        </p:nvSpPr>
        <p:spPr>
          <a:xfrm>
            <a:off x="548640" y="5257800"/>
            <a:ext cx="11064240" cy="457200"/>
          </a:xfrm>
          <a:prstGeom prst="rect">
            <a:avLst/>
          </a:prstGeom>
          <a:noFill/>
          <a:ln/>
        </p:spPr>
        <p:txBody>
          <a:bodyPr wrap="square" lIns="0" tIns="0" rIns="0" bIns="0" rtlCol="0" anchor="ctr"/>
          <a:lstStyle/>
          <a:p>
            <a:pPr indent="0" marL="0">
              <a:buNone/>
            </a:pPr>
            <a:r>
              <a:rPr lang="en-US" sz="1600" dirty="0">
                <a:solidFill>
                  <a:srgbClr val="1A2230"/>
                </a:solidFill>
                <a:latin typeface="Calibri" pitchFamily="34" charset="0"/>
                <a:ea typeface="Calibri" pitchFamily="34" charset="-122"/>
                <a:cs typeface="Calibri" pitchFamily="34" charset="-120"/>
              </a:rPr>
              <a:t>Everything is stored in </a:t>
            </a:r>
            <a:pPr indent="0" marL="0">
              <a:buNone/>
            </a:pPr>
            <a:r>
              <a:rPr lang="en-US" sz="1600" dirty="0">
                <a:solidFill>
                  <a:srgbClr val="2A78D6"/>
                </a:solidFill>
                <a:latin typeface="Courier New" pitchFamily="34" charset="0"/>
                <a:ea typeface="Courier New" pitchFamily="34" charset="-122"/>
                <a:cs typeface="Courier New" pitchFamily="34" charset="-120"/>
              </a:rPr>
              <a:t>data/stories.csv</a:t>
            </a:r>
            <a:pPr indent="0" marL="0">
              <a:buNone/>
            </a:pPr>
            <a:r>
              <a:rPr lang="en-US" sz="1600" dirty="0">
                <a:solidFill>
                  <a:srgbClr val="1A2230"/>
                </a:solidFill>
                <a:latin typeface="Calibri" pitchFamily="34" charset="0"/>
                <a:ea typeface="Calibri" pitchFamily="34" charset="-122"/>
                <a:cs typeface="Calibri" pitchFamily="34" charset="-120"/>
              </a:rPr>
              <a:t>. The website is regenerated from that one file, so fixing the data fixes the site.</a:t>
            </a:r>
            <a:endParaRPr lang="en-US" sz="1600" dirty="0"/>
          </a:p>
        </p:txBody>
      </p:sp>
      <p:sp>
        <p:nvSpPr>
          <p:cNvPr id="32" name="Shape 26"/>
          <p:cNvSpPr/>
          <p:nvPr/>
        </p:nvSpPr>
        <p:spPr>
          <a:xfrm>
            <a:off x="548640" y="5897880"/>
            <a:ext cx="11091672" cy="566928"/>
          </a:xfrm>
          <a:prstGeom prst="roundRect">
            <a:avLst>
              <a:gd name="adj" fmla="val 16129"/>
            </a:avLst>
          </a:prstGeom>
          <a:solidFill>
            <a:srgbClr val="FDF3E2"/>
          </a:solidFill>
          <a:ln w="9525">
            <a:solidFill>
              <a:srgbClr val="F3D9A8"/>
            </a:solidFill>
            <a:prstDash val="solid"/>
          </a:ln>
        </p:spPr>
      </p:sp>
      <p:sp>
        <p:nvSpPr>
          <p:cNvPr id="33" name="Text 27"/>
          <p:cNvSpPr txBox="1"/>
          <p:nvPr/>
        </p:nvSpPr>
        <p:spPr>
          <a:xfrm>
            <a:off x="777240" y="5897880"/>
            <a:ext cx="10698480" cy="566928"/>
          </a:xfrm>
          <a:prstGeom prst="rect">
            <a:avLst/>
          </a:prstGeom>
          <a:noFill/>
          <a:ln/>
        </p:spPr>
        <p:txBody>
          <a:bodyPr wrap="square" lIns="0" tIns="0" rIns="0" bIns="0" rtlCol="0" anchor="ctr"/>
          <a:lstStyle/>
          <a:p>
            <a:pPr indent="0" marL="0">
              <a:buNone/>
            </a:pPr>
            <a:r>
              <a:rPr lang="en-US" sz="1600" b="1" dirty="0">
                <a:solidFill>
                  <a:srgbClr val="8A5A12"/>
                </a:solidFill>
                <a:latin typeface="Calibri" pitchFamily="34" charset="0"/>
                <a:ea typeface="Calibri" pitchFamily="34" charset="-122"/>
                <a:cs typeface="Calibri" pitchFamily="34" charset="-120"/>
              </a:rPr>
              <a:t>Lesson: </a:t>
            </a:r>
            <a:pPr indent="0" marL="0">
              <a:buNone/>
            </a:pPr>
            <a:r>
              <a:rPr lang="en-US" sz="1600" dirty="0">
                <a:solidFill>
                  <a:srgbClr val="1A2230"/>
                </a:solidFill>
                <a:latin typeface="Calibri" pitchFamily="34" charset="0"/>
                <a:ea typeface="Calibri" pitchFamily="34" charset="-122"/>
                <a:cs typeface="Calibri" pitchFamily="34" charset="-120"/>
              </a:rPr>
              <a:t>Ask Claude to split the job into small, named steps. Small pieces are easier to debug.</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438912"/>
            <a:ext cx="566928" cy="566928"/>
          </a:xfrm>
          <a:prstGeom prst="ellipse">
            <a:avLst/>
          </a:prstGeom>
          <a:solidFill>
            <a:srgbClr val="2A78D6"/>
          </a:solidFill>
          <a:ln w="12700">
            <a:solidFill>
              <a:srgbClr val="2A78D6"/>
            </a:solidFill>
            <a:prstDash val="solid"/>
          </a:ln>
        </p:spPr>
      </p:sp>
      <p:sp>
        <p:nvSpPr>
          <p:cNvPr id="3" name="Text 1"/>
          <p:cNvSpPr txBox="1"/>
          <p:nvPr/>
        </p:nvSpPr>
        <p:spPr>
          <a:xfrm>
            <a:off x="548640" y="438912"/>
            <a:ext cx="566928" cy="566928"/>
          </a:xfrm>
          <a:prstGeom prst="rect">
            <a:avLst/>
          </a:prstGeom>
          <a:noFill/>
          <a:ln/>
        </p:spPr>
        <p:txBody>
          <a:bodyPr wrap="square" lIns="0" tIns="0" rIns="0" bIns="0" rtlCol="0" anchor="ctr"/>
          <a:lstStyle/>
          <a:p>
            <a:pPr algn="ctr" indent="0" marL="0">
              <a:buNone/>
            </a:pPr>
            <a:r>
              <a:rPr lang="en-US" sz="1860" b="1" dirty="0">
                <a:solidFill>
                  <a:srgbClr val="FFFFFF"/>
                </a:solidFill>
                <a:latin typeface="Arial" pitchFamily="34" charset="0"/>
                <a:ea typeface="Arial" pitchFamily="34" charset="-122"/>
                <a:cs typeface="Arial" pitchFamily="34" charset="-120"/>
              </a:rPr>
              <a:t>2</a:t>
            </a:r>
            <a:endParaRPr lang="en-US" sz="1860" dirty="0"/>
          </a:p>
        </p:txBody>
      </p:sp>
      <p:sp>
        <p:nvSpPr>
          <p:cNvPr id="4" name="Text 2"/>
          <p:cNvSpPr txBox="1"/>
          <p:nvPr/>
        </p:nvSpPr>
        <p:spPr>
          <a:xfrm>
            <a:off x="1280160" y="365760"/>
            <a:ext cx="10058400" cy="731520"/>
          </a:xfrm>
          <a:prstGeom prst="rect">
            <a:avLst/>
          </a:prstGeom>
          <a:noFill/>
          <a:ln/>
        </p:spPr>
        <p:txBody>
          <a:bodyPr wrap="square" lIns="0" tIns="0" rIns="0" bIns="0" rtlCol="0" anchor="ctr"/>
          <a:lstStyle/>
          <a:p>
            <a:pPr indent="0" marL="0">
              <a:buNone/>
            </a:pPr>
            <a:r>
              <a:rPr lang="en-US" sz="3400" b="1" dirty="0">
                <a:solidFill>
                  <a:srgbClr val="0B2545"/>
                </a:solidFill>
                <a:latin typeface="Arial" pitchFamily="34" charset="0"/>
                <a:ea typeface="Arial" pitchFamily="34" charset="-122"/>
                <a:cs typeface="Arial" pitchFamily="34" charset="-120"/>
              </a:rPr>
              <a:t>Let a robot run it every day</a:t>
            </a:r>
            <a:endParaRPr lang="en-US" sz="3400" dirty="0"/>
          </a:p>
        </p:txBody>
      </p:sp>
      <p:sp>
        <p:nvSpPr>
          <p:cNvPr id="5" name="Text 3"/>
          <p:cNvSpPr txBox="1"/>
          <p:nvPr/>
        </p:nvSpPr>
        <p:spPr>
          <a:xfrm>
            <a:off x="548640" y="1188720"/>
            <a:ext cx="10972800" cy="411480"/>
          </a:xfrm>
          <a:prstGeom prst="rect">
            <a:avLst/>
          </a:prstGeom>
          <a:noFill/>
          <a:ln/>
        </p:spPr>
        <p:txBody>
          <a:bodyPr wrap="square" lIns="0" tIns="0" rIns="0" bIns="0" rtlCol="0" anchor="ctr"/>
          <a:lstStyle/>
          <a:p>
            <a:pPr indent="0" marL="0">
              <a:buNone/>
            </a:pPr>
            <a:r>
              <a:rPr lang="en-US" sz="1700" i="1" dirty="0">
                <a:solidFill>
                  <a:srgbClr val="5B6678"/>
                </a:solidFill>
                <a:latin typeface="Calibri" pitchFamily="34" charset="0"/>
                <a:ea typeface="Calibri" pitchFamily="34" charset="-122"/>
                <a:cs typeface="Calibri" pitchFamily="34" charset="-120"/>
              </a:rPr>
              <a:t>GitHub Actions runs the pipeline at 6:30am ET, commits the new data, and redeploys the site</a:t>
            </a:r>
            <a:endParaRPr lang="en-US" sz="1700" dirty="0"/>
          </a:p>
        </p:txBody>
      </p:sp>
      <p:graphicFrame>
        <p:nvGraphicFramePr>
          <p:cNvPr id="6" name="Chart 0" descr=""/>
          <p:cNvGraphicFramePr/>
          <p:nvPr/>
        </p:nvGraphicFramePr>
        <p:xfrm>
          <a:off x="548640" y="1783080"/>
          <a:ext cx="4754880" cy="39319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760720" y="1874520"/>
            <a:ext cx="5879592" cy="777240"/>
          </a:xfrm>
          <a:prstGeom prst="roundRect">
            <a:avLst>
              <a:gd name="adj" fmla="val 14118"/>
            </a:avLst>
          </a:prstGeom>
          <a:solidFill>
            <a:srgbClr val="FFFFFF"/>
          </a:solidFill>
          <a:ln w="9525">
            <a:solidFill>
              <a:srgbClr val="E1E6EE"/>
            </a:solidFill>
            <a:prstDash val="solid"/>
          </a:ln>
          <a:effectLst>
            <a:outerShdw sx="100000" sy="100000" kx="0" ky="0" algn="bl" rotWithShape="0" blurRad="101600" dist="25400" dir="5400000">
              <a:srgbClr val="000000">
                <a:alpha val="12000"/>
              </a:srgbClr>
            </a:outerShdw>
          </a:effectLst>
        </p:spPr>
      </p:sp>
      <p:sp>
        <p:nvSpPr>
          <p:cNvPr id="8" name="Text 5"/>
          <p:cNvSpPr txBox="1"/>
          <p:nvPr/>
        </p:nvSpPr>
        <p:spPr>
          <a:xfrm>
            <a:off x="5989320" y="1874520"/>
            <a:ext cx="2651760" cy="777240"/>
          </a:xfrm>
          <a:prstGeom prst="rect">
            <a:avLst/>
          </a:prstGeom>
          <a:noFill/>
          <a:ln/>
        </p:spPr>
        <p:txBody>
          <a:bodyPr wrap="square" lIns="0" tIns="0" rIns="0" bIns="0" rtlCol="0" anchor="ctr"/>
          <a:lstStyle/>
          <a:p>
            <a:pPr indent="0" marL="0">
              <a:buNone/>
            </a:pPr>
            <a:r>
              <a:rPr lang="en-US" sz="1500" b="1" dirty="0">
                <a:solidFill>
                  <a:srgbClr val="0B2545"/>
                </a:solidFill>
                <a:latin typeface="Arial" pitchFamily="34" charset="0"/>
                <a:ea typeface="Arial" pitchFamily="34" charset="-122"/>
                <a:cs typeface="Arial" pitchFamily="34" charset="-120"/>
              </a:rPr>
              <a:t>Daily update</a:t>
            </a:r>
            <a:endParaRPr lang="en-US" sz="1500" dirty="0"/>
          </a:p>
        </p:txBody>
      </p:sp>
      <p:sp>
        <p:nvSpPr>
          <p:cNvPr id="9" name="Text 6"/>
          <p:cNvSpPr txBox="1"/>
          <p:nvPr/>
        </p:nvSpPr>
        <p:spPr>
          <a:xfrm>
            <a:off x="8641080" y="1874520"/>
            <a:ext cx="2880360" cy="777240"/>
          </a:xfrm>
          <a:prstGeom prst="rect">
            <a:avLst/>
          </a:prstGeom>
          <a:noFill/>
          <a:ln/>
        </p:spPr>
        <p:txBody>
          <a:bodyPr wrap="square" lIns="0" tIns="0" rIns="0" bIns="0" rtlCol="0" anchor="ctr"/>
          <a:lstStyle/>
          <a:p>
            <a:pPr indent="0" marL="0">
              <a:buNone/>
            </a:pPr>
            <a:r>
              <a:rPr lang="en-US" sz="1400" dirty="0">
                <a:solidFill>
                  <a:srgbClr val="5B6678"/>
                </a:solidFill>
                <a:latin typeface="Calibri" pitchFamily="34" charset="0"/>
                <a:ea typeface="Calibri" pitchFamily="34" charset="-122"/>
                <a:cs typeface="Calibri" pitchFamily="34" charset="-120"/>
              </a:rPr>
              <a:t>New stories, every morning</a:t>
            </a:r>
            <a:endParaRPr lang="en-US" sz="1400" dirty="0"/>
          </a:p>
        </p:txBody>
      </p:sp>
      <p:sp>
        <p:nvSpPr>
          <p:cNvPr id="10" name="Shape 7"/>
          <p:cNvSpPr/>
          <p:nvPr/>
        </p:nvSpPr>
        <p:spPr>
          <a:xfrm>
            <a:off x="5760720" y="2807208"/>
            <a:ext cx="5879592" cy="777240"/>
          </a:xfrm>
          <a:prstGeom prst="roundRect">
            <a:avLst>
              <a:gd name="adj" fmla="val 14118"/>
            </a:avLst>
          </a:prstGeom>
          <a:solidFill>
            <a:srgbClr val="FFFFFF"/>
          </a:solidFill>
          <a:ln w="9525">
            <a:solidFill>
              <a:srgbClr val="E1E6EE"/>
            </a:solidFill>
            <a:prstDash val="solid"/>
          </a:ln>
          <a:effectLst>
            <a:outerShdw sx="100000" sy="100000" kx="0" ky="0" algn="bl" rotWithShape="0" blurRad="101600" dist="25400" dir="5400000">
              <a:srgbClr val="000000">
                <a:alpha val="12000"/>
              </a:srgbClr>
            </a:outerShdw>
          </a:effectLst>
        </p:spPr>
      </p:sp>
      <p:sp>
        <p:nvSpPr>
          <p:cNvPr id="11" name="Text 8"/>
          <p:cNvSpPr txBox="1"/>
          <p:nvPr/>
        </p:nvSpPr>
        <p:spPr>
          <a:xfrm>
            <a:off x="5989320" y="2807208"/>
            <a:ext cx="2651760" cy="777240"/>
          </a:xfrm>
          <a:prstGeom prst="rect">
            <a:avLst/>
          </a:prstGeom>
          <a:noFill/>
          <a:ln/>
        </p:spPr>
        <p:txBody>
          <a:bodyPr wrap="square" lIns="0" tIns="0" rIns="0" bIns="0" rtlCol="0" anchor="ctr"/>
          <a:lstStyle/>
          <a:p>
            <a:pPr indent="0" marL="0">
              <a:buNone/>
            </a:pPr>
            <a:r>
              <a:rPr lang="en-US" sz="1500" b="1" dirty="0">
                <a:solidFill>
                  <a:srgbClr val="0B2545"/>
                </a:solidFill>
                <a:latin typeface="Arial" pitchFamily="34" charset="0"/>
                <a:ea typeface="Arial" pitchFamily="34" charset="-122"/>
                <a:cs typeface="Arial" pitchFamily="34" charset="-120"/>
              </a:rPr>
              <a:t>Court records update</a:t>
            </a:r>
            <a:endParaRPr lang="en-US" sz="1500" dirty="0"/>
          </a:p>
        </p:txBody>
      </p:sp>
      <p:sp>
        <p:nvSpPr>
          <p:cNvPr id="12" name="Text 9"/>
          <p:cNvSpPr txBox="1"/>
          <p:nvPr/>
        </p:nvSpPr>
        <p:spPr>
          <a:xfrm>
            <a:off x="8641080" y="2807208"/>
            <a:ext cx="2880360" cy="777240"/>
          </a:xfrm>
          <a:prstGeom prst="rect">
            <a:avLst/>
          </a:prstGeom>
          <a:noFill/>
          <a:ln/>
        </p:spPr>
        <p:txBody>
          <a:bodyPr wrap="square" lIns="0" tIns="0" rIns="0" bIns="0" rtlCol="0" anchor="ctr"/>
          <a:lstStyle/>
          <a:p>
            <a:pPr indent="0" marL="0">
              <a:buNone/>
            </a:pPr>
            <a:r>
              <a:rPr lang="en-US" sz="1400" dirty="0">
                <a:solidFill>
                  <a:srgbClr val="5B6678"/>
                </a:solidFill>
                <a:latin typeface="Calibri" pitchFamily="34" charset="0"/>
                <a:ea typeface="Calibri" pitchFamily="34" charset="-122"/>
                <a:cs typeface="Calibri" pitchFamily="34" charset="-120"/>
              </a:rPr>
              <a:t>Weekly CourtListener sweep</a:t>
            </a:r>
            <a:endParaRPr lang="en-US" sz="1400" dirty="0"/>
          </a:p>
        </p:txBody>
      </p:sp>
      <p:sp>
        <p:nvSpPr>
          <p:cNvPr id="13" name="Shape 10"/>
          <p:cNvSpPr/>
          <p:nvPr/>
        </p:nvSpPr>
        <p:spPr>
          <a:xfrm>
            <a:off x="5760720" y="3739896"/>
            <a:ext cx="5879592" cy="777240"/>
          </a:xfrm>
          <a:prstGeom prst="roundRect">
            <a:avLst>
              <a:gd name="adj" fmla="val 14118"/>
            </a:avLst>
          </a:prstGeom>
          <a:solidFill>
            <a:srgbClr val="FFFFFF"/>
          </a:solidFill>
          <a:ln w="9525">
            <a:solidFill>
              <a:srgbClr val="E1E6EE"/>
            </a:solidFill>
            <a:prstDash val="solid"/>
          </a:ln>
          <a:effectLst>
            <a:outerShdw sx="100000" sy="100000" kx="0" ky="0" algn="bl" rotWithShape="0" blurRad="101600" dist="25400" dir="5400000">
              <a:srgbClr val="000000">
                <a:alpha val="12000"/>
              </a:srgbClr>
            </a:outerShdw>
          </a:effectLst>
        </p:spPr>
      </p:sp>
      <p:sp>
        <p:nvSpPr>
          <p:cNvPr id="14" name="Text 11"/>
          <p:cNvSpPr txBox="1"/>
          <p:nvPr/>
        </p:nvSpPr>
        <p:spPr>
          <a:xfrm>
            <a:off x="5989320" y="3739896"/>
            <a:ext cx="2651760" cy="777240"/>
          </a:xfrm>
          <a:prstGeom prst="rect">
            <a:avLst/>
          </a:prstGeom>
          <a:noFill/>
          <a:ln/>
        </p:spPr>
        <p:txBody>
          <a:bodyPr wrap="square" lIns="0" tIns="0" rIns="0" bIns="0" rtlCol="0" anchor="ctr"/>
          <a:lstStyle/>
          <a:p>
            <a:pPr indent="0" marL="0">
              <a:buNone/>
            </a:pPr>
            <a:r>
              <a:rPr lang="en-US" sz="1500" b="1" dirty="0">
                <a:solidFill>
                  <a:srgbClr val="0B2545"/>
                </a:solidFill>
                <a:latin typeface="Arial" pitchFamily="34" charset="0"/>
                <a:ea typeface="Arial" pitchFamily="34" charset="-122"/>
                <a:cs typeface="Arial" pitchFamily="34" charset="-120"/>
              </a:rPr>
              <a:t>Feedback triage</a:t>
            </a:r>
            <a:endParaRPr lang="en-US" sz="1500" dirty="0"/>
          </a:p>
        </p:txBody>
      </p:sp>
      <p:sp>
        <p:nvSpPr>
          <p:cNvPr id="15" name="Text 12"/>
          <p:cNvSpPr txBox="1"/>
          <p:nvPr/>
        </p:nvSpPr>
        <p:spPr>
          <a:xfrm>
            <a:off x="8641080" y="3739896"/>
            <a:ext cx="2880360" cy="777240"/>
          </a:xfrm>
          <a:prstGeom prst="rect">
            <a:avLst/>
          </a:prstGeom>
          <a:noFill/>
          <a:ln/>
        </p:spPr>
        <p:txBody>
          <a:bodyPr wrap="square" lIns="0" tIns="0" rIns="0" bIns="0" rtlCol="0" anchor="ctr"/>
          <a:lstStyle/>
          <a:p>
            <a:pPr indent="0" marL="0">
              <a:buNone/>
            </a:pPr>
            <a:r>
              <a:rPr lang="en-US" sz="1400" dirty="0">
                <a:solidFill>
                  <a:srgbClr val="5B6678"/>
                </a:solidFill>
                <a:latin typeface="Calibri" pitchFamily="34" charset="0"/>
                <a:ea typeface="Calibri" pitchFamily="34" charset="-122"/>
                <a:cs typeface="Calibri" pitchFamily="34" charset="-120"/>
              </a:rPr>
              <a:t>Runs when a reader files an issue</a:t>
            </a:r>
            <a:endParaRPr lang="en-US" sz="1400" dirty="0"/>
          </a:p>
        </p:txBody>
      </p:sp>
      <p:sp>
        <p:nvSpPr>
          <p:cNvPr id="16" name="Shape 13"/>
          <p:cNvSpPr/>
          <p:nvPr/>
        </p:nvSpPr>
        <p:spPr>
          <a:xfrm>
            <a:off x="5760720" y="4672584"/>
            <a:ext cx="5879592" cy="777240"/>
          </a:xfrm>
          <a:prstGeom prst="roundRect">
            <a:avLst>
              <a:gd name="adj" fmla="val 14118"/>
            </a:avLst>
          </a:prstGeom>
          <a:solidFill>
            <a:srgbClr val="FFFFFF"/>
          </a:solidFill>
          <a:ln w="9525">
            <a:solidFill>
              <a:srgbClr val="E1E6EE"/>
            </a:solidFill>
            <a:prstDash val="solid"/>
          </a:ln>
          <a:effectLst>
            <a:outerShdw sx="100000" sy="100000" kx="0" ky="0" algn="bl" rotWithShape="0" blurRad="101600" dist="25400" dir="5400000">
              <a:srgbClr val="000000">
                <a:alpha val="12000"/>
              </a:srgbClr>
            </a:outerShdw>
          </a:effectLst>
        </p:spPr>
      </p:sp>
      <p:sp>
        <p:nvSpPr>
          <p:cNvPr id="17" name="Text 14"/>
          <p:cNvSpPr txBox="1"/>
          <p:nvPr/>
        </p:nvSpPr>
        <p:spPr>
          <a:xfrm>
            <a:off x="5989320" y="4672584"/>
            <a:ext cx="2651760" cy="777240"/>
          </a:xfrm>
          <a:prstGeom prst="rect">
            <a:avLst/>
          </a:prstGeom>
          <a:noFill/>
          <a:ln/>
        </p:spPr>
        <p:txBody>
          <a:bodyPr wrap="square" lIns="0" tIns="0" rIns="0" bIns="0" rtlCol="0" anchor="ctr"/>
          <a:lstStyle/>
          <a:p>
            <a:pPr indent="0" marL="0">
              <a:buNone/>
            </a:pPr>
            <a:r>
              <a:rPr lang="en-US" sz="1500" b="1" dirty="0">
                <a:solidFill>
                  <a:srgbClr val="0B2545"/>
                </a:solidFill>
                <a:latin typeface="Arial" pitchFamily="34" charset="0"/>
                <a:ea typeface="Arial" pitchFamily="34" charset="-122"/>
                <a:cs typeface="Arial" pitchFamily="34" charset="-120"/>
              </a:rPr>
              <a:t>Deploy</a:t>
            </a:r>
            <a:endParaRPr lang="en-US" sz="1500" dirty="0"/>
          </a:p>
        </p:txBody>
      </p:sp>
      <p:sp>
        <p:nvSpPr>
          <p:cNvPr id="18" name="Text 15"/>
          <p:cNvSpPr txBox="1"/>
          <p:nvPr/>
        </p:nvSpPr>
        <p:spPr>
          <a:xfrm>
            <a:off x="8641080" y="4672584"/>
            <a:ext cx="2880360" cy="777240"/>
          </a:xfrm>
          <a:prstGeom prst="rect">
            <a:avLst/>
          </a:prstGeom>
          <a:noFill/>
          <a:ln/>
        </p:spPr>
        <p:txBody>
          <a:bodyPr wrap="square" lIns="0" tIns="0" rIns="0" bIns="0" rtlCol="0" anchor="ctr"/>
          <a:lstStyle/>
          <a:p>
            <a:pPr indent="0" marL="0">
              <a:buNone/>
            </a:pPr>
            <a:r>
              <a:rPr lang="en-US" sz="1400" dirty="0">
                <a:solidFill>
                  <a:srgbClr val="5B6678"/>
                </a:solidFill>
                <a:latin typeface="Calibri" pitchFamily="34" charset="0"/>
                <a:ea typeface="Calibri" pitchFamily="34" charset="-122"/>
                <a:cs typeface="Calibri" pitchFamily="34" charset="-120"/>
              </a:rPr>
              <a:t>Redeploys when data is edited by hand</a:t>
            </a:r>
            <a:endParaRPr lang="en-US" sz="1400" dirty="0"/>
          </a:p>
        </p:txBody>
      </p:sp>
      <p:sp>
        <p:nvSpPr>
          <p:cNvPr id="19" name="Shape 16"/>
          <p:cNvSpPr/>
          <p:nvPr/>
        </p:nvSpPr>
        <p:spPr>
          <a:xfrm>
            <a:off x="548640" y="5897880"/>
            <a:ext cx="11091672" cy="566928"/>
          </a:xfrm>
          <a:prstGeom prst="roundRect">
            <a:avLst>
              <a:gd name="adj" fmla="val 16129"/>
            </a:avLst>
          </a:prstGeom>
          <a:solidFill>
            <a:srgbClr val="FDF3E2"/>
          </a:solidFill>
          <a:ln w="9525">
            <a:solidFill>
              <a:srgbClr val="F3D9A8"/>
            </a:solidFill>
            <a:prstDash val="solid"/>
          </a:ln>
        </p:spPr>
      </p:sp>
      <p:sp>
        <p:nvSpPr>
          <p:cNvPr id="20" name="Text 17"/>
          <p:cNvSpPr txBox="1"/>
          <p:nvPr/>
        </p:nvSpPr>
        <p:spPr>
          <a:xfrm>
            <a:off x="777240" y="5897880"/>
            <a:ext cx="10698480" cy="566928"/>
          </a:xfrm>
          <a:prstGeom prst="rect">
            <a:avLst/>
          </a:prstGeom>
          <a:noFill/>
          <a:ln/>
        </p:spPr>
        <p:txBody>
          <a:bodyPr wrap="square" lIns="0" tIns="0" rIns="0" bIns="0" rtlCol="0" anchor="ctr"/>
          <a:lstStyle/>
          <a:p>
            <a:pPr indent="0" marL="0">
              <a:buNone/>
            </a:pPr>
            <a:r>
              <a:rPr lang="en-US" sz="1600" b="1" dirty="0">
                <a:solidFill>
                  <a:srgbClr val="8A5A12"/>
                </a:solidFill>
                <a:latin typeface="Calibri" pitchFamily="34" charset="0"/>
                <a:ea typeface="Calibri" pitchFamily="34" charset="-122"/>
                <a:cs typeface="Calibri" pitchFamily="34" charset="-120"/>
              </a:rPr>
              <a:t>Lesson: </a:t>
            </a:r>
            <a:pPr indent="0" marL="0">
              <a:buNone/>
            </a:pPr>
            <a:r>
              <a:rPr lang="en-US" sz="1600" dirty="0">
                <a:solidFill>
                  <a:srgbClr val="1A2230"/>
                </a:solidFill>
                <a:latin typeface="Calibri" pitchFamily="34" charset="0"/>
                <a:ea typeface="Calibri" pitchFamily="34" charset="-122"/>
                <a:cs typeface="Calibri" pitchFamily="34" charset="-120"/>
              </a:rPr>
              <a:t>Ask Claude to “make this run on a schedule with GitHub Actions.” The git history becomes a free audit log.</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438912"/>
            <a:ext cx="566928" cy="566928"/>
          </a:xfrm>
          <a:prstGeom prst="ellipse">
            <a:avLst/>
          </a:prstGeom>
          <a:solidFill>
            <a:srgbClr val="C8453B"/>
          </a:solidFill>
          <a:ln w="12700">
            <a:solidFill>
              <a:srgbClr val="C8453B"/>
            </a:solidFill>
            <a:prstDash val="solid"/>
          </a:ln>
        </p:spPr>
      </p:sp>
      <p:sp>
        <p:nvSpPr>
          <p:cNvPr id="3" name="Text 1"/>
          <p:cNvSpPr txBox="1"/>
          <p:nvPr/>
        </p:nvSpPr>
        <p:spPr>
          <a:xfrm>
            <a:off x="548640" y="438912"/>
            <a:ext cx="566928" cy="566928"/>
          </a:xfrm>
          <a:prstGeom prst="rect">
            <a:avLst/>
          </a:prstGeom>
          <a:noFill/>
          <a:ln/>
        </p:spPr>
        <p:txBody>
          <a:bodyPr wrap="square" lIns="0" tIns="0" rIns="0" bIns="0" rtlCol="0" anchor="ctr"/>
          <a:lstStyle/>
          <a:p>
            <a:pPr algn="ctr" indent="0" marL="0">
              <a:buNone/>
            </a:pPr>
            <a:r>
              <a:rPr lang="en-US" sz="1860" b="1" dirty="0">
                <a:solidFill>
                  <a:srgbClr val="FFFFFF"/>
                </a:solidFill>
                <a:latin typeface="Arial" pitchFamily="34" charset="0"/>
                <a:ea typeface="Arial" pitchFamily="34" charset="-122"/>
                <a:cs typeface="Arial" pitchFamily="34" charset="-120"/>
              </a:rPr>
              <a:t>3</a:t>
            </a:r>
            <a:endParaRPr lang="en-US" sz="1860" dirty="0"/>
          </a:p>
        </p:txBody>
      </p:sp>
      <p:sp>
        <p:nvSpPr>
          <p:cNvPr id="4" name="Text 2"/>
          <p:cNvSpPr txBox="1"/>
          <p:nvPr/>
        </p:nvSpPr>
        <p:spPr>
          <a:xfrm>
            <a:off x="1280160" y="365760"/>
            <a:ext cx="10058400" cy="731520"/>
          </a:xfrm>
          <a:prstGeom prst="rect">
            <a:avLst/>
          </a:prstGeom>
          <a:noFill/>
          <a:ln/>
        </p:spPr>
        <p:txBody>
          <a:bodyPr wrap="square" lIns="0" tIns="0" rIns="0" bIns="0" rtlCol="0" anchor="ctr"/>
          <a:lstStyle/>
          <a:p>
            <a:pPr indent="0" marL="0">
              <a:buNone/>
            </a:pPr>
            <a:r>
              <a:rPr lang="en-US" sz="3400" b="1" dirty="0">
                <a:solidFill>
                  <a:srgbClr val="0B2545"/>
                </a:solidFill>
                <a:latin typeface="Arial" pitchFamily="34" charset="0"/>
                <a:ea typeface="Arial" pitchFamily="34" charset="-122"/>
                <a:cs typeface="Arial" pitchFamily="34" charset="-120"/>
              </a:rPr>
              <a:t>Things will break. That's normal.</a:t>
            </a:r>
            <a:endParaRPr lang="en-US" sz="3400" dirty="0"/>
          </a:p>
        </p:txBody>
      </p:sp>
      <p:sp>
        <p:nvSpPr>
          <p:cNvPr id="5" name="Text 3"/>
          <p:cNvSpPr txBox="1"/>
          <p:nvPr/>
        </p:nvSpPr>
        <p:spPr>
          <a:xfrm>
            <a:off x="548640" y="1188720"/>
            <a:ext cx="10972800" cy="411480"/>
          </a:xfrm>
          <a:prstGeom prst="rect">
            <a:avLst/>
          </a:prstGeom>
          <a:noFill/>
          <a:ln/>
        </p:spPr>
        <p:txBody>
          <a:bodyPr wrap="square" lIns="0" tIns="0" rIns="0" bIns="0" rtlCol="0" anchor="ctr"/>
          <a:lstStyle/>
          <a:p>
            <a:pPr indent="0" marL="0">
              <a:buNone/>
            </a:pPr>
            <a:r>
              <a:rPr lang="en-US" sz="1700" i="1" dirty="0">
                <a:solidFill>
                  <a:srgbClr val="5B6678"/>
                </a:solidFill>
                <a:latin typeface="Calibri" pitchFamily="34" charset="0"/>
                <a:ea typeface="Calibri" pitchFamily="34" charset="-122"/>
                <a:cs typeface="Calibri" pitchFamily="34" charset="-120"/>
              </a:rPr>
              <a:t>Three real failures from the first three days, and how each was fixed</a:t>
            </a:r>
            <a:endParaRPr lang="en-US" sz="1700" dirty="0"/>
          </a:p>
        </p:txBody>
      </p:sp>
      <p:sp>
        <p:nvSpPr>
          <p:cNvPr id="6" name="Shape 4"/>
          <p:cNvSpPr/>
          <p:nvPr/>
        </p:nvSpPr>
        <p:spPr>
          <a:xfrm>
            <a:off x="548640" y="1828800"/>
            <a:ext cx="3520440" cy="3840480"/>
          </a:xfrm>
          <a:prstGeom prst="roundRect">
            <a:avLst>
              <a:gd name="adj" fmla="val 3117"/>
            </a:avLst>
          </a:prstGeom>
          <a:solidFill>
            <a:srgbClr val="FFFFFF"/>
          </a:solidFill>
          <a:ln w="9525">
            <a:solidFill>
              <a:srgbClr val="E1E6EE"/>
            </a:solidFill>
            <a:prstDash val="solid"/>
          </a:ln>
          <a:effectLst>
            <a:outerShdw sx="100000" sy="100000" kx="0" ky="0" algn="bl" rotWithShape="0" blurRad="101600" dist="25400" dir="5400000">
              <a:srgbClr val="000000">
                <a:alpha val="12000"/>
              </a:srgbClr>
            </a:outerShdw>
          </a:effectLst>
        </p:spPr>
      </p:sp>
      <p:sp>
        <p:nvSpPr>
          <p:cNvPr id="7" name="Shape 5"/>
          <p:cNvSpPr/>
          <p:nvPr/>
        </p:nvSpPr>
        <p:spPr>
          <a:xfrm>
            <a:off x="822960" y="2057400"/>
            <a:ext cx="640080" cy="640080"/>
          </a:xfrm>
          <a:prstGeom prst="ellipse">
            <a:avLst/>
          </a:prstGeom>
          <a:solidFill>
            <a:srgbClr val="F8E1DF"/>
          </a:solidFill>
          <a:ln w="12700">
            <a:solidFill>
              <a:srgbClr val="F8E1DF"/>
            </a:solidFill>
            <a:prstDash val="solid"/>
          </a:ln>
        </p:spPr>
      </p:sp>
      <p:pic>
        <p:nvPicPr>
          <p:cNvPr id="8" name="Image 0" descr="preencoded.png">    </p:cNvPr>
          <p:cNvPicPr>
            <a:picLocks noChangeAspect="1"/>
          </p:cNvPicPr>
          <p:nvPr/>
        </p:nvPicPr>
        <p:blipFill>
          <a:blip r:embed="rId1"/>
          <a:stretch>
            <a:fillRect/>
          </a:stretch>
        </p:blipFill>
        <p:spPr>
          <a:xfrm>
            <a:off x="976579" y="2211019"/>
            <a:ext cx="332842" cy="332842"/>
          </a:xfrm>
          <a:prstGeom prst="rect">
            <a:avLst/>
          </a:prstGeom>
        </p:spPr>
      </p:pic>
      <p:sp>
        <p:nvSpPr>
          <p:cNvPr id="9" name="Text 6"/>
          <p:cNvSpPr txBox="1"/>
          <p:nvPr/>
        </p:nvSpPr>
        <p:spPr>
          <a:xfrm>
            <a:off x="1600200" y="2057400"/>
            <a:ext cx="2377440" cy="640080"/>
          </a:xfrm>
          <a:prstGeom prst="rect">
            <a:avLst/>
          </a:prstGeom>
          <a:noFill/>
          <a:ln/>
        </p:spPr>
        <p:txBody>
          <a:bodyPr wrap="square" lIns="0" tIns="0" rIns="0" bIns="0" rtlCol="0" anchor="ctr"/>
          <a:lstStyle/>
          <a:p>
            <a:pPr indent="0" marL="0">
              <a:buNone/>
            </a:pPr>
            <a:r>
              <a:rPr lang="en-US" sz="1700" b="1" dirty="0">
                <a:solidFill>
                  <a:srgbClr val="0B2545"/>
                </a:solidFill>
                <a:latin typeface="Arial" pitchFamily="34" charset="0"/>
                <a:ea typeface="Arial" pitchFamily="34" charset="-122"/>
                <a:cs typeface="Arial" pitchFamily="34" charset="-120"/>
              </a:rPr>
              <a:t>Missing API key</a:t>
            </a:r>
            <a:endParaRPr lang="en-US" sz="1700" dirty="0"/>
          </a:p>
        </p:txBody>
      </p:sp>
      <p:sp>
        <p:nvSpPr>
          <p:cNvPr id="10" name="Text 7"/>
          <p:cNvSpPr txBox="1"/>
          <p:nvPr/>
        </p:nvSpPr>
        <p:spPr>
          <a:xfrm>
            <a:off x="822960" y="2834640"/>
            <a:ext cx="3017520" cy="1325880"/>
          </a:xfrm>
          <a:prstGeom prst="rect">
            <a:avLst/>
          </a:prstGeom>
          <a:noFill/>
          <a:ln/>
        </p:spPr>
        <p:txBody>
          <a:bodyPr wrap="square" lIns="0" tIns="0" rIns="0" bIns="0" rtlCol="0" anchor="t"/>
          <a:lstStyle/>
          <a:p>
            <a:pPr indent="0" marL="0">
              <a:buNone/>
            </a:pPr>
            <a:r>
              <a:rPr lang="en-US" sz="1350" dirty="0">
                <a:solidFill>
                  <a:srgbClr val="1A2230"/>
                </a:solidFill>
                <a:latin typeface="Calibri" pitchFamily="34" charset="0"/>
                <a:ea typeface="Calibri" pitchFamily="34" charset="-122"/>
                <a:cs typeface="Calibri" pitchFamily="34" charset="-120"/>
              </a:rPr>
              <a:t>The first daily run happened before the API key was set. Every article failed, and all 650 were wrongly marked “already seen.”</a:t>
            </a:r>
            <a:endParaRPr lang="en-US" sz="1350" dirty="0"/>
          </a:p>
        </p:txBody>
      </p:sp>
      <p:sp>
        <p:nvSpPr>
          <p:cNvPr id="11" name="Text 8"/>
          <p:cNvSpPr txBox="1"/>
          <p:nvPr/>
        </p:nvSpPr>
        <p:spPr>
          <a:xfrm>
            <a:off x="822960" y="4206240"/>
            <a:ext cx="3017520" cy="1325880"/>
          </a:xfrm>
          <a:prstGeom prst="rect">
            <a:avLst/>
          </a:prstGeom>
          <a:noFill/>
          <a:ln/>
        </p:spPr>
        <p:txBody>
          <a:bodyPr wrap="square" lIns="0" tIns="0" rIns="0" bIns="0" rtlCol="0" anchor="t"/>
          <a:lstStyle/>
          <a:p>
            <a:pPr indent="0" marL="0">
              <a:buNone/>
            </a:pPr>
            <a:r>
              <a:rPr lang="en-US" sz="1350" b="1" dirty="0">
                <a:solidFill>
                  <a:srgbClr val="2E8B57"/>
                </a:solidFill>
                <a:latin typeface="Calibri" pitchFamily="34" charset="0"/>
                <a:ea typeface="Calibri" pitchFamily="34" charset="-122"/>
                <a:cs typeface="Calibri" pitchFamily="34" charset="-120"/>
              </a:rPr>
              <a:t>Fix: </a:t>
            </a:r>
            <a:pPr indent="0" marL="0">
              <a:buNone/>
            </a:pPr>
            <a:r>
              <a:rPr lang="en-US" sz="1350" dirty="0">
                <a:solidFill>
                  <a:srgbClr val="5B6678"/>
                </a:solidFill>
                <a:latin typeface="Calibri" pitchFamily="34" charset="0"/>
                <a:ea typeface="Calibri" pitchFamily="34" charset="-122"/>
                <a:cs typeface="Calibri" pitchFamily="34" charset="-120"/>
              </a:rPr>
              <a:t>Reset the cache. New rule: never mark an item done if it errored; stop at once if the key is missing.</a:t>
            </a:r>
            <a:endParaRPr lang="en-US" sz="1350" dirty="0"/>
          </a:p>
        </p:txBody>
      </p:sp>
      <p:sp>
        <p:nvSpPr>
          <p:cNvPr id="12" name="Shape 9"/>
          <p:cNvSpPr/>
          <p:nvPr/>
        </p:nvSpPr>
        <p:spPr>
          <a:xfrm>
            <a:off x="4297680" y="1828800"/>
            <a:ext cx="3520440" cy="3840480"/>
          </a:xfrm>
          <a:prstGeom prst="roundRect">
            <a:avLst>
              <a:gd name="adj" fmla="val 3117"/>
            </a:avLst>
          </a:prstGeom>
          <a:solidFill>
            <a:srgbClr val="FFFFFF"/>
          </a:solidFill>
          <a:ln w="9525">
            <a:solidFill>
              <a:srgbClr val="E1E6EE"/>
            </a:solidFill>
            <a:prstDash val="solid"/>
          </a:ln>
          <a:effectLst>
            <a:outerShdw sx="100000" sy="100000" kx="0" ky="0" algn="bl" rotWithShape="0" blurRad="101600" dist="25400" dir="5400000">
              <a:srgbClr val="000000">
                <a:alpha val="12000"/>
              </a:srgbClr>
            </a:outerShdw>
          </a:effectLst>
        </p:spPr>
      </p:sp>
      <p:sp>
        <p:nvSpPr>
          <p:cNvPr id="13" name="Shape 10"/>
          <p:cNvSpPr/>
          <p:nvPr/>
        </p:nvSpPr>
        <p:spPr>
          <a:xfrm>
            <a:off x="4572000" y="2057400"/>
            <a:ext cx="640080" cy="640080"/>
          </a:xfrm>
          <a:prstGeom prst="ellipse">
            <a:avLst/>
          </a:prstGeom>
          <a:solidFill>
            <a:srgbClr val="F8E1DF"/>
          </a:solidFill>
          <a:ln w="12700">
            <a:solidFill>
              <a:srgbClr val="F8E1DF"/>
            </a:solidFill>
            <a:prstDash val="solid"/>
          </a:ln>
        </p:spPr>
      </p:sp>
      <p:pic>
        <p:nvPicPr>
          <p:cNvPr id="14" name="Image 1" descr="preencoded.png">    </p:cNvPr>
          <p:cNvPicPr>
            <a:picLocks noChangeAspect="1"/>
          </p:cNvPicPr>
          <p:nvPr/>
        </p:nvPicPr>
        <p:blipFill>
          <a:blip r:embed="rId2"/>
          <a:stretch>
            <a:fillRect/>
          </a:stretch>
        </p:blipFill>
        <p:spPr>
          <a:xfrm>
            <a:off x="4725619" y="2211019"/>
            <a:ext cx="332842" cy="332842"/>
          </a:xfrm>
          <a:prstGeom prst="rect">
            <a:avLst/>
          </a:prstGeom>
        </p:spPr>
      </p:pic>
      <p:sp>
        <p:nvSpPr>
          <p:cNvPr id="15" name="Text 11"/>
          <p:cNvSpPr txBox="1"/>
          <p:nvPr/>
        </p:nvSpPr>
        <p:spPr>
          <a:xfrm>
            <a:off x="5349240" y="2057400"/>
            <a:ext cx="2377440" cy="640080"/>
          </a:xfrm>
          <a:prstGeom prst="rect">
            <a:avLst/>
          </a:prstGeom>
          <a:noFill/>
          <a:ln/>
        </p:spPr>
        <p:txBody>
          <a:bodyPr wrap="square" lIns="0" tIns="0" rIns="0" bIns="0" rtlCol="0" anchor="ctr"/>
          <a:lstStyle/>
          <a:p>
            <a:pPr indent="0" marL="0">
              <a:buNone/>
            </a:pPr>
            <a:r>
              <a:rPr lang="en-US" sz="1700" b="1" dirty="0">
                <a:solidFill>
                  <a:srgbClr val="0B2545"/>
                </a:solidFill>
                <a:latin typeface="Arial" pitchFamily="34" charset="0"/>
                <a:ea typeface="Arial" pitchFamily="34" charset="-122"/>
                <a:cs typeface="Arial" pitchFamily="34" charset="-120"/>
              </a:rPr>
              <a:t>Blocked by a firewall</a:t>
            </a:r>
            <a:endParaRPr lang="en-US" sz="1700" dirty="0"/>
          </a:p>
        </p:txBody>
      </p:sp>
      <p:sp>
        <p:nvSpPr>
          <p:cNvPr id="16" name="Text 12"/>
          <p:cNvSpPr txBox="1"/>
          <p:nvPr/>
        </p:nvSpPr>
        <p:spPr>
          <a:xfrm>
            <a:off x="4572000" y="2834640"/>
            <a:ext cx="3017520" cy="1325880"/>
          </a:xfrm>
          <a:prstGeom prst="rect">
            <a:avLst/>
          </a:prstGeom>
          <a:noFill/>
          <a:ln/>
        </p:spPr>
        <p:txBody>
          <a:bodyPr wrap="square" lIns="0" tIns="0" rIns="0" bIns="0" rtlCol="0" anchor="t"/>
          <a:lstStyle/>
          <a:p>
            <a:pPr indent="0" marL="0">
              <a:buNone/>
            </a:pPr>
            <a:r>
              <a:rPr lang="en-US" sz="1350" dirty="0">
                <a:solidFill>
                  <a:srgbClr val="1A2230"/>
                </a:solidFill>
                <a:latin typeface="Calibri" pitchFamily="34" charset="0"/>
                <a:ea typeface="Calibri" pitchFamily="34" charset="-122"/>
                <a:cs typeface="Calibri" pitchFamily="34" charset="-120"/>
              </a:rPr>
              <a:t>The GDELT news API rejected requests that did not look like a web browser.</a:t>
            </a:r>
            <a:endParaRPr lang="en-US" sz="1350" dirty="0"/>
          </a:p>
        </p:txBody>
      </p:sp>
      <p:sp>
        <p:nvSpPr>
          <p:cNvPr id="17" name="Text 13"/>
          <p:cNvSpPr txBox="1"/>
          <p:nvPr/>
        </p:nvSpPr>
        <p:spPr>
          <a:xfrm>
            <a:off x="4572000" y="4206240"/>
            <a:ext cx="3017520" cy="1325880"/>
          </a:xfrm>
          <a:prstGeom prst="rect">
            <a:avLst/>
          </a:prstGeom>
          <a:noFill/>
          <a:ln/>
        </p:spPr>
        <p:txBody>
          <a:bodyPr wrap="square" lIns="0" tIns="0" rIns="0" bIns="0" rtlCol="0" anchor="t"/>
          <a:lstStyle/>
          <a:p>
            <a:pPr indent="0" marL="0">
              <a:buNone/>
            </a:pPr>
            <a:r>
              <a:rPr lang="en-US" sz="1350" b="1" dirty="0">
                <a:solidFill>
                  <a:srgbClr val="2E8B57"/>
                </a:solidFill>
                <a:latin typeface="Calibri" pitchFamily="34" charset="0"/>
                <a:ea typeface="Calibri" pitchFamily="34" charset="-122"/>
                <a:cs typeface="Calibri" pitchFamily="34" charset="-120"/>
              </a:rPr>
              <a:t>Fix: </a:t>
            </a:r>
            <a:pPr indent="0" marL="0">
              <a:buNone/>
            </a:pPr>
            <a:r>
              <a:rPr lang="en-US" sz="1350" dirty="0">
                <a:solidFill>
                  <a:srgbClr val="5B6678"/>
                </a:solidFill>
                <a:latin typeface="Calibri" pitchFamily="34" charset="0"/>
                <a:ea typeface="Calibri" pitchFamily="34" charset="-122"/>
                <a:cs typeface="Calibri" pitchFamily="34" charset="-120"/>
              </a:rPr>
              <a:t>Send a normal browser user-agent string.</a:t>
            </a:r>
            <a:endParaRPr lang="en-US" sz="1350" dirty="0"/>
          </a:p>
        </p:txBody>
      </p:sp>
      <p:sp>
        <p:nvSpPr>
          <p:cNvPr id="18" name="Shape 14"/>
          <p:cNvSpPr/>
          <p:nvPr/>
        </p:nvSpPr>
        <p:spPr>
          <a:xfrm>
            <a:off x="8046720" y="1828800"/>
            <a:ext cx="3520440" cy="3840480"/>
          </a:xfrm>
          <a:prstGeom prst="roundRect">
            <a:avLst>
              <a:gd name="adj" fmla="val 3117"/>
            </a:avLst>
          </a:prstGeom>
          <a:solidFill>
            <a:srgbClr val="FFFFFF"/>
          </a:solidFill>
          <a:ln w="9525">
            <a:solidFill>
              <a:srgbClr val="E1E6EE"/>
            </a:solidFill>
            <a:prstDash val="solid"/>
          </a:ln>
          <a:effectLst>
            <a:outerShdw sx="100000" sy="100000" kx="0" ky="0" algn="bl" rotWithShape="0" blurRad="101600" dist="25400" dir="5400000">
              <a:srgbClr val="000000">
                <a:alpha val="12000"/>
              </a:srgbClr>
            </a:outerShdw>
          </a:effectLst>
        </p:spPr>
      </p:sp>
      <p:sp>
        <p:nvSpPr>
          <p:cNvPr id="19" name="Shape 15"/>
          <p:cNvSpPr/>
          <p:nvPr/>
        </p:nvSpPr>
        <p:spPr>
          <a:xfrm>
            <a:off x="8321040" y="2057400"/>
            <a:ext cx="640080" cy="640080"/>
          </a:xfrm>
          <a:prstGeom prst="ellipse">
            <a:avLst/>
          </a:prstGeom>
          <a:solidFill>
            <a:srgbClr val="F8E1DF"/>
          </a:solidFill>
          <a:ln w="12700">
            <a:solidFill>
              <a:srgbClr val="F8E1DF"/>
            </a:solidFill>
            <a:prstDash val="solid"/>
          </a:ln>
        </p:spPr>
      </p:sp>
      <p:pic>
        <p:nvPicPr>
          <p:cNvPr id="20" name="Image 2" descr="preencoded.png">    </p:cNvPr>
          <p:cNvPicPr>
            <a:picLocks noChangeAspect="1"/>
          </p:cNvPicPr>
          <p:nvPr/>
        </p:nvPicPr>
        <p:blipFill>
          <a:blip r:embed="rId3"/>
          <a:stretch>
            <a:fillRect/>
          </a:stretch>
        </p:blipFill>
        <p:spPr>
          <a:xfrm>
            <a:off x="8474659" y="2211019"/>
            <a:ext cx="332842" cy="332842"/>
          </a:xfrm>
          <a:prstGeom prst="rect">
            <a:avLst/>
          </a:prstGeom>
        </p:spPr>
      </p:pic>
      <p:sp>
        <p:nvSpPr>
          <p:cNvPr id="21" name="Text 16"/>
          <p:cNvSpPr txBox="1"/>
          <p:nvPr/>
        </p:nvSpPr>
        <p:spPr>
          <a:xfrm>
            <a:off x="9098280" y="2057400"/>
            <a:ext cx="2377440" cy="640080"/>
          </a:xfrm>
          <a:prstGeom prst="rect">
            <a:avLst/>
          </a:prstGeom>
          <a:noFill/>
          <a:ln/>
        </p:spPr>
        <p:txBody>
          <a:bodyPr wrap="square" lIns="0" tIns="0" rIns="0" bIns="0" rtlCol="0" anchor="ctr"/>
          <a:lstStyle/>
          <a:p>
            <a:pPr indent="0" marL="0">
              <a:buNone/>
            </a:pPr>
            <a:r>
              <a:rPr lang="en-US" sz="1700" b="1" dirty="0">
                <a:solidFill>
                  <a:srgbClr val="0B2545"/>
                </a:solidFill>
                <a:latin typeface="Arial" pitchFamily="34" charset="0"/>
                <a:ea typeface="Arial" pitchFamily="34" charset="-122"/>
                <a:cs typeface="Arial" pitchFamily="34" charset="-120"/>
              </a:rPr>
              <a:t>Corrupted data file</a:t>
            </a:r>
            <a:endParaRPr lang="en-US" sz="1700" dirty="0"/>
          </a:p>
        </p:txBody>
      </p:sp>
      <p:sp>
        <p:nvSpPr>
          <p:cNvPr id="22" name="Text 17"/>
          <p:cNvSpPr txBox="1"/>
          <p:nvPr/>
        </p:nvSpPr>
        <p:spPr>
          <a:xfrm>
            <a:off x="8321040" y="2834640"/>
            <a:ext cx="3017520" cy="1325880"/>
          </a:xfrm>
          <a:prstGeom prst="rect">
            <a:avLst/>
          </a:prstGeom>
          <a:noFill/>
          <a:ln/>
        </p:spPr>
        <p:txBody>
          <a:bodyPr wrap="square" lIns="0" tIns="0" rIns="0" bIns="0" rtlCol="0" anchor="t"/>
          <a:lstStyle/>
          <a:p>
            <a:pPr indent="0" marL="0">
              <a:buNone/>
            </a:pPr>
            <a:r>
              <a:rPr lang="en-US" sz="1350" dirty="0">
                <a:solidFill>
                  <a:srgbClr val="1A2230"/>
                </a:solidFill>
                <a:latin typeface="Calibri" pitchFamily="34" charset="0"/>
                <a:ea typeface="Calibri" pitchFamily="34" charset="-122"/>
                <a:cs typeface="Calibri" pitchFamily="34" charset="-120"/>
              </a:rPr>
              <a:t>Two jobs edited the CSV at once. Git merge-conflict markers were saved into the database.</a:t>
            </a:r>
            <a:endParaRPr lang="en-US" sz="1350" dirty="0"/>
          </a:p>
        </p:txBody>
      </p:sp>
      <p:sp>
        <p:nvSpPr>
          <p:cNvPr id="23" name="Text 18"/>
          <p:cNvSpPr txBox="1"/>
          <p:nvPr/>
        </p:nvSpPr>
        <p:spPr>
          <a:xfrm>
            <a:off x="8321040" y="4206240"/>
            <a:ext cx="3017520" cy="1325880"/>
          </a:xfrm>
          <a:prstGeom prst="rect">
            <a:avLst/>
          </a:prstGeom>
          <a:noFill/>
          <a:ln/>
        </p:spPr>
        <p:txBody>
          <a:bodyPr wrap="square" lIns="0" tIns="0" rIns="0" bIns="0" rtlCol="0" anchor="t"/>
          <a:lstStyle/>
          <a:p>
            <a:pPr indent="0" marL="0">
              <a:buNone/>
            </a:pPr>
            <a:r>
              <a:rPr lang="en-US" sz="1350" b="1" dirty="0">
                <a:solidFill>
                  <a:srgbClr val="2E8B57"/>
                </a:solidFill>
                <a:latin typeface="Calibri" pitchFamily="34" charset="0"/>
                <a:ea typeface="Calibri" pitchFamily="34" charset="-122"/>
                <a:cs typeface="Calibri" pitchFamily="34" charset="-120"/>
              </a:rPr>
              <a:t>Fix: </a:t>
            </a:r>
            <a:pPr indent="0" marL="0">
              <a:buNone/>
            </a:pPr>
            <a:r>
              <a:rPr lang="en-US" sz="1350" dirty="0">
                <a:solidFill>
                  <a:srgbClr val="5B6678"/>
                </a:solidFill>
                <a:latin typeface="Calibri" pitchFamily="34" charset="0"/>
                <a:ea typeface="Calibri" pitchFamily="34" charset="-122"/>
                <a:cs typeface="Calibri" pitchFamily="34" charset="-120"/>
              </a:rPr>
              <a:t>Repair the file. Add validate_data.py, which checks the data before every commit.</a:t>
            </a:r>
            <a:endParaRPr lang="en-US" sz="1350" dirty="0"/>
          </a:p>
        </p:txBody>
      </p:sp>
      <p:sp>
        <p:nvSpPr>
          <p:cNvPr id="24" name="Shape 19"/>
          <p:cNvSpPr/>
          <p:nvPr/>
        </p:nvSpPr>
        <p:spPr>
          <a:xfrm>
            <a:off x="548640" y="5897880"/>
            <a:ext cx="11091672" cy="566928"/>
          </a:xfrm>
          <a:prstGeom prst="roundRect">
            <a:avLst>
              <a:gd name="adj" fmla="val 16129"/>
            </a:avLst>
          </a:prstGeom>
          <a:solidFill>
            <a:srgbClr val="FDF3E2"/>
          </a:solidFill>
          <a:ln w="9525">
            <a:solidFill>
              <a:srgbClr val="F3D9A8"/>
            </a:solidFill>
            <a:prstDash val="solid"/>
          </a:ln>
        </p:spPr>
      </p:sp>
      <p:sp>
        <p:nvSpPr>
          <p:cNvPr id="25" name="Text 20"/>
          <p:cNvSpPr txBox="1"/>
          <p:nvPr/>
        </p:nvSpPr>
        <p:spPr>
          <a:xfrm>
            <a:off x="777240" y="5897880"/>
            <a:ext cx="10698480" cy="566928"/>
          </a:xfrm>
          <a:prstGeom prst="rect">
            <a:avLst/>
          </a:prstGeom>
          <a:noFill/>
          <a:ln/>
        </p:spPr>
        <p:txBody>
          <a:bodyPr wrap="square" lIns="0" tIns="0" rIns="0" bIns="0" rtlCol="0" anchor="ctr"/>
          <a:lstStyle/>
          <a:p>
            <a:pPr indent="0" marL="0">
              <a:buNone/>
            </a:pPr>
            <a:r>
              <a:rPr lang="en-US" sz="1600" b="1" dirty="0">
                <a:solidFill>
                  <a:srgbClr val="8A5A12"/>
                </a:solidFill>
                <a:latin typeface="Calibri" pitchFamily="34" charset="0"/>
                <a:ea typeface="Calibri" pitchFamily="34" charset="-122"/>
                <a:cs typeface="Calibri" pitchFamily="34" charset="-120"/>
              </a:rPr>
              <a:t>Lesson: </a:t>
            </a:r>
            <a:pPr indent="0" marL="0">
              <a:buNone/>
            </a:pPr>
            <a:r>
              <a:rPr lang="en-US" sz="1600" dirty="0">
                <a:solidFill>
                  <a:srgbClr val="1A2230"/>
                </a:solidFill>
                <a:latin typeface="Calibri" pitchFamily="34" charset="0"/>
                <a:ea typeface="Calibri" pitchFamily="34" charset="-122"/>
                <a:cs typeface="Calibri" pitchFamily="34" charset="-120"/>
              </a:rPr>
              <a:t>Paste the error into Claude. Then ask for a guardrail so the same class of bug can't recur.</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438912"/>
            <a:ext cx="566928" cy="566928"/>
          </a:xfrm>
          <a:prstGeom prst="ellipse">
            <a:avLst/>
          </a:prstGeom>
          <a:solidFill>
            <a:srgbClr val="2A78D6"/>
          </a:solidFill>
          <a:ln w="12700">
            <a:solidFill>
              <a:srgbClr val="2A78D6"/>
            </a:solidFill>
            <a:prstDash val="solid"/>
          </a:ln>
        </p:spPr>
      </p:sp>
      <p:sp>
        <p:nvSpPr>
          <p:cNvPr id="3" name="Text 1"/>
          <p:cNvSpPr txBox="1"/>
          <p:nvPr/>
        </p:nvSpPr>
        <p:spPr>
          <a:xfrm>
            <a:off x="548640" y="438912"/>
            <a:ext cx="566928" cy="566928"/>
          </a:xfrm>
          <a:prstGeom prst="rect">
            <a:avLst/>
          </a:prstGeom>
          <a:noFill/>
          <a:ln/>
        </p:spPr>
        <p:txBody>
          <a:bodyPr wrap="square" lIns="0" tIns="0" rIns="0" bIns="0" rtlCol="0" anchor="ctr"/>
          <a:lstStyle/>
          <a:p>
            <a:pPr algn="ctr" indent="0" marL="0">
              <a:buNone/>
            </a:pPr>
            <a:r>
              <a:rPr lang="en-US" sz="1860" b="1" dirty="0">
                <a:solidFill>
                  <a:srgbClr val="FFFFFF"/>
                </a:solidFill>
                <a:latin typeface="Arial" pitchFamily="34" charset="0"/>
                <a:ea typeface="Arial" pitchFamily="34" charset="-122"/>
                <a:cs typeface="Arial" pitchFamily="34" charset="-120"/>
              </a:rPr>
              <a:t>4</a:t>
            </a:r>
            <a:endParaRPr lang="en-US" sz="1860" dirty="0"/>
          </a:p>
        </p:txBody>
      </p:sp>
      <p:sp>
        <p:nvSpPr>
          <p:cNvPr id="4" name="Text 2"/>
          <p:cNvSpPr txBox="1"/>
          <p:nvPr/>
        </p:nvSpPr>
        <p:spPr>
          <a:xfrm>
            <a:off x="1280160" y="365760"/>
            <a:ext cx="10058400" cy="731520"/>
          </a:xfrm>
          <a:prstGeom prst="rect">
            <a:avLst/>
          </a:prstGeom>
          <a:noFill/>
          <a:ln/>
        </p:spPr>
        <p:txBody>
          <a:bodyPr wrap="square" lIns="0" tIns="0" rIns="0" bIns="0" rtlCol="0" anchor="ctr"/>
          <a:lstStyle/>
          <a:p>
            <a:pPr indent="0" marL="0">
              <a:buNone/>
            </a:pPr>
            <a:r>
              <a:rPr lang="en-US" sz="3400" b="1" dirty="0">
                <a:solidFill>
                  <a:srgbClr val="0B2545"/>
                </a:solidFill>
                <a:latin typeface="Arial" pitchFamily="34" charset="0"/>
                <a:ea typeface="Arial" pitchFamily="34" charset="-122"/>
                <a:cs typeface="Arial" pitchFamily="34" charset="-120"/>
              </a:rPr>
              <a:t>Improve the design in small requests</a:t>
            </a:r>
            <a:endParaRPr lang="en-US" sz="3400" dirty="0"/>
          </a:p>
        </p:txBody>
      </p:sp>
      <p:sp>
        <p:nvSpPr>
          <p:cNvPr id="5" name="Text 3"/>
          <p:cNvSpPr txBox="1"/>
          <p:nvPr/>
        </p:nvSpPr>
        <p:spPr>
          <a:xfrm>
            <a:off x="548640" y="1188720"/>
            <a:ext cx="10972800" cy="411480"/>
          </a:xfrm>
          <a:prstGeom prst="rect">
            <a:avLst/>
          </a:prstGeom>
          <a:noFill/>
          <a:ln/>
        </p:spPr>
        <p:txBody>
          <a:bodyPr wrap="square" lIns="0" tIns="0" rIns="0" bIns="0" rtlCol="0" anchor="ctr"/>
          <a:lstStyle/>
          <a:p>
            <a:pPr indent="0" marL="0">
              <a:buNone/>
            </a:pPr>
            <a:r>
              <a:rPr lang="en-US" sz="1700" i="1" dirty="0">
                <a:solidFill>
                  <a:srgbClr val="5B6678"/>
                </a:solidFill>
                <a:latin typeface="Calibri" pitchFamily="34" charset="0"/>
                <a:ea typeface="Calibri" pitchFamily="34" charset="-122"/>
                <a:cs typeface="Calibri" pitchFamily="34" charset="-120"/>
              </a:rPr>
              <a:t>Most of the site's look was built in about 20 small commits over Aug 14–15</a:t>
            </a:r>
            <a:endParaRPr lang="en-US" sz="1700" dirty="0"/>
          </a:p>
        </p:txBody>
      </p:sp>
      <p:pic>
        <p:nvPicPr>
          <p:cNvPr id="6" name="Image 0" descr="preencoded.png">    </p:cNvPr>
          <p:cNvPicPr>
            <a:picLocks noChangeAspect="1"/>
          </p:cNvPicPr>
          <p:nvPr/>
        </p:nvPicPr>
        <p:blipFill>
          <a:blip r:embed="rId1"/>
          <a:stretch>
            <a:fillRect/>
          </a:stretch>
        </p:blipFill>
        <p:spPr>
          <a:xfrm>
            <a:off x="548640" y="1828800"/>
            <a:ext cx="5760720" cy="3291840"/>
          </a:xfrm>
          <a:prstGeom prst="rect">
            <a:avLst/>
          </a:prstGeom>
          <a:effectLst>
            <a:outerShdw sx="100000" sy="100000" kx="0" ky="0" algn="bl" rotWithShape="0" blurRad="101600" dist="25400" dir="5400000">
              <a:srgbClr val="000000">
                <a:alpha val="12000"/>
              </a:srgbClr>
            </a:outerShdw>
          </a:effectLst>
        </p:spPr>
      </p:pic>
      <p:sp>
        <p:nvSpPr>
          <p:cNvPr id="7" name="Text 4"/>
          <p:cNvSpPr txBox="1"/>
          <p:nvPr/>
        </p:nvSpPr>
        <p:spPr>
          <a:xfrm>
            <a:off x="6675120" y="1828800"/>
            <a:ext cx="4937760" cy="329184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rgbClr val="1A2230"/>
                </a:solidFill>
                <a:latin typeface="Calibri" pitchFamily="34" charset="0"/>
                <a:ea typeface="Calibri" pitchFamily="34" charset="-122"/>
                <a:cs typeface="Calibri" pitchFamily="34" charset="-120"/>
              </a:rPr>
              <a:t>Add navigation, sortable columns, and shareable filter links</a:t>
            </a:r>
            <a:endParaRPr lang="en-US" sz="1600" dirty="0"/>
          </a:p>
          <a:p>
            <a:pPr marL="342900" indent="-342900">
              <a:spcAft>
                <a:spcPts val="900"/>
              </a:spcAft>
              <a:buSzPct val="100000"/>
              <a:buChar char="•"/>
            </a:pPr>
            <a:r>
              <a:rPr lang="en-US" sz="1600" dirty="0">
                <a:solidFill>
                  <a:srgbClr val="1A2230"/>
                </a:solidFill>
                <a:latin typeface="Calibri" pitchFamily="34" charset="0"/>
                <a:ea typeface="Calibri" pitchFamily="34" charset="-122"/>
                <a:cs typeface="Calibri" pitchFamily="34" charset="-120"/>
              </a:rPr>
              <a:t>Swap the amber accent for blue that passes contrast checks</a:t>
            </a:r>
            <a:endParaRPr lang="en-US" sz="1600" dirty="0"/>
          </a:p>
          <a:p>
            <a:pPr marL="342900" indent="-342900">
              <a:spcAft>
                <a:spcPts val="900"/>
              </a:spcAft>
              <a:buSzPct val="100000"/>
              <a:buChar char="•"/>
            </a:pPr>
            <a:r>
              <a:rPr lang="en-US" sz="1600" dirty="0">
                <a:solidFill>
                  <a:srgbClr val="1A2230"/>
                </a:solidFill>
                <a:latin typeface="Calibri" pitchFamily="34" charset="0"/>
                <a:ea typeface="Calibri" pitchFamily="34" charset="-122"/>
                <a:cs typeface="Calibri" pitchFamily="34" charset="-120"/>
              </a:rPr>
              <a:t>Add a clickable state map and crime-type tiles</a:t>
            </a:r>
            <a:endParaRPr lang="en-US" sz="1600" dirty="0"/>
          </a:p>
          <a:p>
            <a:pPr marL="342900" indent="-342900">
              <a:spcAft>
                <a:spcPts val="900"/>
              </a:spcAft>
              <a:buSzPct val="100000"/>
              <a:buChar char="•"/>
            </a:pPr>
            <a:r>
              <a:rPr lang="en-US" sz="1600" dirty="0">
                <a:solidFill>
                  <a:srgbClr val="1A2230"/>
                </a:solidFill>
                <a:latin typeface="Calibri" pitchFamily="34" charset="0"/>
                <a:ea typeface="Calibri" pitchFamily="34" charset="-122"/>
                <a:cs typeface="Calibri" pitchFamily="34" charset="-120"/>
              </a:rPr>
              <a:t>Stack the charts neatly on phones</a:t>
            </a:r>
            <a:endParaRPr lang="en-US" sz="1600" dirty="0"/>
          </a:p>
          <a:p>
            <a:pPr marL="342900" indent="-342900">
              <a:spcAft>
                <a:spcPts val="900"/>
              </a:spcAft>
              <a:buSzPct val="100000"/>
              <a:buChar char="•"/>
            </a:pPr>
            <a:r>
              <a:rPr lang="en-US" sz="1600" dirty="0">
                <a:solidFill>
                  <a:srgbClr val="1A2230"/>
                </a:solidFill>
                <a:latin typeface="Calibri" pitchFamily="34" charset="0"/>
                <a:ea typeface="Calibri" pitchFamily="34" charset="-122"/>
                <a:cs typeface="Calibri" pitchFamily="34" charset="-120"/>
              </a:rPr>
              <a:t>Make link previews show today's stats</a:t>
            </a:r>
            <a:endParaRPr lang="en-US" sz="1600" dirty="0"/>
          </a:p>
          <a:p>
            <a:pPr marL="342900" indent="-342900">
              <a:spcAft>
                <a:spcPts val="900"/>
              </a:spcAft>
              <a:buSzPct val="100000"/>
              <a:buChar char="•"/>
            </a:pPr>
            <a:r>
              <a:rPr lang="en-US" sz="1600" dirty="0">
                <a:solidFill>
                  <a:srgbClr val="1A2230"/>
                </a:solidFill>
                <a:latin typeface="Calibri" pitchFamily="34" charset="0"/>
                <a:ea typeface="Calibri" pitchFamily="34" charset="-122"/>
                <a:cs typeface="Calibri" pitchFamily="34" charset="-120"/>
              </a:rPr>
              <a:t>Show thousands separators on every number</a:t>
            </a:r>
            <a:endParaRPr lang="en-US" sz="1600" dirty="0"/>
          </a:p>
        </p:txBody>
      </p:sp>
      <p:sp>
        <p:nvSpPr>
          <p:cNvPr id="8" name="Shape 5"/>
          <p:cNvSpPr/>
          <p:nvPr/>
        </p:nvSpPr>
        <p:spPr>
          <a:xfrm>
            <a:off x="548640" y="5897880"/>
            <a:ext cx="11091672" cy="566928"/>
          </a:xfrm>
          <a:prstGeom prst="roundRect">
            <a:avLst>
              <a:gd name="adj" fmla="val 16129"/>
            </a:avLst>
          </a:prstGeom>
          <a:solidFill>
            <a:srgbClr val="FDF3E2"/>
          </a:solidFill>
          <a:ln w="9525">
            <a:solidFill>
              <a:srgbClr val="F3D9A8"/>
            </a:solidFill>
            <a:prstDash val="solid"/>
          </a:ln>
        </p:spPr>
      </p:sp>
      <p:sp>
        <p:nvSpPr>
          <p:cNvPr id="9" name="Text 6"/>
          <p:cNvSpPr txBox="1"/>
          <p:nvPr/>
        </p:nvSpPr>
        <p:spPr>
          <a:xfrm>
            <a:off x="777240" y="5897880"/>
            <a:ext cx="10698480" cy="566928"/>
          </a:xfrm>
          <a:prstGeom prst="rect">
            <a:avLst/>
          </a:prstGeom>
          <a:noFill/>
          <a:ln/>
        </p:spPr>
        <p:txBody>
          <a:bodyPr wrap="square" lIns="0" tIns="0" rIns="0" bIns="0" rtlCol="0" anchor="ctr"/>
          <a:lstStyle/>
          <a:p>
            <a:pPr indent="0" marL="0">
              <a:buNone/>
            </a:pPr>
            <a:r>
              <a:rPr lang="en-US" sz="1600" b="1" dirty="0">
                <a:solidFill>
                  <a:srgbClr val="8A5A12"/>
                </a:solidFill>
                <a:latin typeface="Calibri" pitchFamily="34" charset="0"/>
                <a:ea typeface="Calibri" pitchFamily="34" charset="-122"/>
                <a:cs typeface="Calibri" pitchFamily="34" charset="-120"/>
              </a:rPr>
              <a:t>Lesson: </a:t>
            </a:r>
            <a:pPr indent="0" marL="0">
              <a:buNone/>
            </a:pPr>
            <a:r>
              <a:rPr lang="en-US" sz="1600" dirty="0">
                <a:solidFill>
                  <a:srgbClr val="1A2230"/>
                </a:solidFill>
                <a:latin typeface="Calibri" pitchFamily="34" charset="0"/>
                <a:ea typeface="Calibri" pitchFamily="34" charset="-122"/>
                <a:cs typeface="Calibri" pitchFamily="34" charset="-120"/>
              </a:rPr>
              <a:t>One change per request. Look at the result in a browser. React. Repeat.</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438912"/>
            <a:ext cx="566928" cy="566928"/>
          </a:xfrm>
          <a:prstGeom prst="ellipse">
            <a:avLst/>
          </a:prstGeom>
          <a:solidFill>
            <a:srgbClr val="2A78D6"/>
          </a:solidFill>
          <a:ln w="12700">
            <a:solidFill>
              <a:srgbClr val="2A78D6"/>
            </a:solidFill>
            <a:prstDash val="solid"/>
          </a:ln>
        </p:spPr>
      </p:sp>
      <p:sp>
        <p:nvSpPr>
          <p:cNvPr id="3" name="Text 1"/>
          <p:cNvSpPr txBox="1"/>
          <p:nvPr/>
        </p:nvSpPr>
        <p:spPr>
          <a:xfrm>
            <a:off x="548640" y="438912"/>
            <a:ext cx="566928" cy="566928"/>
          </a:xfrm>
          <a:prstGeom prst="rect">
            <a:avLst/>
          </a:prstGeom>
          <a:noFill/>
          <a:ln/>
        </p:spPr>
        <p:txBody>
          <a:bodyPr wrap="square" lIns="0" tIns="0" rIns="0" bIns="0" rtlCol="0" anchor="ctr"/>
          <a:lstStyle/>
          <a:p>
            <a:pPr algn="ctr" indent="0" marL="0">
              <a:buNone/>
            </a:pPr>
            <a:r>
              <a:rPr lang="en-US" sz="1860" b="1" dirty="0">
                <a:solidFill>
                  <a:srgbClr val="FFFFFF"/>
                </a:solidFill>
                <a:latin typeface="Arial" pitchFamily="34" charset="0"/>
                <a:ea typeface="Arial" pitchFamily="34" charset="-122"/>
                <a:cs typeface="Arial" pitchFamily="34" charset="-120"/>
              </a:rPr>
              <a:t>5</a:t>
            </a:r>
            <a:endParaRPr lang="en-US" sz="1860" dirty="0"/>
          </a:p>
        </p:txBody>
      </p:sp>
      <p:sp>
        <p:nvSpPr>
          <p:cNvPr id="4" name="Text 2"/>
          <p:cNvSpPr txBox="1"/>
          <p:nvPr/>
        </p:nvSpPr>
        <p:spPr>
          <a:xfrm>
            <a:off x="1280160" y="365760"/>
            <a:ext cx="10058400" cy="731520"/>
          </a:xfrm>
          <a:prstGeom prst="rect">
            <a:avLst/>
          </a:prstGeom>
          <a:noFill/>
          <a:ln/>
        </p:spPr>
        <p:txBody>
          <a:bodyPr wrap="square" lIns="0" tIns="0" rIns="0" bIns="0" rtlCol="0" anchor="ctr"/>
          <a:lstStyle/>
          <a:p>
            <a:pPr indent="0" marL="0">
              <a:buNone/>
            </a:pPr>
            <a:r>
              <a:rPr lang="en-US" sz="3400" b="1" dirty="0">
                <a:solidFill>
                  <a:srgbClr val="0B2545"/>
                </a:solidFill>
                <a:latin typeface="Arial" pitchFamily="34" charset="0"/>
                <a:ea typeface="Arial" pitchFamily="34" charset="-122"/>
                <a:cs typeface="Arial" pitchFamily="34" charset="-120"/>
              </a:rPr>
              <a:t>Make Claude check its own work</a:t>
            </a:r>
            <a:endParaRPr lang="en-US" sz="3400" dirty="0"/>
          </a:p>
        </p:txBody>
      </p:sp>
      <p:sp>
        <p:nvSpPr>
          <p:cNvPr id="5" name="Text 3"/>
          <p:cNvSpPr txBox="1"/>
          <p:nvPr/>
        </p:nvSpPr>
        <p:spPr>
          <a:xfrm>
            <a:off x="548640" y="1188720"/>
            <a:ext cx="10972800" cy="411480"/>
          </a:xfrm>
          <a:prstGeom prst="rect">
            <a:avLst/>
          </a:prstGeom>
          <a:noFill/>
          <a:ln/>
        </p:spPr>
        <p:txBody>
          <a:bodyPr wrap="square" lIns="0" tIns="0" rIns="0" bIns="0" rtlCol="0" anchor="ctr"/>
          <a:lstStyle/>
          <a:p>
            <a:pPr indent="0" marL="0">
              <a:buNone/>
            </a:pPr>
            <a:r>
              <a:rPr lang="en-US" sz="1700" i="1" dirty="0">
                <a:solidFill>
                  <a:srgbClr val="5B6678"/>
                </a:solidFill>
                <a:latin typeface="Calibri" pitchFamily="34" charset="0"/>
                <a:ea typeface="Calibri" pitchFamily="34" charset="-122"/>
                <a:cs typeface="Calibri" pitchFamily="34" charset="-120"/>
              </a:rPr>
              <a:t>“Adversarial reviews”: fresh Claude instances told to break the database, not defend it</a:t>
            </a:r>
            <a:endParaRPr lang="en-US" sz="1700" dirty="0"/>
          </a:p>
        </p:txBody>
      </p:sp>
      <p:graphicFrame>
        <p:nvGraphicFramePr>
          <p:cNvPr id="6" name="Chart 0" descr=""/>
          <p:cNvGraphicFramePr/>
          <p:nvPr/>
        </p:nvGraphicFramePr>
        <p:xfrm>
          <a:off x="548640" y="1783080"/>
          <a:ext cx="6766560" cy="39319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589520" y="1828800"/>
            <a:ext cx="4050792" cy="1115568"/>
          </a:xfrm>
          <a:prstGeom prst="roundRect">
            <a:avLst>
              <a:gd name="adj" fmla="val 9836"/>
            </a:avLst>
          </a:prstGeom>
          <a:solidFill>
            <a:srgbClr val="FFFFFF"/>
          </a:solidFill>
          <a:ln w="9525">
            <a:solidFill>
              <a:srgbClr val="E1E6EE"/>
            </a:solidFill>
            <a:prstDash val="solid"/>
          </a:ln>
          <a:effectLst>
            <a:outerShdw sx="100000" sy="100000" kx="0" ky="0" algn="bl" rotWithShape="0" blurRad="101600" dist="25400" dir="5400000">
              <a:srgbClr val="000000">
                <a:alpha val="12000"/>
              </a:srgbClr>
            </a:outerShdw>
          </a:effectLst>
        </p:spPr>
      </p:sp>
      <p:sp>
        <p:nvSpPr>
          <p:cNvPr id="8" name="Text 5"/>
          <p:cNvSpPr txBox="1"/>
          <p:nvPr/>
        </p:nvSpPr>
        <p:spPr>
          <a:xfrm>
            <a:off x="7772400" y="1938528"/>
            <a:ext cx="3657600" cy="320040"/>
          </a:xfrm>
          <a:prstGeom prst="rect">
            <a:avLst/>
          </a:prstGeom>
          <a:noFill/>
          <a:ln/>
        </p:spPr>
        <p:txBody>
          <a:bodyPr wrap="square" lIns="0" tIns="0" rIns="0" bIns="0" rtlCol="0" anchor="ctr"/>
          <a:lstStyle/>
          <a:p>
            <a:pPr indent="0" marL="0">
              <a:buNone/>
            </a:pPr>
            <a:r>
              <a:rPr lang="en-US" sz="1500" b="1" dirty="0">
                <a:solidFill>
                  <a:srgbClr val="2A78D6"/>
                </a:solidFill>
                <a:latin typeface="Arial" pitchFamily="34" charset="0"/>
                <a:ea typeface="Arial" pitchFamily="34" charset="-122"/>
                <a:cs typeface="Arial" pitchFamily="34" charset="-120"/>
              </a:rPr>
              <a:t>Removed</a:t>
            </a:r>
            <a:endParaRPr lang="en-US" sz="1500" dirty="0"/>
          </a:p>
        </p:txBody>
      </p:sp>
      <p:sp>
        <p:nvSpPr>
          <p:cNvPr id="9" name="Text 6"/>
          <p:cNvSpPr txBox="1"/>
          <p:nvPr/>
        </p:nvSpPr>
        <p:spPr>
          <a:xfrm>
            <a:off x="7772400" y="2258568"/>
            <a:ext cx="3657600" cy="640080"/>
          </a:xfrm>
          <a:prstGeom prst="rect">
            <a:avLst/>
          </a:prstGeom>
          <a:noFill/>
          <a:ln/>
        </p:spPr>
        <p:txBody>
          <a:bodyPr wrap="square" lIns="0" tIns="0" rIns="0" bIns="0" rtlCol="0" anchor="t"/>
          <a:lstStyle/>
          <a:p>
            <a:pPr indent="0" marL="0">
              <a:buNone/>
            </a:pPr>
            <a:r>
              <a:rPr lang="en-US" sz="1300" dirty="0">
                <a:solidFill>
                  <a:srgbClr val="1A2230"/>
                </a:solidFill>
                <a:latin typeface="Calibri" pitchFamily="34" charset="0"/>
                <a:ea typeface="Calibri" pitchFamily="34" charset="-122"/>
                <a:cs typeface="Calibri" pitchFamily="34" charset="-120"/>
              </a:rPr>
              <a:t>Vendor press releases, missing-person cases with no crime, unresolved cases</a:t>
            </a:r>
            <a:endParaRPr lang="en-US" sz="1300" dirty="0"/>
          </a:p>
        </p:txBody>
      </p:sp>
      <p:sp>
        <p:nvSpPr>
          <p:cNvPr id="10" name="Shape 7"/>
          <p:cNvSpPr/>
          <p:nvPr/>
        </p:nvSpPr>
        <p:spPr>
          <a:xfrm>
            <a:off x="7589520" y="3108960"/>
            <a:ext cx="4050792" cy="1115568"/>
          </a:xfrm>
          <a:prstGeom prst="roundRect">
            <a:avLst>
              <a:gd name="adj" fmla="val 9836"/>
            </a:avLst>
          </a:prstGeom>
          <a:solidFill>
            <a:srgbClr val="FFFFFF"/>
          </a:solidFill>
          <a:ln w="9525">
            <a:solidFill>
              <a:srgbClr val="E1E6EE"/>
            </a:solidFill>
            <a:prstDash val="solid"/>
          </a:ln>
          <a:effectLst>
            <a:outerShdw sx="100000" sy="100000" kx="0" ky="0" algn="bl" rotWithShape="0" blurRad="101600" dist="25400" dir="5400000">
              <a:srgbClr val="000000">
                <a:alpha val="12000"/>
              </a:srgbClr>
            </a:outerShdw>
          </a:effectLst>
        </p:spPr>
      </p:sp>
      <p:sp>
        <p:nvSpPr>
          <p:cNvPr id="11" name="Text 8"/>
          <p:cNvSpPr txBox="1"/>
          <p:nvPr/>
        </p:nvSpPr>
        <p:spPr>
          <a:xfrm>
            <a:off x="7772400" y="3218688"/>
            <a:ext cx="3657600" cy="320040"/>
          </a:xfrm>
          <a:prstGeom prst="rect">
            <a:avLst/>
          </a:prstGeom>
          <a:noFill/>
          <a:ln/>
        </p:spPr>
        <p:txBody>
          <a:bodyPr wrap="square" lIns="0" tIns="0" rIns="0" bIns="0" rtlCol="0" anchor="ctr"/>
          <a:lstStyle/>
          <a:p>
            <a:pPr indent="0" marL="0">
              <a:buNone/>
            </a:pPr>
            <a:r>
              <a:rPr lang="en-US" sz="1500" b="1" dirty="0">
                <a:solidFill>
                  <a:srgbClr val="2A78D6"/>
                </a:solidFill>
                <a:latin typeface="Arial" pitchFamily="34" charset="0"/>
                <a:ea typeface="Arial" pitchFamily="34" charset="-122"/>
                <a:cs typeface="Arial" pitchFamily="34" charset="-120"/>
              </a:rPr>
              <a:t>Merged</a:t>
            </a:r>
            <a:endParaRPr lang="en-US" sz="1500" dirty="0"/>
          </a:p>
        </p:txBody>
      </p:sp>
      <p:sp>
        <p:nvSpPr>
          <p:cNvPr id="12" name="Text 9"/>
          <p:cNvSpPr txBox="1"/>
          <p:nvPr/>
        </p:nvSpPr>
        <p:spPr>
          <a:xfrm>
            <a:off x="7772400" y="3538728"/>
            <a:ext cx="3657600" cy="640080"/>
          </a:xfrm>
          <a:prstGeom prst="rect">
            <a:avLst/>
          </a:prstGeom>
          <a:noFill/>
          <a:ln/>
        </p:spPr>
        <p:txBody>
          <a:bodyPr wrap="square" lIns="0" tIns="0" rIns="0" bIns="0" rtlCol="0" anchor="t"/>
          <a:lstStyle/>
          <a:p>
            <a:pPr indent="0" marL="0">
              <a:buNone/>
            </a:pPr>
            <a:r>
              <a:rPr lang="en-US" sz="1300" dirty="0">
                <a:solidFill>
                  <a:srgbClr val="1A2230"/>
                </a:solidFill>
                <a:latin typeface="Calibri" pitchFamily="34" charset="0"/>
                <a:ea typeface="Calibri" pitchFamily="34" charset="-122"/>
                <a:cs typeface="Calibri" pitchFamily="34" charset="-120"/>
              </a:rPr>
              <a:t>Duplicates. One Ohio car chase appeared 8 times via syndication</a:t>
            </a:r>
            <a:endParaRPr lang="en-US" sz="1300" dirty="0"/>
          </a:p>
        </p:txBody>
      </p:sp>
      <p:sp>
        <p:nvSpPr>
          <p:cNvPr id="13" name="Shape 10"/>
          <p:cNvSpPr/>
          <p:nvPr/>
        </p:nvSpPr>
        <p:spPr>
          <a:xfrm>
            <a:off x="7589520" y="4389120"/>
            <a:ext cx="4050792" cy="1115568"/>
          </a:xfrm>
          <a:prstGeom prst="roundRect">
            <a:avLst>
              <a:gd name="adj" fmla="val 9836"/>
            </a:avLst>
          </a:prstGeom>
          <a:solidFill>
            <a:srgbClr val="FFFFFF"/>
          </a:solidFill>
          <a:ln w="9525">
            <a:solidFill>
              <a:srgbClr val="E1E6EE"/>
            </a:solidFill>
            <a:prstDash val="solid"/>
          </a:ln>
          <a:effectLst>
            <a:outerShdw sx="100000" sy="100000" kx="0" ky="0" algn="bl" rotWithShape="0" blurRad="101600" dist="25400" dir="5400000">
              <a:srgbClr val="000000">
                <a:alpha val="12000"/>
              </a:srgbClr>
            </a:outerShdw>
          </a:effectLst>
        </p:spPr>
      </p:sp>
      <p:sp>
        <p:nvSpPr>
          <p:cNvPr id="14" name="Text 11"/>
          <p:cNvSpPr txBox="1"/>
          <p:nvPr/>
        </p:nvSpPr>
        <p:spPr>
          <a:xfrm>
            <a:off x="7772400" y="4498848"/>
            <a:ext cx="3657600" cy="320040"/>
          </a:xfrm>
          <a:prstGeom prst="rect">
            <a:avLst/>
          </a:prstGeom>
          <a:noFill/>
          <a:ln/>
        </p:spPr>
        <p:txBody>
          <a:bodyPr wrap="square" lIns="0" tIns="0" rIns="0" bIns="0" rtlCol="0" anchor="ctr"/>
          <a:lstStyle/>
          <a:p>
            <a:pPr indent="0" marL="0">
              <a:buNone/>
            </a:pPr>
            <a:r>
              <a:rPr lang="en-US" sz="1500" b="1" dirty="0">
                <a:solidFill>
                  <a:srgbClr val="2A78D6"/>
                </a:solidFill>
                <a:latin typeface="Arial" pitchFamily="34" charset="0"/>
                <a:ea typeface="Arial" pitchFamily="34" charset="-122"/>
                <a:cs typeface="Arial" pitchFamily="34" charset="-120"/>
              </a:rPr>
              <a:t>Restored</a:t>
            </a:r>
            <a:endParaRPr lang="en-US" sz="1500" dirty="0"/>
          </a:p>
        </p:txBody>
      </p:sp>
      <p:sp>
        <p:nvSpPr>
          <p:cNvPr id="15" name="Text 12"/>
          <p:cNvSpPr txBox="1"/>
          <p:nvPr/>
        </p:nvSpPr>
        <p:spPr>
          <a:xfrm>
            <a:off x="7772400" y="4818888"/>
            <a:ext cx="3657600" cy="640080"/>
          </a:xfrm>
          <a:prstGeom prst="rect">
            <a:avLst/>
          </a:prstGeom>
          <a:noFill/>
          <a:ln/>
        </p:spPr>
        <p:txBody>
          <a:bodyPr wrap="square" lIns="0" tIns="0" rIns="0" bIns="0" rtlCol="0" anchor="t"/>
          <a:lstStyle/>
          <a:p>
            <a:pPr indent="0" marL="0">
              <a:buNone/>
            </a:pPr>
            <a:r>
              <a:rPr lang="en-US" sz="1300" dirty="0">
                <a:solidFill>
                  <a:srgbClr val="1A2230"/>
                </a:solidFill>
                <a:latin typeface="Calibri" pitchFamily="34" charset="0"/>
                <a:ea typeface="Calibri" pitchFamily="34" charset="-122"/>
                <a:cs typeface="Calibri" pitchFamily="34" charset="-120"/>
              </a:rPr>
              <a:t>17 good stories wrongly rejected because the article text was hidden behind JavaScript</a:t>
            </a:r>
            <a:endParaRPr lang="en-US" sz="1300" dirty="0"/>
          </a:p>
        </p:txBody>
      </p:sp>
      <p:sp>
        <p:nvSpPr>
          <p:cNvPr id="16" name="Shape 13"/>
          <p:cNvSpPr/>
          <p:nvPr/>
        </p:nvSpPr>
        <p:spPr>
          <a:xfrm>
            <a:off x="548640" y="5897880"/>
            <a:ext cx="11091672" cy="566928"/>
          </a:xfrm>
          <a:prstGeom prst="roundRect">
            <a:avLst>
              <a:gd name="adj" fmla="val 16129"/>
            </a:avLst>
          </a:prstGeom>
          <a:solidFill>
            <a:srgbClr val="FDF3E2"/>
          </a:solidFill>
          <a:ln w="9525">
            <a:solidFill>
              <a:srgbClr val="F3D9A8"/>
            </a:solidFill>
            <a:prstDash val="solid"/>
          </a:ln>
        </p:spPr>
      </p:sp>
      <p:sp>
        <p:nvSpPr>
          <p:cNvPr id="17" name="Text 14"/>
          <p:cNvSpPr txBox="1"/>
          <p:nvPr/>
        </p:nvSpPr>
        <p:spPr>
          <a:xfrm>
            <a:off x="777240" y="5897880"/>
            <a:ext cx="10698480" cy="566928"/>
          </a:xfrm>
          <a:prstGeom prst="rect">
            <a:avLst/>
          </a:prstGeom>
          <a:noFill/>
          <a:ln/>
        </p:spPr>
        <p:txBody>
          <a:bodyPr wrap="square" lIns="0" tIns="0" rIns="0" bIns="0" rtlCol="0" anchor="ctr"/>
          <a:lstStyle/>
          <a:p>
            <a:pPr indent="0" marL="0">
              <a:buNone/>
            </a:pPr>
            <a:r>
              <a:rPr lang="en-US" sz="1600" b="1" dirty="0">
                <a:solidFill>
                  <a:srgbClr val="8A5A12"/>
                </a:solidFill>
                <a:latin typeface="Calibri" pitchFamily="34" charset="0"/>
                <a:ea typeface="Calibri" pitchFamily="34" charset="-122"/>
                <a:cs typeface="Calibri" pitchFamily="34" charset="-120"/>
              </a:rPr>
              <a:t>Lesson: </a:t>
            </a:r>
            <a:pPr indent="0" marL="0">
              <a:buNone/>
            </a:pPr>
            <a:r>
              <a:rPr lang="en-US" sz="1600" dirty="0">
                <a:solidFill>
                  <a:srgbClr val="1A2230"/>
                </a:solidFill>
                <a:latin typeface="Calibri" pitchFamily="34" charset="0"/>
                <a:ea typeface="Calibri" pitchFamily="34" charset="-122"/>
                <a:cs typeface="Calibri" pitchFamily="34" charset="-120"/>
              </a:rPr>
              <a:t>AI makes confident mistakes. Ask a second, independent Claude to hunt for them, then verify.</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438912"/>
            <a:ext cx="566928" cy="566928"/>
          </a:xfrm>
          <a:prstGeom prst="ellipse">
            <a:avLst/>
          </a:prstGeom>
          <a:solidFill>
            <a:srgbClr val="2A78D6"/>
          </a:solidFill>
          <a:ln w="12700">
            <a:solidFill>
              <a:srgbClr val="2A78D6"/>
            </a:solidFill>
            <a:prstDash val="solid"/>
          </a:ln>
        </p:spPr>
      </p:sp>
      <p:sp>
        <p:nvSpPr>
          <p:cNvPr id="3" name="Text 1"/>
          <p:cNvSpPr txBox="1"/>
          <p:nvPr/>
        </p:nvSpPr>
        <p:spPr>
          <a:xfrm>
            <a:off x="548640" y="438912"/>
            <a:ext cx="566928" cy="566928"/>
          </a:xfrm>
          <a:prstGeom prst="rect">
            <a:avLst/>
          </a:prstGeom>
          <a:noFill/>
          <a:ln/>
        </p:spPr>
        <p:txBody>
          <a:bodyPr wrap="square" lIns="0" tIns="0" rIns="0" bIns="0" rtlCol="0" anchor="ctr"/>
          <a:lstStyle/>
          <a:p>
            <a:pPr algn="ctr" indent="0" marL="0">
              <a:buNone/>
            </a:pPr>
            <a:r>
              <a:rPr lang="en-US" sz="1860" b="1" dirty="0">
                <a:solidFill>
                  <a:srgbClr val="FFFFFF"/>
                </a:solidFill>
                <a:latin typeface="Arial" pitchFamily="34" charset="0"/>
                <a:ea typeface="Arial" pitchFamily="34" charset="-122"/>
                <a:cs typeface="Arial" pitchFamily="34" charset="-120"/>
              </a:rPr>
              <a:t>6</a:t>
            </a:r>
            <a:endParaRPr lang="en-US" sz="1860" dirty="0"/>
          </a:p>
        </p:txBody>
      </p:sp>
      <p:sp>
        <p:nvSpPr>
          <p:cNvPr id="4" name="Text 2"/>
          <p:cNvSpPr txBox="1"/>
          <p:nvPr/>
        </p:nvSpPr>
        <p:spPr>
          <a:xfrm>
            <a:off x="1280160" y="365760"/>
            <a:ext cx="10058400" cy="731520"/>
          </a:xfrm>
          <a:prstGeom prst="rect">
            <a:avLst/>
          </a:prstGeom>
          <a:noFill/>
          <a:ln/>
        </p:spPr>
        <p:txBody>
          <a:bodyPr wrap="square" lIns="0" tIns="0" rIns="0" bIns="0" rtlCol="0" anchor="ctr"/>
          <a:lstStyle/>
          <a:p>
            <a:pPr indent="0" marL="0">
              <a:buNone/>
            </a:pPr>
            <a:r>
              <a:rPr lang="en-US" sz="3400" b="1" dirty="0">
                <a:solidFill>
                  <a:srgbClr val="0B2545"/>
                </a:solidFill>
                <a:latin typeface="Arial" pitchFamily="34" charset="0"/>
                <a:ea typeface="Arial" pitchFamily="34" charset="-122"/>
                <a:cs typeface="Arial" pitchFamily="34" charset="-120"/>
              </a:rPr>
              <a:t>Ask for a code review</a:t>
            </a:r>
            <a:endParaRPr lang="en-US" sz="3400" dirty="0"/>
          </a:p>
        </p:txBody>
      </p:sp>
      <p:sp>
        <p:nvSpPr>
          <p:cNvPr id="5" name="Text 3"/>
          <p:cNvSpPr txBox="1"/>
          <p:nvPr/>
        </p:nvSpPr>
        <p:spPr>
          <a:xfrm>
            <a:off x="548640" y="1188720"/>
            <a:ext cx="10972800" cy="411480"/>
          </a:xfrm>
          <a:prstGeom prst="rect">
            <a:avLst/>
          </a:prstGeom>
          <a:noFill/>
          <a:ln/>
        </p:spPr>
        <p:txBody>
          <a:bodyPr wrap="square" lIns="0" tIns="0" rIns="0" bIns="0" rtlCol="0" anchor="ctr"/>
          <a:lstStyle/>
          <a:p>
            <a:pPr indent="0" marL="0">
              <a:buNone/>
            </a:pPr>
            <a:r>
              <a:rPr lang="en-US" sz="1700" i="1" dirty="0">
                <a:solidFill>
                  <a:srgbClr val="5B6678"/>
                </a:solidFill>
                <a:latin typeface="Calibri" pitchFamily="34" charset="0"/>
                <a:ea typeface="Calibri" pitchFamily="34" charset="-122"/>
                <a:cs typeface="Calibri" pitchFamily="34" charset="-120"/>
              </a:rPr>
              <a:t>One review pass (Aug 19) found ten real bugs the site had been living with</a:t>
            </a:r>
            <a:endParaRPr lang="en-US" sz="1700" dirty="0"/>
          </a:p>
        </p:txBody>
      </p:sp>
      <p:sp>
        <p:nvSpPr>
          <p:cNvPr id="6" name="Shape 4"/>
          <p:cNvSpPr/>
          <p:nvPr/>
        </p:nvSpPr>
        <p:spPr>
          <a:xfrm>
            <a:off x="548640" y="1828800"/>
            <a:ext cx="5440680" cy="1691640"/>
          </a:xfrm>
          <a:prstGeom prst="roundRect">
            <a:avLst>
              <a:gd name="adj" fmla="val 6486"/>
            </a:avLst>
          </a:prstGeom>
          <a:solidFill>
            <a:srgbClr val="FFFFFF"/>
          </a:solidFill>
          <a:ln w="9525">
            <a:solidFill>
              <a:srgbClr val="E1E6EE"/>
            </a:solidFill>
            <a:prstDash val="solid"/>
          </a:ln>
          <a:effectLst>
            <a:outerShdw sx="100000" sy="100000" kx="0" ky="0" algn="bl" rotWithShape="0" blurRad="101600" dist="25400" dir="5400000">
              <a:srgbClr val="000000">
                <a:alpha val="12000"/>
              </a:srgbClr>
            </a:outerShdw>
          </a:effectLst>
        </p:spPr>
      </p:sp>
      <p:sp>
        <p:nvSpPr>
          <p:cNvPr id="7" name="Shape 5"/>
          <p:cNvSpPr/>
          <p:nvPr/>
        </p:nvSpPr>
        <p:spPr>
          <a:xfrm>
            <a:off x="822960" y="2103120"/>
            <a:ext cx="640080" cy="640080"/>
          </a:xfrm>
          <a:prstGeom prst="ellipse">
            <a:avLst/>
          </a:prstGeom>
          <a:solidFill>
            <a:srgbClr val="DCE8F7"/>
          </a:solidFill>
          <a:ln w="12700">
            <a:solidFill>
              <a:srgbClr val="DCE8F7"/>
            </a:solidFill>
            <a:prstDash val="solid"/>
          </a:ln>
        </p:spPr>
      </p:sp>
      <p:pic>
        <p:nvPicPr>
          <p:cNvPr id="8" name="Image 0" descr="preencoded.png">    </p:cNvPr>
          <p:cNvPicPr>
            <a:picLocks noChangeAspect="1"/>
          </p:cNvPicPr>
          <p:nvPr/>
        </p:nvPicPr>
        <p:blipFill>
          <a:blip r:embed="rId1"/>
          <a:stretch>
            <a:fillRect/>
          </a:stretch>
        </p:blipFill>
        <p:spPr>
          <a:xfrm>
            <a:off x="976579" y="2256739"/>
            <a:ext cx="332842" cy="332842"/>
          </a:xfrm>
          <a:prstGeom prst="rect">
            <a:avLst/>
          </a:prstGeom>
        </p:spPr>
      </p:pic>
      <p:sp>
        <p:nvSpPr>
          <p:cNvPr id="9" name="Text 6"/>
          <p:cNvSpPr txBox="1"/>
          <p:nvPr/>
        </p:nvSpPr>
        <p:spPr>
          <a:xfrm>
            <a:off x="1645920" y="2057400"/>
            <a:ext cx="4160520" cy="457200"/>
          </a:xfrm>
          <a:prstGeom prst="rect">
            <a:avLst/>
          </a:prstGeom>
          <a:noFill/>
          <a:ln/>
        </p:spPr>
        <p:txBody>
          <a:bodyPr wrap="square" lIns="0" tIns="0" rIns="0" bIns="0" rtlCol="0" anchor="ctr"/>
          <a:lstStyle/>
          <a:p>
            <a:pPr indent="0" marL="0">
              <a:buNone/>
            </a:pPr>
            <a:r>
              <a:rPr lang="en-US" sz="1600" b="1" dirty="0">
                <a:solidFill>
                  <a:srgbClr val="0B2545"/>
                </a:solidFill>
                <a:latin typeface="Arial" pitchFamily="34" charset="0"/>
                <a:ea typeface="Arial" pitchFamily="34" charset="-122"/>
                <a:cs typeface="Arial" pitchFamily="34" charset="-120"/>
              </a:rPr>
              <a:t>A date read as record numbers</a:t>
            </a:r>
            <a:endParaRPr lang="en-US" sz="1600" dirty="0"/>
          </a:p>
        </p:txBody>
      </p:sp>
      <p:sp>
        <p:nvSpPr>
          <p:cNvPr id="10" name="Text 7"/>
          <p:cNvSpPr txBox="1"/>
          <p:nvPr/>
        </p:nvSpPr>
        <p:spPr>
          <a:xfrm>
            <a:off x="1645920" y="2514600"/>
            <a:ext cx="4160520" cy="868680"/>
          </a:xfrm>
          <a:prstGeom prst="rect">
            <a:avLst/>
          </a:prstGeom>
          <a:noFill/>
          <a:ln/>
        </p:spPr>
        <p:txBody>
          <a:bodyPr wrap="square" lIns="0" tIns="0" rIns="0" bIns="0" rtlCol="0" anchor="t"/>
          <a:lstStyle/>
          <a:p>
            <a:pPr indent="0" marL="0">
              <a:buNone/>
            </a:pPr>
            <a:r>
              <a:rPr lang="en-US" sz="1400" dirty="0">
                <a:solidFill>
                  <a:srgbClr val="5B6678"/>
                </a:solidFill>
                <a:latin typeface="Calibri" pitchFamily="34" charset="0"/>
                <a:ea typeface="Calibri" pitchFamily="34" charset="-122"/>
                <a:cs typeface="Calibri" pitchFamily="34" charset="-120"/>
              </a:rPr>
              <a:t>A reader wrote “on 8/15/2026.” The triage bot looked up records 8, 15, and 2026.</a:t>
            </a:r>
            <a:endParaRPr lang="en-US" sz="1400" dirty="0"/>
          </a:p>
        </p:txBody>
      </p:sp>
      <p:sp>
        <p:nvSpPr>
          <p:cNvPr id="11" name="Shape 8"/>
          <p:cNvSpPr/>
          <p:nvPr/>
        </p:nvSpPr>
        <p:spPr>
          <a:xfrm>
            <a:off x="6172200" y="1828800"/>
            <a:ext cx="5440680" cy="1691640"/>
          </a:xfrm>
          <a:prstGeom prst="roundRect">
            <a:avLst>
              <a:gd name="adj" fmla="val 6486"/>
            </a:avLst>
          </a:prstGeom>
          <a:solidFill>
            <a:srgbClr val="FFFFFF"/>
          </a:solidFill>
          <a:ln w="9525">
            <a:solidFill>
              <a:srgbClr val="E1E6EE"/>
            </a:solidFill>
            <a:prstDash val="solid"/>
          </a:ln>
          <a:effectLst>
            <a:outerShdw sx="100000" sy="100000" kx="0" ky="0" algn="bl" rotWithShape="0" blurRad="101600" dist="25400" dir="5400000">
              <a:srgbClr val="000000">
                <a:alpha val="12000"/>
              </a:srgbClr>
            </a:outerShdw>
          </a:effectLst>
        </p:spPr>
      </p:sp>
      <p:sp>
        <p:nvSpPr>
          <p:cNvPr id="12" name="Shape 9"/>
          <p:cNvSpPr/>
          <p:nvPr/>
        </p:nvSpPr>
        <p:spPr>
          <a:xfrm>
            <a:off x="6446520" y="2103120"/>
            <a:ext cx="640080" cy="640080"/>
          </a:xfrm>
          <a:prstGeom prst="ellipse">
            <a:avLst/>
          </a:prstGeom>
          <a:solidFill>
            <a:srgbClr val="DCE8F7"/>
          </a:solidFill>
          <a:ln w="12700">
            <a:solidFill>
              <a:srgbClr val="DCE8F7"/>
            </a:solidFill>
            <a:prstDash val="solid"/>
          </a:ln>
        </p:spPr>
      </p:sp>
      <p:pic>
        <p:nvPicPr>
          <p:cNvPr id="13" name="Image 1" descr="preencoded.png">    </p:cNvPr>
          <p:cNvPicPr>
            <a:picLocks noChangeAspect="1"/>
          </p:cNvPicPr>
          <p:nvPr/>
        </p:nvPicPr>
        <p:blipFill>
          <a:blip r:embed="rId2"/>
          <a:stretch>
            <a:fillRect/>
          </a:stretch>
        </p:blipFill>
        <p:spPr>
          <a:xfrm>
            <a:off x="6600139" y="2256739"/>
            <a:ext cx="332842" cy="332842"/>
          </a:xfrm>
          <a:prstGeom prst="rect">
            <a:avLst/>
          </a:prstGeom>
        </p:spPr>
      </p:pic>
      <p:sp>
        <p:nvSpPr>
          <p:cNvPr id="14" name="Text 10"/>
          <p:cNvSpPr txBox="1"/>
          <p:nvPr/>
        </p:nvSpPr>
        <p:spPr>
          <a:xfrm>
            <a:off x="7269480" y="2057400"/>
            <a:ext cx="4160520" cy="457200"/>
          </a:xfrm>
          <a:prstGeom prst="rect">
            <a:avLst/>
          </a:prstGeom>
          <a:noFill/>
          <a:ln/>
        </p:spPr>
        <p:txBody>
          <a:bodyPr wrap="square" lIns="0" tIns="0" rIns="0" bIns="0" rtlCol="0" anchor="ctr"/>
          <a:lstStyle/>
          <a:p>
            <a:pPr indent="0" marL="0">
              <a:buNone/>
            </a:pPr>
            <a:r>
              <a:rPr lang="en-US" sz="1600" b="1" dirty="0">
                <a:solidFill>
                  <a:srgbClr val="0B2545"/>
                </a:solidFill>
                <a:latin typeface="Arial" pitchFamily="34" charset="0"/>
                <a:ea typeface="Arial" pitchFamily="34" charset="-122"/>
                <a:cs typeface="Arial" pitchFamily="34" charset="-120"/>
              </a:rPr>
              <a:t>A hidden injection hole</a:t>
            </a:r>
            <a:endParaRPr lang="en-US" sz="1600" dirty="0"/>
          </a:p>
        </p:txBody>
      </p:sp>
      <p:sp>
        <p:nvSpPr>
          <p:cNvPr id="15" name="Text 11"/>
          <p:cNvSpPr txBox="1"/>
          <p:nvPr/>
        </p:nvSpPr>
        <p:spPr>
          <a:xfrm>
            <a:off x="7269480" y="2514600"/>
            <a:ext cx="4160520" cy="868680"/>
          </a:xfrm>
          <a:prstGeom prst="rect">
            <a:avLst/>
          </a:prstGeom>
          <a:noFill/>
          <a:ln/>
        </p:spPr>
        <p:txBody>
          <a:bodyPr wrap="square" lIns="0" tIns="0" rIns="0" bIns="0" rtlCol="0" anchor="t"/>
          <a:lstStyle/>
          <a:p>
            <a:pPr indent="0" marL="0">
              <a:buNone/>
            </a:pPr>
            <a:r>
              <a:rPr lang="en-US" sz="1400" dirty="0">
                <a:solidFill>
                  <a:srgbClr val="5B6678"/>
                </a:solidFill>
                <a:latin typeface="Calibri" pitchFamily="34" charset="0"/>
                <a:ea typeface="Calibri" pitchFamily="34" charset="-122"/>
                <a:cs typeface="Calibri" pitchFamily="34" charset="-120"/>
              </a:rPr>
              <a:t>Text in a reader's issue could end a block early and change the bot's outputs.</a:t>
            </a:r>
            <a:endParaRPr lang="en-US" sz="1400" dirty="0"/>
          </a:p>
        </p:txBody>
      </p:sp>
      <p:sp>
        <p:nvSpPr>
          <p:cNvPr id="16" name="Shape 12"/>
          <p:cNvSpPr/>
          <p:nvPr/>
        </p:nvSpPr>
        <p:spPr>
          <a:xfrm>
            <a:off x="548640" y="3749040"/>
            <a:ext cx="5440680" cy="1691640"/>
          </a:xfrm>
          <a:prstGeom prst="roundRect">
            <a:avLst>
              <a:gd name="adj" fmla="val 6486"/>
            </a:avLst>
          </a:prstGeom>
          <a:solidFill>
            <a:srgbClr val="FFFFFF"/>
          </a:solidFill>
          <a:ln w="9525">
            <a:solidFill>
              <a:srgbClr val="E1E6EE"/>
            </a:solidFill>
            <a:prstDash val="solid"/>
          </a:ln>
          <a:effectLst>
            <a:outerShdw sx="100000" sy="100000" kx="0" ky="0" algn="bl" rotWithShape="0" blurRad="101600" dist="25400" dir="5400000">
              <a:srgbClr val="000000">
                <a:alpha val="12000"/>
              </a:srgbClr>
            </a:outerShdw>
          </a:effectLst>
        </p:spPr>
      </p:sp>
      <p:sp>
        <p:nvSpPr>
          <p:cNvPr id="17" name="Shape 13"/>
          <p:cNvSpPr/>
          <p:nvPr/>
        </p:nvSpPr>
        <p:spPr>
          <a:xfrm>
            <a:off x="822960" y="4023360"/>
            <a:ext cx="640080" cy="640080"/>
          </a:xfrm>
          <a:prstGeom prst="ellipse">
            <a:avLst/>
          </a:prstGeom>
          <a:solidFill>
            <a:srgbClr val="DCE8F7"/>
          </a:solidFill>
          <a:ln w="12700">
            <a:solidFill>
              <a:srgbClr val="DCE8F7"/>
            </a:solidFill>
            <a:prstDash val="solid"/>
          </a:ln>
        </p:spPr>
      </p:sp>
      <p:pic>
        <p:nvPicPr>
          <p:cNvPr id="18" name="Image 2" descr="preencoded.png">    </p:cNvPr>
          <p:cNvPicPr>
            <a:picLocks noChangeAspect="1"/>
          </p:cNvPicPr>
          <p:nvPr/>
        </p:nvPicPr>
        <p:blipFill>
          <a:blip r:embed="rId3"/>
          <a:stretch>
            <a:fillRect/>
          </a:stretch>
        </p:blipFill>
        <p:spPr>
          <a:xfrm>
            <a:off x="976579" y="4176979"/>
            <a:ext cx="332842" cy="332842"/>
          </a:xfrm>
          <a:prstGeom prst="rect">
            <a:avLst/>
          </a:prstGeom>
        </p:spPr>
      </p:pic>
      <p:sp>
        <p:nvSpPr>
          <p:cNvPr id="19" name="Text 14"/>
          <p:cNvSpPr txBox="1"/>
          <p:nvPr/>
        </p:nvSpPr>
        <p:spPr>
          <a:xfrm>
            <a:off x="1645920" y="3977640"/>
            <a:ext cx="4160520" cy="457200"/>
          </a:xfrm>
          <a:prstGeom prst="rect">
            <a:avLst/>
          </a:prstGeom>
          <a:noFill/>
          <a:ln/>
        </p:spPr>
        <p:txBody>
          <a:bodyPr wrap="square" lIns="0" tIns="0" rIns="0" bIns="0" rtlCol="0" anchor="ctr"/>
          <a:lstStyle/>
          <a:p>
            <a:pPr indent="0" marL="0">
              <a:buNone/>
            </a:pPr>
            <a:r>
              <a:rPr lang="en-US" sz="1600" b="1" dirty="0">
                <a:solidFill>
                  <a:srgbClr val="0B2545"/>
                </a:solidFill>
                <a:latin typeface="Arial" pitchFamily="34" charset="0"/>
                <a:ea typeface="Arial" pitchFamily="34" charset="-122"/>
                <a:cs typeface="Arial" pitchFamily="34" charset="-120"/>
              </a:rPr>
              <a:t>Hand edits never went live</a:t>
            </a:r>
            <a:endParaRPr lang="en-US" sz="1600" dirty="0"/>
          </a:p>
        </p:txBody>
      </p:sp>
      <p:sp>
        <p:nvSpPr>
          <p:cNvPr id="20" name="Text 15"/>
          <p:cNvSpPr txBox="1"/>
          <p:nvPr/>
        </p:nvSpPr>
        <p:spPr>
          <a:xfrm>
            <a:off x="1645920" y="4434840"/>
            <a:ext cx="4160520" cy="868680"/>
          </a:xfrm>
          <a:prstGeom prst="rect">
            <a:avLst/>
          </a:prstGeom>
          <a:noFill/>
          <a:ln/>
        </p:spPr>
        <p:txBody>
          <a:bodyPr wrap="square" lIns="0" tIns="0" rIns="0" bIns="0" rtlCol="0" anchor="t"/>
          <a:lstStyle/>
          <a:p>
            <a:pPr indent="0" marL="0">
              <a:buNone/>
            </a:pPr>
            <a:r>
              <a:rPr lang="en-US" sz="1400" dirty="0">
                <a:solidFill>
                  <a:srgbClr val="5B6678"/>
                </a:solidFill>
                <a:latin typeface="Calibri" pitchFamily="34" charset="0"/>
                <a:ea typeface="Calibri" pitchFamily="34" charset="-122"/>
                <a:cs typeface="Calibri" pitchFamily="34" charset="-120"/>
              </a:rPr>
              <a:t>Only the daily job redeployed the site. Manual fixes sat unpublished.</a:t>
            </a:r>
            <a:endParaRPr lang="en-US" sz="1400" dirty="0"/>
          </a:p>
        </p:txBody>
      </p:sp>
      <p:sp>
        <p:nvSpPr>
          <p:cNvPr id="21" name="Shape 16"/>
          <p:cNvSpPr/>
          <p:nvPr/>
        </p:nvSpPr>
        <p:spPr>
          <a:xfrm>
            <a:off x="6172200" y="3749040"/>
            <a:ext cx="5440680" cy="1691640"/>
          </a:xfrm>
          <a:prstGeom prst="roundRect">
            <a:avLst>
              <a:gd name="adj" fmla="val 6486"/>
            </a:avLst>
          </a:prstGeom>
          <a:solidFill>
            <a:srgbClr val="FFFFFF"/>
          </a:solidFill>
          <a:ln w="9525">
            <a:solidFill>
              <a:srgbClr val="E1E6EE"/>
            </a:solidFill>
            <a:prstDash val="solid"/>
          </a:ln>
          <a:effectLst>
            <a:outerShdw sx="100000" sy="100000" kx="0" ky="0" algn="bl" rotWithShape="0" blurRad="101600" dist="25400" dir="5400000">
              <a:srgbClr val="000000">
                <a:alpha val="12000"/>
              </a:srgbClr>
            </a:outerShdw>
          </a:effectLst>
        </p:spPr>
      </p:sp>
      <p:sp>
        <p:nvSpPr>
          <p:cNvPr id="22" name="Shape 17"/>
          <p:cNvSpPr/>
          <p:nvPr/>
        </p:nvSpPr>
        <p:spPr>
          <a:xfrm>
            <a:off x="6446520" y="4023360"/>
            <a:ext cx="640080" cy="640080"/>
          </a:xfrm>
          <a:prstGeom prst="ellipse">
            <a:avLst/>
          </a:prstGeom>
          <a:solidFill>
            <a:srgbClr val="DCE8F7"/>
          </a:solidFill>
          <a:ln w="12700">
            <a:solidFill>
              <a:srgbClr val="DCE8F7"/>
            </a:solidFill>
            <a:prstDash val="solid"/>
          </a:ln>
        </p:spPr>
      </p:sp>
      <p:pic>
        <p:nvPicPr>
          <p:cNvPr id="23" name="Image 3" descr="preencoded.png">    </p:cNvPr>
          <p:cNvPicPr>
            <a:picLocks noChangeAspect="1"/>
          </p:cNvPicPr>
          <p:nvPr/>
        </p:nvPicPr>
        <p:blipFill>
          <a:blip r:embed="rId4"/>
          <a:stretch>
            <a:fillRect/>
          </a:stretch>
        </p:blipFill>
        <p:spPr>
          <a:xfrm>
            <a:off x="6600139" y="4176979"/>
            <a:ext cx="332842" cy="332842"/>
          </a:xfrm>
          <a:prstGeom prst="rect">
            <a:avLst/>
          </a:prstGeom>
        </p:spPr>
      </p:pic>
      <p:sp>
        <p:nvSpPr>
          <p:cNvPr id="24" name="Text 18"/>
          <p:cNvSpPr txBox="1"/>
          <p:nvPr/>
        </p:nvSpPr>
        <p:spPr>
          <a:xfrm>
            <a:off x="7269480" y="3977640"/>
            <a:ext cx="4160520" cy="457200"/>
          </a:xfrm>
          <a:prstGeom prst="rect">
            <a:avLst/>
          </a:prstGeom>
          <a:noFill/>
          <a:ln/>
        </p:spPr>
        <p:txBody>
          <a:bodyPr wrap="square" lIns="0" tIns="0" rIns="0" bIns="0" rtlCol="0" anchor="ctr"/>
          <a:lstStyle/>
          <a:p>
            <a:pPr indent="0" marL="0">
              <a:buNone/>
            </a:pPr>
            <a:r>
              <a:rPr lang="en-US" sz="1600" b="1" dirty="0">
                <a:solidFill>
                  <a:srgbClr val="0B2545"/>
                </a:solidFill>
                <a:latin typeface="Arial" pitchFamily="34" charset="0"/>
                <a:ea typeface="Arial" pitchFamily="34" charset="-122"/>
                <a:cs typeface="Arial" pitchFamily="34" charset="-120"/>
              </a:rPr>
              <a:t>Whole websites silently dropped</a:t>
            </a:r>
            <a:endParaRPr lang="en-US" sz="1600" dirty="0"/>
          </a:p>
        </p:txBody>
      </p:sp>
      <p:sp>
        <p:nvSpPr>
          <p:cNvPr id="25" name="Text 19"/>
          <p:cNvSpPr txBox="1"/>
          <p:nvPr/>
        </p:nvSpPr>
        <p:spPr>
          <a:xfrm>
            <a:off x="7269480" y="4434840"/>
            <a:ext cx="4160520" cy="868680"/>
          </a:xfrm>
          <a:prstGeom prst="rect">
            <a:avLst/>
          </a:prstGeom>
          <a:noFill/>
          <a:ln/>
        </p:spPr>
        <p:txBody>
          <a:bodyPr wrap="square" lIns="0" tIns="0" rIns="0" bIns="0" rtlCol="0" anchor="t"/>
          <a:lstStyle/>
          <a:p>
            <a:pPr indent="0" marL="0">
              <a:buNone/>
            </a:pPr>
            <a:r>
              <a:rPr lang="en-US" sz="1400" dirty="0">
                <a:solidFill>
                  <a:srgbClr val="5B6678"/>
                </a:solidFill>
                <a:latin typeface="Calibri" pitchFamily="34" charset="0"/>
                <a:ea typeface="Calibri" pitchFamily="34" charset="-122"/>
                <a:cs typeface="Calibri" pitchFamily="34" charset="-120"/>
              </a:rPr>
              <a:t>The URL cleaner made every article on some sites look identical, so new ones were skipped as duplicates.</a:t>
            </a:r>
            <a:endParaRPr lang="en-US" sz="1400" dirty="0"/>
          </a:p>
        </p:txBody>
      </p:sp>
      <p:sp>
        <p:nvSpPr>
          <p:cNvPr id="26" name="Shape 20"/>
          <p:cNvSpPr/>
          <p:nvPr/>
        </p:nvSpPr>
        <p:spPr>
          <a:xfrm>
            <a:off x="548640" y="5897880"/>
            <a:ext cx="11091672" cy="566928"/>
          </a:xfrm>
          <a:prstGeom prst="roundRect">
            <a:avLst>
              <a:gd name="adj" fmla="val 16129"/>
            </a:avLst>
          </a:prstGeom>
          <a:solidFill>
            <a:srgbClr val="FDF3E2"/>
          </a:solidFill>
          <a:ln w="9525">
            <a:solidFill>
              <a:srgbClr val="F3D9A8"/>
            </a:solidFill>
            <a:prstDash val="solid"/>
          </a:ln>
        </p:spPr>
      </p:sp>
      <p:sp>
        <p:nvSpPr>
          <p:cNvPr id="27" name="Text 21"/>
          <p:cNvSpPr txBox="1"/>
          <p:nvPr/>
        </p:nvSpPr>
        <p:spPr>
          <a:xfrm>
            <a:off x="777240" y="5897880"/>
            <a:ext cx="10698480" cy="566928"/>
          </a:xfrm>
          <a:prstGeom prst="rect">
            <a:avLst/>
          </a:prstGeom>
          <a:noFill/>
          <a:ln/>
        </p:spPr>
        <p:txBody>
          <a:bodyPr wrap="square" lIns="0" tIns="0" rIns="0" bIns="0" rtlCol="0" anchor="ctr"/>
          <a:lstStyle/>
          <a:p>
            <a:pPr indent="0" marL="0">
              <a:buNone/>
            </a:pPr>
            <a:r>
              <a:rPr lang="en-US" sz="1600" b="1" dirty="0">
                <a:solidFill>
                  <a:srgbClr val="8A5A12"/>
                </a:solidFill>
                <a:latin typeface="Calibri" pitchFamily="34" charset="0"/>
                <a:ea typeface="Calibri" pitchFamily="34" charset="-122"/>
                <a:cs typeface="Calibri" pitchFamily="34" charset="-120"/>
              </a:rPr>
              <a:t>Lesson: </a:t>
            </a:r>
            <a:pPr indent="0" marL="0">
              <a:buNone/>
            </a:pPr>
            <a:r>
              <a:rPr lang="en-US" sz="1600" dirty="0">
                <a:solidFill>
                  <a:srgbClr val="1A2230"/>
                </a:solidFill>
                <a:latin typeface="Calibri" pitchFamily="34" charset="0"/>
                <a:ea typeface="Calibri" pitchFamily="34" charset="-122"/>
                <a:cs typeface="Calibri" pitchFamily="34" charset="-120"/>
              </a:rPr>
              <a:t>Every so often, ask: “Review this codebase for bugs, and explain each in plain English.”</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438912"/>
            <a:ext cx="566928" cy="566928"/>
          </a:xfrm>
          <a:prstGeom prst="ellipse">
            <a:avLst/>
          </a:prstGeom>
          <a:solidFill>
            <a:srgbClr val="2A78D6"/>
          </a:solidFill>
          <a:ln w="12700">
            <a:solidFill>
              <a:srgbClr val="2A78D6"/>
            </a:solidFill>
            <a:prstDash val="solid"/>
          </a:ln>
        </p:spPr>
      </p:sp>
      <p:sp>
        <p:nvSpPr>
          <p:cNvPr id="3" name="Text 1"/>
          <p:cNvSpPr txBox="1"/>
          <p:nvPr/>
        </p:nvSpPr>
        <p:spPr>
          <a:xfrm>
            <a:off x="548640" y="438912"/>
            <a:ext cx="566928" cy="566928"/>
          </a:xfrm>
          <a:prstGeom prst="rect">
            <a:avLst/>
          </a:prstGeom>
          <a:noFill/>
          <a:ln/>
        </p:spPr>
        <p:txBody>
          <a:bodyPr wrap="square" lIns="0" tIns="0" rIns="0" bIns="0" rtlCol="0" anchor="ctr"/>
          <a:lstStyle/>
          <a:p>
            <a:pPr algn="ctr" indent="0" marL="0">
              <a:buNone/>
            </a:pPr>
            <a:r>
              <a:rPr lang="en-US" sz="1860" b="1" dirty="0">
                <a:solidFill>
                  <a:srgbClr val="FFFFFF"/>
                </a:solidFill>
                <a:latin typeface="Arial" pitchFamily="34" charset="0"/>
                <a:ea typeface="Arial" pitchFamily="34" charset="-122"/>
                <a:cs typeface="Arial" pitchFamily="34" charset="-120"/>
              </a:rPr>
              <a:t>7</a:t>
            </a:r>
            <a:endParaRPr lang="en-US" sz="1860" dirty="0"/>
          </a:p>
        </p:txBody>
      </p:sp>
      <p:sp>
        <p:nvSpPr>
          <p:cNvPr id="4" name="Text 2"/>
          <p:cNvSpPr txBox="1"/>
          <p:nvPr/>
        </p:nvSpPr>
        <p:spPr>
          <a:xfrm>
            <a:off x="1280160" y="365760"/>
            <a:ext cx="10058400" cy="731520"/>
          </a:xfrm>
          <a:prstGeom prst="rect">
            <a:avLst/>
          </a:prstGeom>
          <a:noFill/>
          <a:ln/>
        </p:spPr>
        <p:txBody>
          <a:bodyPr wrap="square" lIns="0" tIns="0" rIns="0" bIns="0" rtlCol="0" anchor="ctr"/>
          <a:lstStyle/>
          <a:p>
            <a:pPr indent="0" marL="0">
              <a:buNone/>
            </a:pPr>
            <a:r>
              <a:rPr lang="en-US" sz="3400" b="1" dirty="0">
                <a:solidFill>
                  <a:srgbClr val="0B2545"/>
                </a:solidFill>
                <a:latin typeface="Arial" pitchFamily="34" charset="0"/>
                <a:ea typeface="Arial" pitchFamily="34" charset="-122"/>
                <a:cs typeface="Arial" pitchFamily="34" charset="-120"/>
              </a:rPr>
              <a:t>Open a feedback loop to readers</a:t>
            </a:r>
            <a:endParaRPr lang="en-US" sz="3400" dirty="0"/>
          </a:p>
        </p:txBody>
      </p:sp>
      <p:sp>
        <p:nvSpPr>
          <p:cNvPr id="5" name="Text 3"/>
          <p:cNvSpPr txBox="1"/>
          <p:nvPr/>
        </p:nvSpPr>
        <p:spPr>
          <a:xfrm>
            <a:off x="548640" y="1188720"/>
            <a:ext cx="10972800" cy="411480"/>
          </a:xfrm>
          <a:prstGeom prst="rect">
            <a:avLst/>
          </a:prstGeom>
          <a:noFill/>
          <a:ln/>
        </p:spPr>
        <p:txBody>
          <a:bodyPr wrap="square" lIns="0" tIns="0" rIns="0" bIns="0" rtlCol="0" anchor="ctr"/>
          <a:lstStyle/>
          <a:p>
            <a:pPr indent="0" marL="0">
              <a:buNone/>
            </a:pPr>
            <a:r>
              <a:rPr lang="en-US" sz="1700" i="1" dirty="0">
                <a:solidFill>
                  <a:srgbClr val="5B6678"/>
                </a:solidFill>
                <a:latin typeface="Calibri" pitchFamily="34" charset="0"/>
                <a:ea typeface="Calibri" pitchFamily="34" charset="-122"/>
                <a:cs typeface="Calibri" pitchFamily="34" charset="-120"/>
              </a:rPr>
              <a:t>Readers flag errors with a form; Claude checks the claim; the maintainer decides</a:t>
            </a:r>
            <a:endParaRPr lang="en-US" sz="1700" dirty="0"/>
          </a:p>
        </p:txBody>
      </p:sp>
      <p:sp>
        <p:nvSpPr>
          <p:cNvPr id="6" name="Shape 4"/>
          <p:cNvSpPr/>
          <p:nvPr/>
        </p:nvSpPr>
        <p:spPr>
          <a:xfrm>
            <a:off x="1371600" y="1874520"/>
            <a:ext cx="868680" cy="868680"/>
          </a:xfrm>
          <a:prstGeom prst="ellipse">
            <a:avLst/>
          </a:prstGeom>
          <a:solidFill>
            <a:srgbClr val="2A78D6"/>
          </a:solidFill>
          <a:ln w="12700">
            <a:solidFill>
              <a:srgbClr val="2A78D6"/>
            </a:solidFill>
            <a:prstDash val="solid"/>
          </a:ln>
        </p:spPr>
      </p:sp>
      <p:pic>
        <p:nvPicPr>
          <p:cNvPr id="7" name="Image 0" descr="preencoded.png">    </p:cNvPr>
          <p:cNvPicPr>
            <a:picLocks noChangeAspect="1"/>
          </p:cNvPicPr>
          <p:nvPr/>
        </p:nvPicPr>
        <p:blipFill>
          <a:blip r:embed="rId1"/>
          <a:stretch>
            <a:fillRect/>
          </a:stretch>
        </p:blipFill>
        <p:spPr>
          <a:xfrm>
            <a:off x="1580083" y="2083003"/>
            <a:ext cx="451714" cy="451714"/>
          </a:xfrm>
          <a:prstGeom prst="rect">
            <a:avLst/>
          </a:prstGeom>
        </p:spPr>
      </p:pic>
      <p:sp>
        <p:nvSpPr>
          <p:cNvPr id="8" name="Text 5"/>
          <p:cNvSpPr txBox="1"/>
          <p:nvPr/>
        </p:nvSpPr>
        <p:spPr>
          <a:xfrm>
            <a:off x="548640" y="2834640"/>
            <a:ext cx="2514600" cy="411480"/>
          </a:xfrm>
          <a:prstGeom prst="rect">
            <a:avLst/>
          </a:prstGeom>
          <a:noFill/>
          <a:ln/>
        </p:spPr>
        <p:txBody>
          <a:bodyPr wrap="square" lIns="0" tIns="0" rIns="0" bIns="0" rtlCol="0" anchor="ctr"/>
          <a:lstStyle/>
          <a:p>
            <a:pPr algn="ctr" indent="0" marL="0">
              <a:buNone/>
            </a:pPr>
            <a:r>
              <a:rPr lang="en-US" sz="1700" b="1" dirty="0">
                <a:solidFill>
                  <a:srgbClr val="0B2545"/>
                </a:solidFill>
                <a:latin typeface="Arial" pitchFamily="34" charset="0"/>
                <a:ea typeface="Arial" pitchFamily="34" charset="-122"/>
                <a:cs typeface="Arial" pitchFamily="34" charset="-120"/>
              </a:rPr>
              <a:t>Reader files a form</a:t>
            </a:r>
            <a:endParaRPr lang="en-US" sz="1700" dirty="0"/>
          </a:p>
        </p:txBody>
      </p:sp>
      <p:sp>
        <p:nvSpPr>
          <p:cNvPr id="9" name="Text 6"/>
          <p:cNvSpPr txBox="1"/>
          <p:nvPr/>
        </p:nvSpPr>
        <p:spPr>
          <a:xfrm>
            <a:off x="640080" y="3246120"/>
            <a:ext cx="2331720" cy="868680"/>
          </a:xfrm>
          <a:prstGeom prst="rect">
            <a:avLst/>
          </a:prstGeom>
          <a:noFill/>
          <a:ln/>
        </p:spPr>
        <p:txBody>
          <a:bodyPr wrap="square" lIns="0" tIns="0" rIns="0" bIns="0" rtlCol="0" anchor="t"/>
          <a:lstStyle/>
          <a:p>
            <a:pPr algn="ctr" indent="0" marL="0">
              <a:buNone/>
            </a:pPr>
            <a:r>
              <a:rPr lang="en-US" sz="1350" dirty="0">
                <a:solidFill>
                  <a:srgbClr val="5B6678"/>
                </a:solidFill>
                <a:latin typeface="Calibri" pitchFamily="34" charset="0"/>
                <a:ea typeface="Calibri" pitchFamily="34" charset="-122"/>
                <a:cs typeface="Calibri" pitchFamily="34" charset="-120"/>
              </a:rPr>
              <a:t>“Flag an error” or “Suggest a story” link on the site</a:t>
            </a:r>
            <a:endParaRPr lang="en-US" sz="1350" dirty="0"/>
          </a:p>
        </p:txBody>
      </p:sp>
      <p:sp>
        <p:nvSpPr>
          <p:cNvPr id="10" name="Text 7"/>
          <p:cNvSpPr txBox="1"/>
          <p:nvPr/>
        </p:nvSpPr>
        <p:spPr>
          <a:xfrm>
            <a:off x="3063240" y="2011680"/>
            <a:ext cx="365760" cy="548640"/>
          </a:xfrm>
          <a:prstGeom prst="rect">
            <a:avLst/>
          </a:prstGeom>
          <a:noFill/>
          <a:ln/>
        </p:spPr>
        <p:txBody>
          <a:bodyPr wrap="square" lIns="0" tIns="0" rIns="0" bIns="0" rtlCol="0" anchor="ctr"/>
          <a:lstStyle/>
          <a:p>
            <a:pPr algn="ctr" indent="0" marL="0">
              <a:buNone/>
            </a:pPr>
            <a:r>
              <a:rPr lang="en-US" sz="2800" b="1" dirty="0">
                <a:solidFill>
                  <a:srgbClr val="2A78D6"/>
                </a:solidFill>
              </a:rPr>
              <a:t>→</a:t>
            </a:r>
            <a:endParaRPr lang="en-US" sz="2800" dirty="0"/>
          </a:p>
        </p:txBody>
      </p:sp>
      <p:sp>
        <p:nvSpPr>
          <p:cNvPr id="11" name="Shape 8"/>
          <p:cNvSpPr/>
          <p:nvPr/>
        </p:nvSpPr>
        <p:spPr>
          <a:xfrm>
            <a:off x="4251960" y="1874520"/>
            <a:ext cx="868680" cy="868680"/>
          </a:xfrm>
          <a:prstGeom prst="ellipse">
            <a:avLst/>
          </a:prstGeom>
          <a:solidFill>
            <a:srgbClr val="2A78D6"/>
          </a:solidFill>
          <a:ln w="12700">
            <a:solidFill>
              <a:srgbClr val="2A78D6"/>
            </a:solidFill>
            <a:prstDash val="solid"/>
          </a:ln>
        </p:spPr>
      </p:sp>
      <p:pic>
        <p:nvPicPr>
          <p:cNvPr id="12" name="Image 1" descr="preencoded.png">    </p:cNvPr>
          <p:cNvPicPr>
            <a:picLocks noChangeAspect="1"/>
          </p:cNvPicPr>
          <p:nvPr/>
        </p:nvPicPr>
        <p:blipFill>
          <a:blip r:embed="rId2"/>
          <a:stretch>
            <a:fillRect/>
          </a:stretch>
        </p:blipFill>
        <p:spPr>
          <a:xfrm>
            <a:off x="4460443" y="2083003"/>
            <a:ext cx="451714" cy="451714"/>
          </a:xfrm>
          <a:prstGeom prst="rect">
            <a:avLst/>
          </a:prstGeom>
        </p:spPr>
      </p:pic>
      <p:sp>
        <p:nvSpPr>
          <p:cNvPr id="13" name="Text 9"/>
          <p:cNvSpPr txBox="1"/>
          <p:nvPr/>
        </p:nvSpPr>
        <p:spPr>
          <a:xfrm>
            <a:off x="3429000" y="2834640"/>
            <a:ext cx="2514600" cy="411480"/>
          </a:xfrm>
          <a:prstGeom prst="rect">
            <a:avLst/>
          </a:prstGeom>
          <a:noFill/>
          <a:ln/>
        </p:spPr>
        <p:txBody>
          <a:bodyPr wrap="square" lIns="0" tIns="0" rIns="0" bIns="0" rtlCol="0" anchor="ctr"/>
          <a:lstStyle/>
          <a:p>
            <a:pPr algn="ctr" indent="0" marL="0">
              <a:buNone/>
            </a:pPr>
            <a:r>
              <a:rPr lang="en-US" sz="1700" b="1" dirty="0">
                <a:solidFill>
                  <a:srgbClr val="0B2545"/>
                </a:solidFill>
                <a:latin typeface="Arial" pitchFamily="34" charset="0"/>
                <a:ea typeface="Arial" pitchFamily="34" charset="-122"/>
                <a:cs typeface="Arial" pitchFamily="34" charset="-120"/>
              </a:rPr>
              <a:t>Claude triages</a:t>
            </a:r>
            <a:endParaRPr lang="en-US" sz="1700" dirty="0"/>
          </a:p>
        </p:txBody>
      </p:sp>
      <p:sp>
        <p:nvSpPr>
          <p:cNvPr id="14" name="Text 10"/>
          <p:cNvSpPr txBox="1"/>
          <p:nvPr/>
        </p:nvSpPr>
        <p:spPr>
          <a:xfrm>
            <a:off x="3520440" y="3246120"/>
            <a:ext cx="2331720" cy="868680"/>
          </a:xfrm>
          <a:prstGeom prst="rect">
            <a:avLst/>
          </a:prstGeom>
          <a:noFill/>
          <a:ln/>
        </p:spPr>
        <p:txBody>
          <a:bodyPr wrap="square" lIns="0" tIns="0" rIns="0" bIns="0" rtlCol="0" anchor="t"/>
          <a:lstStyle/>
          <a:p>
            <a:pPr algn="ctr" indent="0" marL="0">
              <a:buNone/>
            </a:pPr>
            <a:r>
              <a:rPr lang="en-US" sz="1350" dirty="0">
                <a:solidFill>
                  <a:srgbClr val="5B6678"/>
                </a:solidFill>
                <a:latin typeface="Calibri" pitchFamily="34" charset="0"/>
                <a:ea typeface="Calibri" pitchFamily="34" charset="-122"/>
                <a:cs typeface="Calibri" pitchFamily="34" charset="-120"/>
              </a:rPr>
              <a:t>Checks the claim against the data and the sources; posts a verdict</a:t>
            </a:r>
            <a:endParaRPr lang="en-US" sz="1350" dirty="0"/>
          </a:p>
        </p:txBody>
      </p:sp>
      <p:sp>
        <p:nvSpPr>
          <p:cNvPr id="15" name="Text 11"/>
          <p:cNvSpPr txBox="1"/>
          <p:nvPr/>
        </p:nvSpPr>
        <p:spPr>
          <a:xfrm>
            <a:off x="5943600" y="2011680"/>
            <a:ext cx="365760" cy="548640"/>
          </a:xfrm>
          <a:prstGeom prst="rect">
            <a:avLst/>
          </a:prstGeom>
          <a:noFill/>
          <a:ln/>
        </p:spPr>
        <p:txBody>
          <a:bodyPr wrap="square" lIns="0" tIns="0" rIns="0" bIns="0" rtlCol="0" anchor="ctr"/>
          <a:lstStyle/>
          <a:p>
            <a:pPr algn="ctr" indent="0" marL="0">
              <a:buNone/>
            </a:pPr>
            <a:r>
              <a:rPr lang="en-US" sz="2800" b="1" dirty="0">
                <a:solidFill>
                  <a:srgbClr val="2A78D6"/>
                </a:solidFill>
              </a:rPr>
              <a:t>→</a:t>
            </a:r>
            <a:endParaRPr lang="en-US" sz="2800" dirty="0"/>
          </a:p>
        </p:txBody>
      </p:sp>
      <p:sp>
        <p:nvSpPr>
          <p:cNvPr id="16" name="Shape 12"/>
          <p:cNvSpPr/>
          <p:nvPr/>
        </p:nvSpPr>
        <p:spPr>
          <a:xfrm>
            <a:off x="7132320" y="1874520"/>
            <a:ext cx="868680" cy="868680"/>
          </a:xfrm>
          <a:prstGeom prst="ellipse">
            <a:avLst/>
          </a:prstGeom>
          <a:solidFill>
            <a:srgbClr val="E8A33D"/>
          </a:solidFill>
          <a:ln w="12700">
            <a:solidFill>
              <a:srgbClr val="E8A33D"/>
            </a:solidFill>
            <a:prstDash val="solid"/>
          </a:ln>
        </p:spPr>
      </p:sp>
      <p:pic>
        <p:nvPicPr>
          <p:cNvPr id="17" name="Image 2" descr="preencoded.png">    </p:cNvPr>
          <p:cNvPicPr>
            <a:picLocks noChangeAspect="1"/>
          </p:cNvPicPr>
          <p:nvPr/>
        </p:nvPicPr>
        <p:blipFill>
          <a:blip r:embed="rId3"/>
          <a:stretch>
            <a:fillRect/>
          </a:stretch>
        </p:blipFill>
        <p:spPr>
          <a:xfrm>
            <a:off x="7340803" y="2083003"/>
            <a:ext cx="451714" cy="451714"/>
          </a:xfrm>
          <a:prstGeom prst="rect">
            <a:avLst/>
          </a:prstGeom>
        </p:spPr>
      </p:pic>
      <p:sp>
        <p:nvSpPr>
          <p:cNvPr id="18" name="Text 13"/>
          <p:cNvSpPr txBox="1"/>
          <p:nvPr/>
        </p:nvSpPr>
        <p:spPr>
          <a:xfrm>
            <a:off x="6309360" y="2834640"/>
            <a:ext cx="2514600" cy="411480"/>
          </a:xfrm>
          <a:prstGeom prst="rect">
            <a:avLst/>
          </a:prstGeom>
          <a:noFill/>
          <a:ln/>
        </p:spPr>
        <p:txBody>
          <a:bodyPr wrap="square" lIns="0" tIns="0" rIns="0" bIns="0" rtlCol="0" anchor="ctr"/>
          <a:lstStyle/>
          <a:p>
            <a:pPr algn="ctr" indent="0" marL="0">
              <a:buNone/>
            </a:pPr>
            <a:r>
              <a:rPr lang="en-US" sz="1700" b="1" dirty="0">
                <a:solidFill>
                  <a:srgbClr val="0B2545"/>
                </a:solidFill>
                <a:latin typeface="Arial" pitchFamily="34" charset="0"/>
                <a:ea typeface="Arial" pitchFamily="34" charset="-122"/>
                <a:cs typeface="Arial" pitchFamily="34" charset="-120"/>
              </a:rPr>
              <a:t>Human decides</a:t>
            </a:r>
            <a:endParaRPr lang="en-US" sz="1700" dirty="0"/>
          </a:p>
        </p:txBody>
      </p:sp>
      <p:sp>
        <p:nvSpPr>
          <p:cNvPr id="19" name="Text 14"/>
          <p:cNvSpPr txBox="1"/>
          <p:nvPr/>
        </p:nvSpPr>
        <p:spPr>
          <a:xfrm>
            <a:off x="6400800" y="3246120"/>
            <a:ext cx="2331720" cy="868680"/>
          </a:xfrm>
          <a:prstGeom prst="rect">
            <a:avLst/>
          </a:prstGeom>
          <a:noFill/>
          <a:ln/>
        </p:spPr>
        <p:txBody>
          <a:bodyPr wrap="square" lIns="0" tIns="0" rIns="0" bIns="0" rtlCol="0" anchor="t"/>
          <a:lstStyle/>
          <a:p>
            <a:pPr algn="ctr" indent="0" marL="0">
              <a:buNone/>
            </a:pPr>
            <a:r>
              <a:rPr lang="en-US" sz="1350" dirty="0">
                <a:solidFill>
                  <a:srgbClr val="5B6678"/>
                </a:solidFill>
                <a:latin typeface="Calibri" pitchFamily="34" charset="0"/>
                <a:ea typeface="Calibri" pitchFamily="34" charset="-122"/>
                <a:cs typeface="Calibri" pitchFamily="34" charset="-120"/>
              </a:rPr>
              <a:t>Maintainer asks Claude Code to apply accepted fixes</a:t>
            </a:r>
            <a:endParaRPr lang="en-US" sz="1350" dirty="0"/>
          </a:p>
        </p:txBody>
      </p:sp>
      <p:sp>
        <p:nvSpPr>
          <p:cNvPr id="20" name="Text 15"/>
          <p:cNvSpPr txBox="1"/>
          <p:nvPr/>
        </p:nvSpPr>
        <p:spPr>
          <a:xfrm>
            <a:off x="8823960" y="2011680"/>
            <a:ext cx="365760" cy="548640"/>
          </a:xfrm>
          <a:prstGeom prst="rect">
            <a:avLst/>
          </a:prstGeom>
          <a:noFill/>
          <a:ln/>
        </p:spPr>
        <p:txBody>
          <a:bodyPr wrap="square" lIns="0" tIns="0" rIns="0" bIns="0" rtlCol="0" anchor="ctr"/>
          <a:lstStyle/>
          <a:p>
            <a:pPr algn="ctr" indent="0" marL="0">
              <a:buNone/>
            </a:pPr>
            <a:r>
              <a:rPr lang="en-US" sz="2800" b="1" dirty="0">
                <a:solidFill>
                  <a:srgbClr val="2A78D6"/>
                </a:solidFill>
              </a:rPr>
              <a:t>→</a:t>
            </a:r>
            <a:endParaRPr lang="en-US" sz="2800" dirty="0"/>
          </a:p>
        </p:txBody>
      </p:sp>
      <p:sp>
        <p:nvSpPr>
          <p:cNvPr id="21" name="Shape 16"/>
          <p:cNvSpPr/>
          <p:nvPr/>
        </p:nvSpPr>
        <p:spPr>
          <a:xfrm>
            <a:off x="10012680" y="1874520"/>
            <a:ext cx="868680" cy="868680"/>
          </a:xfrm>
          <a:prstGeom prst="ellipse">
            <a:avLst/>
          </a:prstGeom>
          <a:solidFill>
            <a:srgbClr val="2A78D6"/>
          </a:solidFill>
          <a:ln w="12700">
            <a:solidFill>
              <a:srgbClr val="2A78D6"/>
            </a:solidFill>
            <a:prstDash val="solid"/>
          </a:ln>
        </p:spPr>
      </p:sp>
      <p:pic>
        <p:nvPicPr>
          <p:cNvPr id="22" name="Image 3" descr="preencoded.png">    </p:cNvPr>
          <p:cNvPicPr>
            <a:picLocks noChangeAspect="1"/>
          </p:cNvPicPr>
          <p:nvPr/>
        </p:nvPicPr>
        <p:blipFill>
          <a:blip r:embed="rId4"/>
          <a:stretch>
            <a:fillRect/>
          </a:stretch>
        </p:blipFill>
        <p:spPr>
          <a:xfrm>
            <a:off x="10221163" y="2083003"/>
            <a:ext cx="451714" cy="451714"/>
          </a:xfrm>
          <a:prstGeom prst="rect">
            <a:avLst/>
          </a:prstGeom>
        </p:spPr>
      </p:pic>
      <p:sp>
        <p:nvSpPr>
          <p:cNvPr id="23" name="Text 17"/>
          <p:cNvSpPr txBox="1"/>
          <p:nvPr/>
        </p:nvSpPr>
        <p:spPr>
          <a:xfrm>
            <a:off x="9189720" y="2834640"/>
            <a:ext cx="2514600" cy="411480"/>
          </a:xfrm>
          <a:prstGeom prst="rect">
            <a:avLst/>
          </a:prstGeom>
          <a:noFill/>
          <a:ln/>
        </p:spPr>
        <p:txBody>
          <a:bodyPr wrap="square" lIns="0" tIns="0" rIns="0" bIns="0" rtlCol="0" anchor="ctr"/>
          <a:lstStyle/>
          <a:p>
            <a:pPr algn="ctr" indent="0" marL="0">
              <a:buNone/>
            </a:pPr>
            <a:r>
              <a:rPr lang="en-US" sz="1700" b="1" dirty="0">
                <a:solidFill>
                  <a:srgbClr val="0B2545"/>
                </a:solidFill>
                <a:latin typeface="Arial" pitchFamily="34" charset="0"/>
                <a:ea typeface="Arial" pitchFamily="34" charset="-122"/>
                <a:cs typeface="Arial" pitchFamily="34" charset="-120"/>
              </a:rPr>
              <a:t>Fix ships</a:t>
            </a:r>
            <a:endParaRPr lang="en-US" sz="1700" dirty="0"/>
          </a:p>
        </p:txBody>
      </p:sp>
      <p:sp>
        <p:nvSpPr>
          <p:cNvPr id="24" name="Text 18"/>
          <p:cNvSpPr txBox="1"/>
          <p:nvPr/>
        </p:nvSpPr>
        <p:spPr>
          <a:xfrm>
            <a:off x="9281160" y="3246120"/>
            <a:ext cx="2331720" cy="868680"/>
          </a:xfrm>
          <a:prstGeom prst="rect">
            <a:avLst/>
          </a:prstGeom>
          <a:noFill/>
          <a:ln/>
        </p:spPr>
        <p:txBody>
          <a:bodyPr wrap="square" lIns="0" tIns="0" rIns="0" bIns="0" rtlCol="0" anchor="t"/>
          <a:lstStyle/>
          <a:p>
            <a:pPr algn="ctr" indent="0" marL="0">
              <a:buNone/>
            </a:pPr>
            <a:r>
              <a:rPr lang="en-US" sz="1350" dirty="0">
                <a:solidFill>
                  <a:srgbClr val="5B6678"/>
                </a:solidFill>
                <a:latin typeface="Calibri" pitchFamily="34" charset="0"/>
                <a:ea typeface="Calibri" pitchFamily="34" charset="-122"/>
                <a:cs typeface="Calibri" pitchFamily="34" charset="-120"/>
              </a:rPr>
              <a:t>Commit references the issue; site redeploys</a:t>
            </a:r>
            <a:endParaRPr lang="en-US" sz="1350" dirty="0"/>
          </a:p>
        </p:txBody>
      </p:sp>
      <p:sp>
        <p:nvSpPr>
          <p:cNvPr id="25" name="Shape 19"/>
          <p:cNvSpPr/>
          <p:nvPr/>
        </p:nvSpPr>
        <p:spPr>
          <a:xfrm>
            <a:off x="548640" y="4343400"/>
            <a:ext cx="11091672" cy="1325880"/>
          </a:xfrm>
          <a:prstGeom prst="roundRect">
            <a:avLst>
              <a:gd name="adj" fmla="val 8276"/>
            </a:avLst>
          </a:prstGeom>
          <a:solidFill>
            <a:srgbClr val="FFFFFF"/>
          </a:solidFill>
          <a:ln w="9525">
            <a:solidFill>
              <a:srgbClr val="E1E6EE"/>
            </a:solidFill>
            <a:prstDash val="solid"/>
          </a:ln>
          <a:effectLst>
            <a:outerShdw sx="100000" sy="100000" kx="0" ky="0" algn="bl" rotWithShape="0" blurRad="101600" dist="25400" dir="5400000">
              <a:srgbClr val="000000">
                <a:alpha val="12000"/>
              </a:srgbClr>
            </a:outerShdw>
          </a:effectLst>
        </p:spPr>
      </p:sp>
      <p:sp>
        <p:nvSpPr>
          <p:cNvPr id="26" name="Text 20"/>
          <p:cNvSpPr txBox="1"/>
          <p:nvPr/>
        </p:nvSpPr>
        <p:spPr>
          <a:xfrm>
            <a:off x="822960" y="4480560"/>
            <a:ext cx="2743200" cy="365760"/>
          </a:xfrm>
          <a:prstGeom prst="rect">
            <a:avLst/>
          </a:prstGeom>
          <a:noFill/>
          <a:ln/>
        </p:spPr>
        <p:txBody>
          <a:bodyPr wrap="square" lIns="0" tIns="0" rIns="0" bIns="0" rtlCol="0" anchor="ctr"/>
          <a:lstStyle/>
          <a:p>
            <a:pPr indent="0" marL="0">
              <a:buNone/>
            </a:pPr>
            <a:r>
              <a:rPr lang="en-US" sz="1500" b="1" dirty="0">
                <a:solidFill>
                  <a:srgbClr val="2A78D6"/>
                </a:solidFill>
                <a:latin typeface="Arial" pitchFamily="34" charset="0"/>
                <a:ea typeface="Arial" pitchFamily="34" charset="-122"/>
                <a:cs typeface="Arial" pitchFamily="34" charset="-120"/>
              </a:rPr>
              <a:t>Real examples</a:t>
            </a:r>
            <a:endParaRPr lang="en-US" sz="1500" dirty="0"/>
          </a:p>
        </p:txBody>
      </p:sp>
      <p:sp>
        <p:nvSpPr>
          <p:cNvPr id="27" name="Text 21"/>
          <p:cNvSpPr txBox="1"/>
          <p:nvPr/>
        </p:nvSpPr>
        <p:spPr>
          <a:xfrm>
            <a:off x="822960" y="4846320"/>
            <a:ext cx="10607040" cy="731520"/>
          </a:xfrm>
          <a:prstGeom prst="rect">
            <a:avLst/>
          </a:prstGeom>
          <a:noFill/>
          <a:ln/>
        </p:spPr>
        <p:txBody>
          <a:bodyPr wrap="square" lIns="0" tIns="0" rIns="0" bIns="0" rtlCol="0" anchor="t"/>
          <a:lstStyle/>
          <a:p>
            <a:pPr indent="0" marL="0">
              <a:buNone/>
            </a:pPr>
            <a:r>
              <a:rPr lang="en-US" sz="1400" dirty="0">
                <a:solidFill>
                  <a:srgbClr val="1A2230"/>
                </a:solidFill>
                <a:latin typeface="Calibri" pitchFamily="34" charset="0"/>
                <a:ea typeface="Calibri" pitchFamily="34" charset="-122"/>
                <a:cs typeface="Calibri" pitchFamily="34" charset="-120"/>
              </a:rPr>
              <a:t>Odessa was in Missouri, not Texas (#7).  Nine copies of one article on nine hostnames merged (#16).  A missed Sacramento homicide added (#25).  The dedupe step was hardened after follow-up coverage kept slipping through (#21).</a:t>
            </a:r>
            <a:endParaRPr lang="en-US" sz="1400" dirty="0"/>
          </a:p>
        </p:txBody>
      </p:sp>
      <p:sp>
        <p:nvSpPr>
          <p:cNvPr id="28" name="Shape 22"/>
          <p:cNvSpPr/>
          <p:nvPr/>
        </p:nvSpPr>
        <p:spPr>
          <a:xfrm>
            <a:off x="548640" y="5897880"/>
            <a:ext cx="11091672" cy="566928"/>
          </a:xfrm>
          <a:prstGeom prst="roundRect">
            <a:avLst>
              <a:gd name="adj" fmla="val 16129"/>
            </a:avLst>
          </a:prstGeom>
          <a:solidFill>
            <a:srgbClr val="FDF3E2"/>
          </a:solidFill>
          <a:ln w="9525">
            <a:solidFill>
              <a:srgbClr val="F3D9A8"/>
            </a:solidFill>
            <a:prstDash val="solid"/>
          </a:ln>
        </p:spPr>
      </p:sp>
      <p:sp>
        <p:nvSpPr>
          <p:cNvPr id="29" name="Text 23"/>
          <p:cNvSpPr txBox="1"/>
          <p:nvPr/>
        </p:nvSpPr>
        <p:spPr>
          <a:xfrm>
            <a:off x="777240" y="5897880"/>
            <a:ext cx="10698480" cy="566928"/>
          </a:xfrm>
          <a:prstGeom prst="rect">
            <a:avLst/>
          </a:prstGeom>
          <a:noFill/>
          <a:ln/>
        </p:spPr>
        <p:txBody>
          <a:bodyPr wrap="square" lIns="0" tIns="0" rIns="0" bIns="0" rtlCol="0" anchor="ctr"/>
          <a:lstStyle/>
          <a:p>
            <a:pPr indent="0" marL="0">
              <a:buNone/>
            </a:pPr>
            <a:r>
              <a:rPr lang="en-US" sz="1600" b="1" dirty="0">
                <a:solidFill>
                  <a:srgbClr val="8A5A12"/>
                </a:solidFill>
                <a:latin typeface="Calibri" pitchFamily="34" charset="0"/>
                <a:ea typeface="Calibri" pitchFamily="34" charset="-122"/>
                <a:cs typeface="Calibri" pitchFamily="34" charset="-120"/>
              </a:rPr>
              <a:t>Lesson: </a:t>
            </a:r>
            <a:pPr indent="0" marL="0">
              <a:buNone/>
            </a:pPr>
            <a:r>
              <a:rPr lang="en-US" sz="1600" dirty="0">
                <a:solidFill>
                  <a:srgbClr val="1A2230"/>
                </a:solidFill>
                <a:latin typeface="Calibri" pitchFamily="34" charset="0"/>
                <a:ea typeface="Calibri" pitchFamily="34" charset="-122"/>
                <a:cs typeface="Calibri" pitchFamily="34" charset="-120"/>
              </a:rPr>
              <a:t>Give the AI bot read-only power. A human approves every change to the data.</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0B2545"/>
                </a:solidFill>
                <a:latin typeface="Arial" pitchFamily="34" charset="0"/>
                <a:ea typeface="Arial" pitchFamily="34" charset="-122"/>
                <a:cs typeface="Arial" pitchFamily="34" charset="-120"/>
              </a:rPr>
              <a:t>Prompts that work</a:t>
            </a:r>
            <a:endParaRPr lang="en-US" sz="3400" dirty="0"/>
          </a:p>
        </p:txBody>
      </p:sp>
      <p:sp>
        <p:nvSpPr>
          <p:cNvPr id="3" name="Text 1"/>
          <p:cNvSpPr txBox="1"/>
          <p:nvPr/>
        </p:nvSpPr>
        <p:spPr>
          <a:xfrm>
            <a:off x="548640" y="1097280"/>
            <a:ext cx="11064240" cy="411480"/>
          </a:xfrm>
          <a:prstGeom prst="rect">
            <a:avLst/>
          </a:prstGeom>
          <a:noFill/>
          <a:ln/>
        </p:spPr>
        <p:txBody>
          <a:bodyPr wrap="square" lIns="0" tIns="0" rIns="0" bIns="0" rtlCol="0" anchor="ctr"/>
          <a:lstStyle/>
          <a:p>
            <a:pPr indent="0" marL="0">
              <a:buNone/>
            </a:pPr>
            <a:r>
              <a:rPr lang="en-US" sz="1700" i="1" dirty="0">
                <a:solidFill>
                  <a:srgbClr val="5B6678"/>
                </a:solidFill>
                <a:latin typeface="Calibri" pitchFamily="34" charset="0"/>
                <a:ea typeface="Calibri" pitchFamily="34" charset="-122"/>
                <a:cs typeface="Calibri" pitchFamily="34" charset="-120"/>
              </a:rPr>
              <a:t>Habits drawn from this project</a:t>
            </a:r>
            <a:endParaRPr lang="en-US" sz="1700" dirty="0"/>
          </a:p>
        </p:txBody>
      </p:sp>
      <p:sp>
        <p:nvSpPr>
          <p:cNvPr id="4" name="Shape 2"/>
          <p:cNvSpPr/>
          <p:nvPr/>
        </p:nvSpPr>
        <p:spPr>
          <a:xfrm>
            <a:off x="548640" y="1783080"/>
            <a:ext cx="5394960" cy="4526280"/>
          </a:xfrm>
          <a:prstGeom prst="roundRect">
            <a:avLst>
              <a:gd name="adj" fmla="val 2424"/>
            </a:avLst>
          </a:prstGeom>
          <a:solidFill>
            <a:srgbClr val="FFFFFF"/>
          </a:solidFill>
          <a:ln w="9525">
            <a:solidFill>
              <a:srgbClr val="E1E6EE"/>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868680" y="2011680"/>
            <a:ext cx="640080" cy="640080"/>
          </a:xfrm>
          <a:prstGeom prst="ellipse">
            <a:avLst/>
          </a:prstGeom>
          <a:solidFill>
            <a:srgbClr val="E3F2EA"/>
          </a:solidFill>
          <a:ln w="12700">
            <a:solidFill>
              <a:srgbClr val="E3F2EA"/>
            </a:solidFill>
            <a:prstDash val="solid"/>
          </a:ln>
        </p:spPr>
      </p:sp>
      <p:pic>
        <p:nvPicPr>
          <p:cNvPr id="6" name="Image 0" descr="preencoded.png">    </p:cNvPr>
          <p:cNvPicPr>
            <a:picLocks noChangeAspect="1"/>
          </p:cNvPicPr>
          <p:nvPr/>
        </p:nvPicPr>
        <p:blipFill>
          <a:blip r:embed="rId1"/>
          <a:stretch>
            <a:fillRect/>
          </a:stretch>
        </p:blipFill>
        <p:spPr>
          <a:xfrm>
            <a:off x="1022299" y="2165299"/>
            <a:ext cx="332842" cy="332842"/>
          </a:xfrm>
          <a:prstGeom prst="rect">
            <a:avLst/>
          </a:prstGeom>
        </p:spPr>
      </p:pic>
      <p:sp>
        <p:nvSpPr>
          <p:cNvPr id="7" name="Text 4"/>
          <p:cNvSpPr txBox="1"/>
          <p:nvPr/>
        </p:nvSpPr>
        <p:spPr>
          <a:xfrm>
            <a:off x="1691640" y="2011680"/>
            <a:ext cx="2743200" cy="640080"/>
          </a:xfrm>
          <a:prstGeom prst="rect">
            <a:avLst/>
          </a:prstGeom>
          <a:noFill/>
          <a:ln/>
        </p:spPr>
        <p:txBody>
          <a:bodyPr wrap="square" lIns="0" tIns="0" rIns="0" bIns="0" rtlCol="0" anchor="ctr"/>
          <a:lstStyle/>
          <a:p>
            <a:pPr indent="0" marL="0">
              <a:buNone/>
            </a:pPr>
            <a:r>
              <a:rPr lang="en-US" sz="2200" b="1" dirty="0">
                <a:solidFill>
                  <a:srgbClr val="2E8B57"/>
                </a:solidFill>
                <a:latin typeface="Arial" pitchFamily="34" charset="0"/>
                <a:ea typeface="Arial" pitchFamily="34" charset="-122"/>
                <a:cs typeface="Arial" pitchFamily="34" charset="-120"/>
              </a:rPr>
              <a:t>Do</a:t>
            </a:r>
            <a:endParaRPr lang="en-US" sz="2200" dirty="0"/>
          </a:p>
        </p:txBody>
      </p:sp>
      <p:sp>
        <p:nvSpPr>
          <p:cNvPr id="8" name="Text 5"/>
          <p:cNvSpPr txBox="1"/>
          <p:nvPr/>
        </p:nvSpPr>
        <p:spPr>
          <a:xfrm>
            <a:off x="868680" y="2926080"/>
            <a:ext cx="4800600" cy="3246120"/>
          </a:xfrm>
          <a:prstGeom prst="rect">
            <a:avLst/>
          </a:prstGeom>
          <a:noFill/>
          <a:ln/>
        </p:spPr>
        <p:txBody>
          <a:bodyPr wrap="square" lIns="0" tIns="0" rIns="0" bIns="0" rtlCol="0" anchor="t"/>
          <a:lstStyle/>
          <a:p>
            <a:pPr marL="342900" indent="-342900">
              <a:spcAft>
                <a:spcPts val="1600"/>
              </a:spcAft>
              <a:buSzPct val="100000"/>
              <a:buChar char="•"/>
            </a:pPr>
            <a:r>
              <a:rPr lang="en-US" sz="1800" dirty="0">
                <a:solidFill>
                  <a:srgbClr val="1A2230"/>
                </a:solidFill>
                <a:latin typeface="Calibri" pitchFamily="34" charset="0"/>
                <a:ea typeface="Calibri" pitchFamily="34" charset="-122"/>
                <a:cs typeface="Calibri" pitchFamily="34" charset="-120"/>
              </a:rPr>
              <a:t>“This row is a duplicate of 412. Merge them, then find why dedupe missed it.”</a:t>
            </a:r>
            <a:endParaRPr lang="en-US" sz="1800" dirty="0"/>
          </a:p>
          <a:p>
            <a:pPr marL="342900" indent="-342900">
              <a:spcAft>
                <a:spcPts val="1600"/>
              </a:spcAft>
              <a:buSzPct val="100000"/>
              <a:buChar char="•"/>
            </a:pPr>
            <a:r>
              <a:rPr lang="en-US" sz="1800" dirty="0">
                <a:solidFill>
                  <a:srgbClr val="1A2230"/>
                </a:solidFill>
                <a:latin typeface="Calibri" pitchFamily="34" charset="0"/>
                <a:ea typeface="Calibri" pitchFamily="34" charset="-122"/>
                <a:cs typeface="Calibri" pitchFamily="34" charset="-120"/>
              </a:rPr>
              <a:t>“Explain what you'll change before you change it.”</a:t>
            </a:r>
            <a:endParaRPr lang="en-US" sz="1800" dirty="0"/>
          </a:p>
          <a:p>
            <a:pPr marL="342900" indent="-342900">
              <a:spcAft>
                <a:spcPts val="1600"/>
              </a:spcAft>
              <a:buSzPct val="100000"/>
              <a:buChar char="•"/>
            </a:pPr>
            <a:r>
              <a:rPr lang="en-US" sz="1800" dirty="0">
                <a:solidFill>
                  <a:srgbClr val="1A2230"/>
                </a:solidFill>
                <a:latin typeface="Calibri" pitchFamily="34" charset="0"/>
                <a:ea typeface="Calibri" pitchFamily="34" charset="-122"/>
                <a:cs typeface="Calibri" pitchFamily="34" charset="-120"/>
              </a:rPr>
              <a:t>“Add a check that fails loudly if this happens again.”</a:t>
            </a:r>
            <a:endParaRPr lang="en-US" sz="1800" dirty="0"/>
          </a:p>
          <a:p>
            <a:pPr marL="342900" indent="-342900">
              <a:spcAft>
                <a:spcPts val="1600"/>
              </a:spcAft>
              <a:buSzPct val="100000"/>
              <a:buChar char="•"/>
            </a:pPr>
            <a:r>
              <a:rPr lang="en-US" sz="1800" dirty="0">
                <a:solidFill>
                  <a:srgbClr val="1A2230"/>
                </a:solidFill>
                <a:latin typeface="Calibri" pitchFamily="34" charset="0"/>
                <a:ea typeface="Calibri" pitchFamily="34" charset="-122"/>
                <a:cs typeface="Calibri" pitchFamily="34" charset="-120"/>
              </a:rPr>
              <a:t>“Take a screenshot of the page on a phone-sized screen.”</a:t>
            </a:r>
            <a:endParaRPr lang="en-US" sz="1800" dirty="0"/>
          </a:p>
        </p:txBody>
      </p:sp>
      <p:sp>
        <p:nvSpPr>
          <p:cNvPr id="9" name="Shape 6"/>
          <p:cNvSpPr/>
          <p:nvPr/>
        </p:nvSpPr>
        <p:spPr>
          <a:xfrm>
            <a:off x="6263640" y="1783080"/>
            <a:ext cx="5394960" cy="4526280"/>
          </a:xfrm>
          <a:prstGeom prst="roundRect">
            <a:avLst>
              <a:gd name="adj" fmla="val 2424"/>
            </a:avLst>
          </a:prstGeom>
          <a:solidFill>
            <a:srgbClr val="FFFFFF"/>
          </a:solidFill>
          <a:ln w="9525">
            <a:solidFill>
              <a:srgbClr val="E1E6EE"/>
            </a:solidFill>
            <a:prstDash val="solid"/>
          </a:ln>
          <a:effectLst>
            <a:outerShdw sx="100000" sy="100000" kx="0" ky="0" algn="bl" rotWithShape="0" blurRad="101600" dist="25400" dir="5400000">
              <a:srgbClr val="000000">
                <a:alpha val="12000"/>
              </a:srgbClr>
            </a:outerShdw>
          </a:effectLst>
        </p:spPr>
      </p:sp>
      <p:sp>
        <p:nvSpPr>
          <p:cNvPr id="10" name="Shape 7"/>
          <p:cNvSpPr/>
          <p:nvPr/>
        </p:nvSpPr>
        <p:spPr>
          <a:xfrm>
            <a:off x="6583680" y="2011680"/>
            <a:ext cx="640080" cy="640080"/>
          </a:xfrm>
          <a:prstGeom prst="ellipse">
            <a:avLst/>
          </a:prstGeom>
          <a:solidFill>
            <a:srgbClr val="F8E1DF"/>
          </a:solidFill>
          <a:ln w="12700">
            <a:solidFill>
              <a:srgbClr val="F8E1DF"/>
            </a:solidFill>
            <a:prstDash val="solid"/>
          </a:ln>
        </p:spPr>
      </p:sp>
      <p:pic>
        <p:nvPicPr>
          <p:cNvPr id="11" name="Image 1" descr="preencoded.png">    </p:cNvPr>
          <p:cNvPicPr>
            <a:picLocks noChangeAspect="1"/>
          </p:cNvPicPr>
          <p:nvPr/>
        </p:nvPicPr>
        <p:blipFill>
          <a:blip r:embed="rId2"/>
          <a:stretch>
            <a:fillRect/>
          </a:stretch>
        </p:blipFill>
        <p:spPr>
          <a:xfrm>
            <a:off x="6737299" y="2165299"/>
            <a:ext cx="332842" cy="332842"/>
          </a:xfrm>
          <a:prstGeom prst="rect">
            <a:avLst/>
          </a:prstGeom>
        </p:spPr>
      </p:pic>
      <p:sp>
        <p:nvSpPr>
          <p:cNvPr id="12" name="Text 8"/>
          <p:cNvSpPr txBox="1"/>
          <p:nvPr/>
        </p:nvSpPr>
        <p:spPr>
          <a:xfrm>
            <a:off x="7406640" y="2011680"/>
            <a:ext cx="2743200" cy="640080"/>
          </a:xfrm>
          <a:prstGeom prst="rect">
            <a:avLst/>
          </a:prstGeom>
          <a:noFill/>
          <a:ln/>
        </p:spPr>
        <p:txBody>
          <a:bodyPr wrap="square" lIns="0" tIns="0" rIns="0" bIns="0" rtlCol="0" anchor="ctr"/>
          <a:lstStyle/>
          <a:p>
            <a:pPr indent="0" marL="0">
              <a:buNone/>
            </a:pPr>
            <a:r>
              <a:rPr lang="en-US" sz="2200" b="1" dirty="0">
                <a:solidFill>
                  <a:srgbClr val="C8453B"/>
                </a:solidFill>
                <a:latin typeface="Arial" pitchFamily="34" charset="0"/>
                <a:ea typeface="Arial" pitchFamily="34" charset="-122"/>
                <a:cs typeface="Arial" pitchFamily="34" charset="-120"/>
              </a:rPr>
              <a:t>Avoid</a:t>
            </a:r>
            <a:endParaRPr lang="en-US" sz="2200" dirty="0"/>
          </a:p>
        </p:txBody>
      </p:sp>
      <p:sp>
        <p:nvSpPr>
          <p:cNvPr id="13" name="Text 9"/>
          <p:cNvSpPr txBox="1"/>
          <p:nvPr/>
        </p:nvSpPr>
        <p:spPr>
          <a:xfrm>
            <a:off x="6583680" y="2926080"/>
            <a:ext cx="4800600" cy="3246120"/>
          </a:xfrm>
          <a:prstGeom prst="rect">
            <a:avLst/>
          </a:prstGeom>
          <a:noFill/>
          <a:ln/>
        </p:spPr>
        <p:txBody>
          <a:bodyPr wrap="square" lIns="0" tIns="0" rIns="0" bIns="0" rtlCol="0" anchor="t"/>
          <a:lstStyle/>
          <a:p>
            <a:pPr marL="342900" indent="-342900">
              <a:spcAft>
                <a:spcPts val="1600"/>
              </a:spcAft>
              <a:buSzPct val="100000"/>
              <a:buChar char="•"/>
            </a:pPr>
            <a:r>
              <a:rPr lang="en-US" sz="1800" dirty="0">
                <a:solidFill>
                  <a:srgbClr val="1A2230"/>
                </a:solidFill>
                <a:latin typeface="Calibri" pitchFamily="34" charset="0"/>
                <a:ea typeface="Calibri" pitchFamily="34" charset="-122"/>
                <a:cs typeface="Calibri" pitchFamily="34" charset="-120"/>
              </a:rPr>
              <a:t>“Make it better.” (Better how?)</a:t>
            </a:r>
            <a:endParaRPr lang="en-US" sz="1800" dirty="0"/>
          </a:p>
          <a:p>
            <a:pPr marL="342900" indent="-342900">
              <a:spcAft>
                <a:spcPts val="1600"/>
              </a:spcAft>
              <a:buSzPct val="100000"/>
              <a:buChar char="•"/>
            </a:pPr>
            <a:r>
              <a:rPr lang="en-US" sz="1800" dirty="0">
                <a:solidFill>
                  <a:srgbClr val="1A2230"/>
                </a:solidFill>
                <a:latin typeface="Calibri" pitchFamily="34" charset="0"/>
                <a:ea typeface="Calibri" pitchFamily="34" charset="-122"/>
                <a:cs typeface="Calibri" pitchFamily="34" charset="-120"/>
              </a:rPr>
              <a:t>Ten unrelated changes in one message</a:t>
            </a:r>
            <a:endParaRPr lang="en-US" sz="1800" dirty="0"/>
          </a:p>
          <a:p>
            <a:pPr marL="342900" indent="-342900">
              <a:spcAft>
                <a:spcPts val="1600"/>
              </a:spcAft>
              <a:buSzPct val="100000"/>
              <a:buChar char="•"/>
            </a:pPr>
            <a:r>
              <a:rPr lang="en-US" sz="1800" dirty="0">
                <a:solidFill>
                  <a:srgbClr val="1A2230"/>
                </a:solidFill>
                <a:latin typeface="Calibri" pitchFamily="34" charset="0"/>
                <a:ea typeface="Calibri" pitchFamily="34" charset="-122"/>
                <a:cs typeface="Calibri" pitchFamily="34" charset="-120"/>
              </a:rPr>
              <a:t>Accepting a fix without asking why it broke</a:t>
            </a:r>
            <a:endParaRPr lang="en-US" sz="1800" dirty="0"/>
          </a:p>
          <a:p>
            <a:pPr marL="342900" indent="-342900">
              <a:spcAft>
                <a:spcPts val="1600"/>
              </a:spcAft>
              <a:buSzPct val="100000"/>
              <a:buChar char="•"/>
            </a:pPr>
            <a:r>
              <a:rPr lang="en-US" sz="1800" dirty="0">
                <a:solidFill>
                  <a:srgbClr val="1A2230"/>
                </a:solidFill>
                <a:latin typeface="Calibri" pitchFamily="34" charset="0"/>
                <a:ea typeface="Calibri" pitchFamily="34" charset="-122"/>
                <a:cs typeface="Calibri" pitchFamily="34" charset="-120"/>
              </a:rPr>
              <a:t>Trusting AI-extracted data without spot-checking sources</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0B2545"/>
                </a:solidFill>
                <a:latin typeface="Arial" pitchFamily="34" charset="0"/>
                <a:ea typeface="Arial" pitchFamily="34" charset="-122"/>
                <a:cs typeface="Arial" pitchFamily="34" charset="-120"/>
              </a:rPr>
              <a:t>Watch out for</a:t>
            </a:r>
            <a:endParaRPr lang="en-US" sz="3400" dirty="0"/>
          </a:p>
        </p:txBody>
      </p:sp>
      <p:sp>
        <p:nvSpPr>
          <p:cNvPr id="3" name="Text 1"/>
          <p:cNvSpPr txBox="1"/>
          <p:nvPr/>
        </p:nvSpPr>
        <p:spPr>
          <a:xfrm>
            <a:off x="548640" y="1097280"/>
            <a:ext cx="11064240" cy="411480"/>
          </a:xfrm>
          <a:prstGeom prst="rect">
            <a:avLst/>
          </a:prstGeom>
          <a:noFill/>
          <a:ln/>
        </p:spPr>
        <p:txBody>
          <a:bodyPr wrap="square" lIns="0" tIns="0" rIns="0" bIns="0" rtlCol="0" anchor="ctr"/>
          <a:lstStyle/>
          <a:p>
            <a:pPr indent="0" marL="0">
              <a:buNone/>
            </a:pPr>
            <a:r>
              <a:rPr lang="en-US" sz="1700" i="1" dirty="0">
                <a:solidFill>
                  <a:srgbClr val="5B6678"/>
                </a:solidFill>
                <a:latin typeface="Calibri" pitchFamily="34" charset="0"/>
                <a:ea typeface="Calibri" pitchFamily="34" charset="-122"/>
                <a:cs typeface="Calibri" pitchFamily="34" charset="-120"/>
              </a:rPr>
              <a:t>You are still responsible for what gets published</a:t>
            </a:r>
            <a:endParaRPr lang="en-US" sz="1700" dirty="0"/>
          </a:p>
        </p:txBody>
      </p:sp>
      <p:sp>
        <p:nvSpPr>
          <p:cNvPr id="4" name="Shape 2"/>
          <p:cNvSpPr/>
          <p:nvPr/>
        </p:nvSpPr>
        <p:spPr>
          <a:xfrm>
            <a:off x="548640" y="1783080"/>
            <a:ext cx="731520" cy="731520"/>
          </a:xfrm>
          <a:prstGeom prst="ellipse">
            <a:avLst/>
          </a:prstGeom>
          <a:solidFill>
            <a:srgbClr val="FDF3E2"/>
          </a:solidFill>
          <a:ln w="12700">
            <a:solidFill>
              <a:srgbClr val="FDF3E2"/>
            </a:solidFill>
            <a:prstDash val="solid"/>
          </a:ln>
        </p:spPr>
      </p:sp>
      <p:pic>
        <p:nvPicPr>
          <p:cNvPr id="5" name="Image 0" descr="preencoded.png">    </p:cNvPr>
          <p:cNvPicPr>
            <a:picLocks noChangeAspect="1"/>
          </p:cNvPicPr>
          <p:nvPr/>
        </p:nvPicPr>
        <p:blipFill>
          <a:blip r:embed="rId1"/>
          <a:stretch>
            <a:fillRect/>
          </a:stretch>
        </p:blipFill>
        <p:spPr>
          <a:xfrm>
            <a:off x="724205" y="1958645"/>
            <a:ext cx="380390" cy="380390"/>
          </a:xfrm>
          <a:prstGeom prst="rect">
            <a:avLst/>
          </a:prstGeom>
        </p:spPr>
      </p:pic>
      <p:sp>
        <p:nvSpPr>
          <p:cNvPr id="6" name="Text 3"/>
          <p:cNvSpPr txBox="1"/>
          <p:nvPr/>
        </p:nvSpPr>
        <p:spPr>
          <a:xfrm>
            <a:off x="1508760" y="1737360"/>
            <a:ext cx="2743200" cy="822960"/>
          </a:xfrm>
          <a:prstGeom prst="rect">
            <a:avLst/>
          </a:prstGeom>
          <a:noFill/>
          <a:ln/>
        </p:spPr>
        <p:txBody>
          <a:bodyPr wrap="square" lIns="0" tIns="0" rIns="0" bIns="0" rtlCol="0" anchor="ctr"/>
          <a:lstStyle/>
          <a:p>
            <a:pPr indent="0" marL="0">
              <a:buNone/>
            </a:pPr>
            <a:r>
              <a:rPr lang="en-US" sz="1800" b="1" dirty="0">
                <a:solidFill>
                  <a:srgbClr val="0B2545"/>
                </a:solidFill>
                <a:latin typeface="Arial" pitchFamily="34" charset="0"/>
                <a:ea typeface="Arial" pitchFamily="34" charset="-122"/>
                <a:cs typeface="Arial" pitchFamily="34" charset="-120"/>
              </a:rPr>
              <a:t>Secrets</a:t>
            </a:r>
            <a:endParaRPr lang="en-US" sz="1800" dirty="0"/>
          </a:p>
        </p:txBody>
      </p:sp>
      <p:sp>
        <p:nvSpPr>
          <p:cNvPr id="7" name="Text 4"/>
          <p:cNvSpPr txBox="1"/>
          <p:nvPr/>
        </p:nvSpPr>
        <p:spPr>
          <a:xfrm>
            <a:off x="4023360" y="1737360"/>
            <a:ext cx="7589520" cy="822960"/>
          </a:xfrm>
          <a:prstGeom prst="rect">
            <a:avLst/>
          </a:prstGeom>
          <a:noFill/>
          <a:ln/>
        </p:spPr>
        <p:txBody>
          <a:bodyPr wrap="square" lIns="0" tIns="0" rIns="0" bIns="0" rtlCol="0" anchor="ctr"/>
          <a:lstStyle/>
          <a:p>
            <a:pPr indent="0" marL="0">
              <a:buNone/>
            </a:pPr>
            <a:r>
              <a:rPr lang="en-US" sz="1500" dirty="0">
                <a:solidFill>
                  <a:srgbClr val="1A2230"/>
                </a:solidFill>
                <a:latin typeface="Calibri" pitchFamily="34" charset="0"/>
                <a:ea typeface="Calibri" pitchFamily="34" charset="-122"/>
                <a:cs typeface="Calibri" pitchFamily="34" charset="-120"/>
              </a:rPr>
              <a:t>API keys go in GitHub's secret settings. Never in code or chat.</a:t>
            </a:r>
            <a:endParaRPr lang="en-US" sz="1500" dirty="0"/>
          </a:p>
        </p:txBody>
      </p:sp>
      <p:sp>
        <p:nvSpPr>
          <p:cNvPr id="8" name="Shape 5"/>
          <p:cNvSpPr/>
          <p:nvPr/>
        </p:nvSpPr>
        <p:spPr>
          <a:xfrm>
            <a:off x="548640" y="2788920"/>
            <a:ext cx="731520" cy="731520"/>
          </a:xfrm>
          <a:prstGeom prst="ellipse">
            <a:avLst/>
          </a:prstGeom>
          <a:solidFill>
            <a:srgbClr val="FDF3E2"/>
          </a:solidFill>
          <a:ln w="12700">
            <a:solidFill>
              <a:srgbClr val="FDF3E2"/>
            </a:solidFill>
            <a:prstDash val="solid"/>
          </a:ln>
        </p:spPr>
      </p:sp>
      <p:pic>
        <p:nvPicPr>
          <p:cNvPr id="9" name="Image 1" descr="preencoded.png">    </p:cNvPr>
          <p:cNvPicPr>
            <a:picLocks noChangeAspect="1"/>
          </p:cNvPicPr>
          <p:nvPr/>
        </p:nvPicPr>
        <p:blipFill>
          <a:blip r:embed="rId2"/>
          <a:stretch>
            <a:fillRect/>
          </a:stretch>
        </p:blipFill>
        <p:spPr>
          <a:xfrm>
            <a:off x="724205" y="2964485"/>
            <a:ext cx="380390" cy="380390"/>
          </a:xfrm>
          <a:prstGeom prst="rect">
            <a:avLst/>
          </a:prstGeom>
        </p:spPr>
      </p:pic>
      <p:sp>
        <p:nvSpPr>
          <p:cNvPr id="10" name="Text 6"/>
          <p:cNvSpPr txBox="1"/>
          <p:nvPr/>
        </p:nvSpPr>
        <p:spPr>
          <a:xfrm>
            <a:off x="1508760" y="2743200"/>
            <a:ext cx="2743200" cy="822960"/>
          </a:xfrm>
          <a:prstGeom prst="rect">
            <a:avLst/>
          </a:prstGeom>
          <a:noFill/>
          <a:ln/>
        </p:spPr>
        <p:txBody>
          <a:bodyPr wrap="square" lIns="0" tIns="0" rIns="0" bIns="0" rtlCol="0" anchor="ctr"/>
          <a:lstStyle/>
          <a:p>
            <a:pPr indent="0" marL="0">
              <a:buNone/>
            </a:pPr>
            <a:r>
              <a:rPr lang="en-US" sz="1800" b="1" dirty="0">
                <a:solidFill>
                  <a:srgbClr val="0B2545"/>
                </a:solidFill>
                <a:latin typeface="Arial" pitchFamily="34" charset="0"/>
                <a:ea typeface="Arial" pitchFamily="34" charset="-122"/>
                <a:cs typeface="Arial" pitchFamily="34" charset="-120"/>
              </a:rPr>
              <a:t>Confidential data</a:t>
            </a:r>
            <a:endParaRPr lang="en-US" sz="1800" dirty="0"/>
          </a:p>
        </p:txBody>
      </p:sp>
      <p:sp>
        <p:nvSpPr>
          <p:cNvPr id="11" name="Text 7"/>
          <p:cNvSpPr txBox="1"/>
          <p:nvPr/>
        </p:nvSpPr>
        <p:spPr>
          <a:xfrm>
            <a:off x="4023360" y="2743200"/>
            <a:ext cx="7589520" cy="822960"/>
          </a:xfrm>
          <a:prstGeom prst="rect">
            <a:avLst/>
          </a:prstGeom>
          <a:noFill/>
          <a:ln/>
        </p:spPr>
        <p:txBody>
          <a:bodyPr wrap="square" lIns="0" tIns="0" rIns="0" bIns="0" rtlCol="0" anchor="ctr"/>
          <a:lstStyle/>
          <a:p>
            <a:pPr indent="0" marL="0">
              <a:buNone/>
            </a:pPr>
            <a:r>
              <a:rPr lang="en-US" sz="1500" dirty="0">
                <a:solidFill>
                  <a:srgbClr val="1A2230"/>
                </a:solidFill>
                <a:latin typeface="Calibri" pitchFamily="34" charset="0"/>
                <a:ea typeface="Calibri" pitchFamily="34" charset="-122"/>
                <a:cs typeface="Calibri" pitchFamily="34" charset="-120"/>
              </a:rPr>
              <a:t>A spreadsheet shared in confidence was committed by mistake and had to be purged from history. Tell Claude what must stay private.</a:t>
            </a:r>
            <a:endParaRPr lang="en-US" sz="1500" dirty="0"/>
          </a:p>
        </p:txBody>
      </p:sp>
      <p:sp>
        <p:nvSpPr>
          <p:cNvPr id="12" name="Shape 8"/>
          <p:cNvSpPr/>
          <p:nvPr/>
        </p:nvSpPr>
        <p:spPr>
          <a:xfrm>
            <a:off x="548640" y="3794760"/>
            <a:ext cx="731520" cy="731520"/>
          </a:xfrm>
          <a:prstGeom prst="ellipse">
            <a:avLst/>
          </a:prstGeom>
          <a:solidFill>
            <a:srgbClr val="FDF3E2"/>
          </a:solidFill>
          <a:ln w="12700">
            <a:solidFill>
              <a:srgbClr val="FDF3E2"/>
            </a:solidFill>
            <a:prstDash val="solid"/>
          </a:ln>
        </p:spPr>
      </p:sp>
      <p:pic>
        <p:nvPicPr>
          <p:cNvPr id="13" name="Image 2" descr="preencoded.png">    </p:cNvPr>
          <p:cNvPicPr>
            <a:picLocks noChangeAspect="1"/>
          </p:cNvPicPr>
          <p:nvPr/>
        </p:nvPicPr>
        <p:blipFill>
          <a:blip r:embed="rId3"/>
          <a:stretch>
            <a:fillRect/>
          </a:stretch>
        </p:blipFill>
        <p:spPr>
          <a:xfrm>
            <a:off x="724205" y="3970325"/>
            <a:ext cx="380390" cy="380390"/>
          </a:xfrm>
          <a:prstGeom prst="rect">
            <a:avLst/>
          </a:prstGeom>
        </p:spPr>
      </p:pic>
      <p:sp>
        <p:nvSpPr>
          <p:cNvPr id="14" name="Text 9"/>
          <p:cNvSpPr txBox="1"/>
          <p:nvPr/>
        </p:nvSpPr>
        <p:spPr>
          <a:xfrm>
            <a:off x="1508760" y="3749040"/>
            <a:ext cx="2743200" cy="822960"/>
          </a:xfrm>
          <a:prstGeom prst="rect">
            <a:avLst/>
          </a:prstGeom>
          <a:noFill/>
          <a:ln/>
        </p:spPr>
        <p:txBody>
          <a:bodyPr wrap="square" lIns="0" tIns="0" rIns="0" bIns="0" rtlCol="0" anchor="ctr"/>
          <a:lstStyle/>
          <a:p>
            <a:pPr indent="0" marL="0">
              <a:buNone/>
            </a:pPr>
            <a:r>
              <a:rPr lang="en-US" sz="1800" b="1" dirty="0">
                <a:solidFill>
                  <a:srgbClr val="0B2545"/>
                </a:solidFill>
                <a:latin typeface="Arial" pitchFamily="34" charset="0"/>
                <a:ea typeface="Arial" pitchFamily="34" charset="-122"/>
                <a:cs typeface="Arial" pitchFamily="34" charset="-120"/>
              </a:rPr>
              <a:t>Costs</a:t>
            </a:r>
            <a:endParaRPr lang="en-US" sz="1800" dirty="0"/>
          </a:p>
        </p:txBody>
      </p:sp>
      <p:sp>
        <p:nvSpPr>
          <p:cNvPr id="15" name="Text 10"/>
          <p:cNvSpPr txBox="1"/>
          <p:nvPr/>
        </p:nvSpPr>
        <p:spPr>
          <a:xfrm>
            <a:off x="4023360" y="3749040"/>
            <a:ext cx="7589520" cy="822960"/>
          </a:xfrm>
          <a:prstGeom prst="rect">
            <a:avLst/>
          </a:prstGeom>
          <a:noFill/>
          <a:ln/>
        </p:spPr>
        <p:txBody>
          <a:bodyPr wrap="square" lIns="0" tIns="0" rIns="0" bIns="0" rtlCol="0" anchor="ctr"/>
          <a:lstStyle/>
          <a:p>
            <a:pPr indent="0" marL="0">
              <a:buNone/>
            </a:pPr>
            <a:r>
              <a:rPr lang="en-US" sz="1500" dirty="0">
                <a:solidFill>
                  <a:srgbClr val="1A2230"/>
                </a:solidFill>
                <a:latin typeface="Calibri" pitchFamily="34" charset="0"/>
                <a:ea typeface="Calibri" pitchFamily="34" charset="-122"/>
                <a:cs typeface="Calibri" pitchFamily="34" charset="-120"/>
              </a:rPr>
              <a:t>Every article the site classifies is a paid API call. Set a spending limit.</a:t>
            </a:r>
            <a:endParaRPr lang="en-US" sz="1500" dirty="0"/>
          </a:p>
        </p:txBody>
      </p:sp>
      <p:sp>
        <p:nvSpPr>
          <p:cNvPr id="16" name="Shape 11"/>
          <p:cNvSpPr/>
          <p:nvPr/>
        </p:nvSpPr>
        <p:spPr>
          <a:xfrm>
            <a:off x="548640" y="4800600"/>
            <a:ext cx="731520" cy="731520"/>
          </a:xfrm>
          <a:prstGeom prst="ellipse">
            <a:avLst/>
          </a:prstGeom>
          <a:solidFill>
            <a:srgbClr val="FDF3E2"/>
          </a:solidFill>
          <a:ln w="12700">
            <a:solidFill>
              <a:srgbClr val="FDF3E2"/>
            </a:solidFill>
            <a:prstDash val="solid"/>
          </a:ln>
        </p:spPr>
      </p:sp>
      <p:pic>
        <p:nvPicPr>
          <p:cNvPr id="17" name="Image 3" descr="preencoded.png">    </p:cNvPr>
          <p:cNvPicPr>
            <a:picLocks noChangeAspect="1"/>
          </p:cNvPicPr>
          <p:nvPr/>
        </p:nvPicPr>
        <p:blipFill>
          <a:blip r:embed="rId4"/>
          <a:stretch>
            <a:fillRect/>
          </a:stretch>
        </p:blipFill>
        <p:spPr>
          <a:xfrm>
            <a:off x="724205" y="4976165"/>
            <a:ext cx="380390" cy="380390"/>
          </a:xfrm>
          <a:prstGeom prst="rect">
            <a:avLst/>
          </a:prstGeom>
        </p:spPr>
      </p:pic>
      <p:sp>
        <p:nvSpPr>
          <p:cNvPr id="18" name="Text 12"/>
          <p:cNvSpPr txBox="1"/>
          <p:nvPr/>
        </p:nvSpPr>
        <p:spPr>
          <a:xfrm>
            <a:off x="1508760" y="4754880"/>
            <a:ext cx="2743200" cy="822960"/>
          </a:xfrm>
          <a:prstGeom prst="rect">
            <a:avLst/>
          </a:prstGeom>
          <a:noFill/>
          <a:ln/>
        </p:spPr>
        <p:txBody>
          <a:bodyPr wrap="square" lIns="0" tIns="0" rIns="0" bIns="0" rtlCol="0" anchor="ctr"/>
          <a:lstStyle/>
          <a:p>
            <a:pPr indent="0" marL="0">
              <a:buNone/>
            </a:pPr>
            <a:r>
              <a:rPr lang="en-US" sz="1800" b="1" dirty="0">
                <a:solidFill>
                  <a:srgbClr val="0B2545"/>
                </a:solidFill>
                <a:latin typeface="Arial" pitchFamily="34" charset="0"/>
                <a:ea typeface="Arial" pitchFamily="34" charset="-122"/>
                <a:cs typeface="Arial" pitchFamily="34" charset="-120"/>
              </a:rPr>
              <a:t>Accuracy</a:t>
            </a:r>
            <a:endParaRPr lang="en-US" sz="1800" dirty="0"/>
          </a:p>
        </p:txBody>
      </p:sp>
      <p:sp>
        <p:nvSpPr>
          <p:cNvPr id="19" name="Text 13"/>
          <p:cNvSpPr txBox="1"/>
          <p:nvPr/>
        </p:nvSpPr>
        <p:spPr>
          <a:xfrm>
            <a:off x="4023360" y="4754880"/>
            <a:ext cx="7589520" cy="822960"/>
          </a:xfrm>
          <a:prstGeom prst="rect">
            <a:avLst/>
          </a:prstGeom>
          <a:noFill/>
          <a:ln/>
        </p:spPr>
        <p:txBody>
          <a:bodyPr wrap="square" lIns="0" tIns="0" rIns="0" bIns="0" rtlCol="0" anchor="ctr"/>
          <a:lstStyle/>
          <a:p>
            <a:pPr indent="0" marL="0">
              <a:buNone/>
            </a:pPr>
            <a:r>
              <a:rPr lang="en-US" sz="1500" dirty="0">
                <a:solidFill>
                  <a:srgbClr val="1A2230"/>
                </a:solidFill>
                <a:latin typeface="Calibri" pitchFamily="34" charset="0"/>
                <a:ea typeface="Calibri" pitchFamily="34" charset="-122"/>
                <a:cs typeface="Calibri" pitchFamily="34" charset="-120"/>
              </a:rPr>
              <a:t>The site repeats claims from news reports. Say so on the site, as this one does.</a:t>
            </a:r>
            <a:endParaRPr lang="en-US" sz="1500" dirty="0"/>
          </a:p>
        </p:txBody>
      </p:sp>
      <p:sp>
        <p:nvSpPr>
          <p:cNvPr id="20" name="Shape 14"/>
          <p:cNvSpPr/>
          <p:nvPr/>
        </p:nvSpPr>
        <p:spPr>
          <a:xfrm>
            <a:off x="548640" y="5897880"/>
            <a:ext cx="11091672" cy="566928"/>
          </a:xfrm>
          <a:prstGeom prst="roundRect">
            <a:avLst>
              <a:gd name="adj" fmla="val 16129"/>
            </a:avLst>
          </a:prstGeom>
          <a:solidFill>
            <a:srgbClr val="FDF3E2"/>
          </a:solidFill>
          <a:ln w="9525">
            <a:solidFill>
              <a:srgbClr val="F3D9A8"/>
            </a:solidFill>
            <a:prstDash val="solid"/>
          </a:ln>
        </p:spPr>
      </p:sp>
      <p:sp>
        <p:nvSpPr>
          <p:cNvPr id="21" name="Text 15"/>
          <p:cNvSpPr txBox="1"/>
          <p:nvPr/>
        </p:nvSpPr>
        <p:spPr>
          <a:xfrm>
            <a:off x="777240" y="5897880"/>
            <a:ext cx="10698480" cy="566928"/>
          </a:xfrm>
          <a:prstGeom prst="rect">
            <a:avLst/>
          </a:prstGeom>
          <a:noFill/>
          <a:ln/>
        </p:spPr>
        <p:txBody>
          <a:bodyPr wrap="square" lIns="0" tIns="0" rIns="0" bIns="0" rtlCol="0" anchor="ctr"/>
          <a:lstStyle/>
          <a:p>
            <a:pPr indent="0" marL="0">
              <a:buNone/>
            </a:pPr>
            <a:r>
              <a:rPr lang="en-US" sz="1600" b="1" dirty="0">
                <a:solidFill>
                  <a:srgbClr val="8A5A12"/>
                </a:solidFill>
                <a:latin typeface="Calibri" pitchFamily="34" charset="0"/>
                <a:ea typeface="Calibri" pitchFamily="34" charset="-122"/>
                <a:cs typeface="Calibri" pitchFamily="34" charset="-120"/>
              </a:rPr>
              <a:t>Lesson: </a:t>
            </a:r>
            <a:pPr indent="0" marL="0">
              <a:buNone/>
            </a:pPr>
            <a:r>
              <a:rPr lang="en-US" sz="1600" dirty="0">
                <a:solidFill>
                  <a:srgbClr val="1A2230"/>
                </a:solidFill>
                <a:latin typeface="Calibri" pitchFamily="34" charset="0"/>
                <a:ea typeface="Calibri" pitchFamily="34" charset="-122"/>
                <a:cs typeface="Calibri" pitchFamily="34" charset="-120"/>
              </a:rPr>
              <a:t>Claude does what you ask. Tell it what it must never do, too.</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400" b="1" dirty="0">
                <a:solidFill>
                  <a:srgbClr val="0B2545"/>
                </a:solidFill>
                <a:latin typeface="Arial" pitchFamily="34" charset="0"/>
                <a:ea typeface="Arial" pitchFamily="34" charset="-122"/>
                <a:cs typeface="Arial" pitchFamily="34" charset="-120"/>
              </a:rPr>
              <a:t>Your first project: a checklist</a:t>
            </a:r>
            <a:endParaRPr lang="en-US" sz="3400" dirty="0"/>
          </a:p>
        </p:txBody>
      </p:sp>
      <p:sp>
        <p:nvSpPr>
          <p:cNvPr id="3" name="Shape 1"/>
          <p:cNvSpPr/>
          <p:nvPr/>
        </p:nvSpPr>
        <p:spPr>
          <a:xfrm>
            <a:off x="548640" y="1463040"/>
            <a:ext cx="5394960" cy="1325880"/>
          </a:xfrm>
          <a:prstGeom prst="roundRect">
            <a:avLst>
              <a:gd name="adj" fmla="val 8276"/>
            </a:avLst>
          </a:prstGeom>
          <a:solidFill>
            <a:srgbClr val="FFFFFF"/>
          </a:solidFill>
          <a:ln w="9525">
            <a:solidFill>
              <a:srgbClr val="E1E6EE"/>
            </a:solidFill>
            <a:prstDash val="solid"/>
          </a:ln>
          <a:effectLst>
            <a:outerShdw sx="100000" sy="100000" kx="0" ky="0" algn="bl" rotWithShape="0" blurRad="101600" dist="25400" dir="5400000">
              <a:srgbClr val="000000">
                <a:alpha val="12000"/>
              </a:srgbClr>
            </a:outerShdw>
          </a:effectLst>
        </p:spPr>
      </p:sp>
      <p:sp>
        <p:nvSpPr>
          <p:cNvPr id="4" name="Shape 2"/>
          <p:cNvSpPr/>
          <p:nvPr/>
        </p:nvSpPr>
        <p:spPr>
          <a:xfrm>
            <a:off x="822960" y="1828800"/>
            <a:ext cx="594360" cy="594360"/>
          </a:xfrm>
          <a:prstGeom prst="ellipse">
            <a:avLst/>
          </a:prstGeom>
          <a:solidFill>
            <a:srgbClr val="2A78D6"/>
          </a:solidFill>
          <a:ln w="12700">
            <a:solidFill>
              <a:srgbClr val="2A78D6"/>
            </a:solidFill>
            <a:prstDash val="solid"/>
          </a:ln>
        </p:spPr>
      </p:sp>
      <p:sp>
        <p:nvSpPr>
          <p:cNvPr id="5" name="Text 3"/>
          <p:cNvSpPr txBox="1"/>
          <p:nvPr/>
        </p:nvSpPr>
        <p:spPr>
          <a:xfrm>
            <a:off x="822960" y="1828800"/>
            <a:ext cx="594360" cy="594360"/>
          </a:xfrm>
          <a:prstGeom prst="rect">
            <a:avLst/>
          </a:prstGeom>
          <a:noFill/>
          <a:ln/>
        </p:spPr>
        <p:txBody>
          <a:bodyPr wrap="square" lIns="0" tIns="0" rIns="0" bIns="0" rtlCol="0" anchor="ctr"/>
          <a:lstStyle/>
          <a:p>
            <a:pPr algn="ctr" indent="0" marL="0">
              <a:buNone/>
            </a:pPr>
            <a:r>
              <a:rPr lang="en-US" sz="1950" b="1" dirty="0">
                <a:solidFill>
                  <a:srgbClr val="FFFFFF"/>
                </a:solidFill>
                <a:latin typeface="Arial" pitchFamily="34" charset="0"/>
                <a:ea typeface="Arial" pitchFamily="34" charset="-122"/>
                <a:cs typeface="Arial" pitchFamily="34" charset="-120"/>
              </a:rPr>
              <a:t>1</a:t>
            </a:r>
            <a:endParaRPr lang="en-US" sz="1950" dirty="0"/>
          </a:p>
        </p:txBody>
      </p:sp>
      <p:sp>
        <p:nvSpPr>
          <p:cNvPr id="6" name="Text 4"/>
          <p:cNvSpPr txBox="1"/>
          <p:nvPr/>
        </p:nvSpPr>
        <p:spPr>
          <a:xfrm>
            <a:off x="1645920" y="1664208"/>
            <a:ext cx="4114800" cy="548640"/>
          </a:xfrm>
          <a:prstGeom prst="rect">
            <a:avLst/>
          </a:prstGeom>
          <a:noFill/>
          <a:ln/>
        </p:spPr>
        <p:txBody>
          <a:bodyPr wrap="square" lIns="0" tIns="0" rIns="0" bIns="0" rtlCol="0" anchor="ctr"/>
          <a:lstStyle/>
          <a:p>
            <a:pPr indent="0" marL="0">
              <a:buNone/>
            </a:pPr>
            <a:r>
              <a:rPr lang="en-US" sz="1600" b="1" dirty="0">
                <a:solidFill>
                  <a:srgbClr val="0B2545"/>
                </a:solidFill>
                <a:latin typeface="Arial" pitchFamily="34" charset="0"/>
                <a:ea typeface="Arial" pitchFamily="34" charset="-122"/>
                <a:cs typeface="Arial" pitchFamily="34" charset="-120"/>
              </a:rPr>
              <a:t>Make a GitHub account and an empty repository</a:t>
            </a:r>
            <a:endParaRPr lang="en-US" sz="1600" dirty="0"/>
          </a:p>
        </p:txBody>
      </p:sp>
      <p:sp>
        <p:nvSpPr>
          <p:cNvPr id="7" name="Text 5"/>
          <p:cNvSpPr txBox="1"/>
          <p:nvPr/>
        </p:nvSpPr>
        <p:spPr>
          <a:xfrm>
            <a:off x="1645920" y="2212848"/>
            <a:ext cx="4114800" cy="411480"/>
          </a:xfrm>
          <a:prstGeom prst="rect">
            <a:avLst/>
          </a:prstGeom>
          <a:noFill/>
          <a:ln/>
        </p:spPr>
        <p:txBody>
          <a:bodyPr wrap="square" lIns="0" tIns="0" rIns="0" bIns="0" rtlCol="0" anchor="ctr"/>
          <a:lstStyle/>
          <a:p>
            <a:pPr indent="0" marL="0">
              <a:buNone/>
            </a:pPr>
            <a:r>
              <a:rPr lang="en-US" sz="1400" dirty="0">
                <a:solidFill>
                  <a:srgbClr val="5B6678"/>
                </a:solidFill>
                <a:latin typeface="Calibri" pitchFamily="34" charset="0"/>
                <a:ea typeface="Calibri" pitchFamily="34" charset="-122"/>
                <a:cs typeface="Calibri" pitchFamily="34" charset="-120"/>
              </a:rPr>
              <a:t>Free. Takes five minutes.</a:t>
            </a:r>
            <a:endParaRPr lang="en-US" sz="1400" dirty="0"/>
          </a:p>
        </p:txBody>
      </p:sp>
      <p:sp>
        <p:nvSpPr>
          <p:cNvPr id="8" name="Shape 6"/>
          <p:cNvSpPr/>
          <p:nvPr/>
        </p:nvSpPr>
        <p:spPr>
          <a:xfrm>
            <a:off x="548640" y="3017520"/>
            <a:ext cx="5394960" cy="1325880"/>
          </a:xfrm>
          <a:prstGeom prst="roundRect">
            <a:avLst>
              <a:gd name="adj" fmla="val 8276"/>
            </a:avLst>
          </a:prstGeom>
          <a:solidFill>
            <a:srgbClr val="FFFFFF"/>
          </a:solidFill>
          <a:ln w="9525">
            <a:solidFill>
              <a:srgbClr val="E1E6EE"/>
            </a:solidFill>
            <a:prstDash val="solid"/>
          </a:ln>
          <a:effectLst>
            <a:outerShdw sx="100000" sy="100000" kx="0" ky="0" algn="bl" rotWithShape="0" blurRad="101600" dist="25400" dir="5400000">
              <a:srgbClr val="000000">
                <a:alpha val="12000"/>
              </a:srgbClr>
            </a:outerShdw>
          </a:effectLst>
        </p:spPr>
      </p:sp>
      <p:sp>
        <p:nvSpPr>
          <p:cNvPr id="9" name="Shape 7"/>
          <p:cNvSpPr/>
          <p:nvPr/>
        </p:nvSpPr>
        <p:spPr>
          <a:xfrm>
            <a:off x="822960" y="3383280"/>
            <a:ext cx="594360" cy="594360"/>
          </a:xfrm>
          <a:prstGeom prst="ellipse">
            <a:avLst/>
          </a:prstGeom>
          <a:solidFill>
            <a:srgbClr val="2A78D6"/>
          </a:solidFill>
          <a:ln w="12700">
            <a:solidFill>
              <a:srgbClr val="2A78D6"/>
            </a:solidFill>
            <a:prstDash val="solid"/>
          </a:ln>
        </p:spPr>
      </p:sp>
      <p:sp>
        <p:nvSpPr>
          <p:cNvPr id="10" name="Text 8"/>
          <p:cNvSpPr txBox="1"/>
          <p:nvPr/>
        </p:nvSpPr>
        <p:spPr>
          <a:xfrm>
            <a:off x="822960" y="3383280"/>
            <a:ext cx="594360" cy="594360"/>
          </a:xfrm>
          <a:prstGeom prst="rect">
            <a:avLst/>
          </a:prstGeom>
          <a:noFill/>
          <a:ln/>
        </p:spPr>
        <p:txBody>
          <a:bodyPr wrap="square" lIns="0" tIns="0" rIns="0" bIns="0" rtlCol="0" anchor="ctr"/>
          <a:lstStyle/>
          <a:p>
            <a:pPr algn="ctr" indent="0" marL="0">
              <a:buNone/>
            </a:pPr>
            <a:r>
              <a:rPr lang="en-US" sz="1950" b="1" dirty="0">
                <a:solidFill>
                  <a:srgbClr val="FFFFFF"/>
                </a:solidFill>
                <a:latin typeface="Arial" pitchFamily="34" charset="0"/>
                <a:ea typeface="Arial" pitchFamily="34" charset="-122"/>
                <a:cs typeface="Arial" pitchFamily="34" charset="-120"/>
              </a:rPr>
              <a:t>2</a:t>
            </a:r>
            <a:endParaRPr lang="en-US" sz="1950" dirty="0"/>
          </a:p>
        </p:txBody>
      </p:sp>
      <p:sp>
        <p:nvSpPr>
          <p:cNvPr id="11" name="Text 9"/>
          <p:cNvSpPr txBox="1"/>
          <p:nvPr/>
        </p:nvSpPr>
        <p:spPr>
          <a:xfrm>
            <a:off x="1645920" y="3218688"/>
            <a:ext cx="4114800" cy="548640"/>
          </a:xfrm>
          <a:prstGeom prst="rect">
            <a:avLst/>
          </a:prstGeom>
          <a:noFill/>
          <a:ln/>
        </p:spPr>
        <p:txBody>
          <a:bodyPr wrap="square" lIns="0" tIns="0" rIns="0" bIns="0" rtlCol="0" anchor="ctr"/>
          <a:lstStyle/>
          <a:p>
            <a:pPr indent="0" marL="0">
              <a:buNone/>
            </a:pPr>
            <a:r>
              <a:rPr lang="en-US" sz="1600" b="1" dirty="0">
                <a:solidFill>
                  <a:srgbClr val="0B2545"/>
                </a:solidFill>
                <a:latin typeface="Arial" pitchFamily="34" charset="0"/>
                <a:ea typeface="Arial" pitchFamily="34" charset="-122"/>
                <a:cs typeface="Arial" pitchFamily="34" charset="-120"/>
              </a:rPr>
              <a:t>Open claude.ai/code and connect the repository</a:t>
            </a:r>
            <a:endParaRPr lang="en-US" sz="1600" dirty="0"/>
          </a:p>
        </p:txBody>
      </p:sp>
      <p:sp>
        <p:nvSpPr>
          <p:cNvPr id="12" name="Text 10"/>
          <p:cNvSpPr txBox="1"/>
          <p:nvPr/>
        </p:nvSpPr>
        <p:spPr>
          <a:xfrm>
            <a:off x="1645920" y="3767328"/>
            <a:ext cx="4114800" cy="411480"/>
          </a:xfrm>
          <a:prstGeom prst="rect">
            <a:avLst/>
          </a:prstGeom>
          <a:noFill/>
          <a:ln/>
        </p:spPr>
        <p:txBody>
          <a:bodyPr wrap="square" lIns="0" tIns="0" rIns="0" bIns="0" rtlCol="0" anchor="ctr"/>
          <a:lstStyle/>
          <a:p>
            <a:pPr indent="0" marL="0">
              <a:buNone/>
            </a:pPr>
            <a:r>
              <a:rPr lang="en-US" sz="1400" dirty="0">
                <a:solidFill>
                  <a:srgbClr val="5B6678"/>
                </a:solidFill>
                <a:latin typeface="Calibri" pitchFamily="34" charset="0"/>
                <a:ea typeface="Calibri" pitchFamily="34" charset="-122"/>
                <a:cs typeface="Calibri" pitchFamily="34" charset="-120"/>
              </a:rPr>
              <a:t>No software to install.</a:t>
            </a:r>
            <a:endParaRPr lang="en-US" sz="1400" dirty="0"/>
          </a:p>
        </p:txBody>
      </p:sp>
      <p:sp>
        <p:nvSpPr>
          <p:cNvPr id="13" name="Shape 11"/>
          <p:cNvSpPr/>
          <p:nvPr/>
        </p:nvSpPr>
        <p:spPr>
          <a:xfrm>
            <a:off x="548640" y="4572000"/>
            <a:ext cx="5394960" cy="1325880"/>
          </a:xfrm>
          <a:prstGeom prst="roundRect">
            <a:avLst>
              <a:gd name="adj" fmla="val 8276"/>
            </a:avLst>
          </a:prstGeom>
          <a:solidFill>
            <a:srgbClr val="FFFFFF"/>
          </a:solidFill>
          <a:ln w="9525">
            <a:solidFill>
              <a:srgbClr val="E1E6EE"/>
            </a:solidFill>
            <a:prstDash val="solid"/>
          </a:ln>
          <a:effectLst>
            <a:outerShdw sx="100000" sy="100000" kx="0" ky="0" algn="bl" rotWithShape="0" blurRad="101600" dist="25400" dir="5400000">
              <a:srgbClr val="000000">
                <a:alpha val="12000"/>
              </a:srgbClr>
            </a:outerShdw>
          </a:effectLst>
        </p:spPr>
      </p:sp>
      <p:sp>
        <p:nvSpPr>
          <p:cNvPr id="14" name="Shape 12"/>
          <p:cNvSpPr/>
          <p:nvPr/>
        </p:nvSpPr>
        <p:spPr>
          <a:xfrm>
            <a:off x="822960" y="4937760"/>
            <a:ext cx="594360" cy="594360"/>
          </a:xfrm>
          <a:prstGeom prst="ellipse">
            <a:avLst/>
          </a:prstGeom>
          <a:solidFill>
            <a:srgbClr val="2A78D6"/>
          </a:solidFill>
          <a:ln w="12700">
            <a:solidFill>
              <a:srgbClr val="2A78D6"/>
            </a:solidFill>
            <a:prstDash val="solid"/>
          </a:ln>
        </p:spPr>
      </p:sp>
      <p:sp>
        <p:nvSpPr>
          <p:cNvPr id="15" name="Text 13"/>
          <p:cNvSpPr txBox="1"/>
          <p:nvPr/>
        </p:nvSpPr>
        <p:spPr>
          <a:xfrm>
            <a:off x="822960" y="4937760"/>
            <a:ext cx="594360" cy="594360"/>
          </a:xfrm>
          <a:prstGeom prst="rect">
            <a:avLst/>
          </a:prstGeom>
          <a:noFill/>
          <a:ln/>
        </p:spPr>
        <p:txBody>
          <a:bodyPr wrap="square" lIns="0" tIns="0" rIns="0" bIns="0" rtlCol="0" anchor="ctr"/>
          <a:lstStyle/>
          <a:p>
            <a:pPr algn="ctr" indent="0" marL="0">
              <a:buNone/>
            </a:pPr>
            <a:r>
              <a:rPr lang="en-US" sz="1950" b="1" dirty="0">
                <a:solidFill>
                  <a:srgbClr val="FFFFFF"/>
                </a:solidFill>
                <a:latin typeface="Arial" pitchFamily="34" charset="0"/>
                <a:ea typeface="Arial" pitchFamily="34" charset="-122"/>
                <a:cs typeface="Arial" pitchFamily="34" charset="-120"/>
              </a:rPr>
              <a:t>3</a:t>
            </a:r>
            <a:endParaRPr lang="en-US" sz="1950" dirty="0"/>
          </a:p>
        </p:txBody>
      </p:sp>
      <p:sp>
        <p:nvSpPr>
          <p:cNvPr id="16" name="Text 14"/>
          <p:cNvSpPr txBox="1"/>
          <p:nvPr/>
        </p:nvSpPr>
        <p:spPr>
          <a:xfrm>
            <a:off x="1645920" y="4773168"/>
            <a:ext cx="4114800" cy="548640"/>
          </a:xfrm>
          <a:prstGeom prst="rect">
            <a:avLst/>
          </a:prstGeom>
          <a:noFill/>
          <a:ln/>
        </p:spPr>
        <p:txBody>
          <a:bodyPr wrap="square" lIns="0" tIns="0" rIns="0" bIns="0" rtlCol="0" anchor="ctr"/>
          <a:lstStyle/>
          <a:p>
            <a:pPr indent="0" marL="0">
              <a:buNone/>
            </a:pPr>
            <a:r>
              <a:rPr lang="en-US" sz="1600" b="1" dirty="0">
                <a:solidFill>
                  <a:srgbClr val="0B2545"/>
                </a:solidFill>
                <a:latin typeface="Arial" pitchFamily="34" charset="0"/>
                <a:ea typeface="Arial" pitchFamily="34" charset="-122"/>
                <a:cs typeface="Arial" pitchFamily="34" charset="-120"/>
              </a:rPr>
              <a:t>Write a one-paragraph spec</a:t>
            </a:r>
            <a:endParaRPr lang="en-US" sz="1600" dirty="0"/>
          </a:p>
        </p:txBody>
      </p:sp>
      <p:sp>
        <p:nvSpPr>
          <p:cNvPr id="17" name="Text 15"/>
          <p:cNvSpPr txBox="1"/>
          <p:nvPr/>
        </p:nvSpPr>
        <p:spPr>
          <a:xfrm>
            <a:off x="1645920" y="5321808"/>
            <a:ext cx="4114800" cy="411480"/>
          </a:xfrm>
          <a:prstGeom prst="rect">
            <a:avLst/>
          </a:prstGeom>
          <a:noFill/>
          <a:ln/>
        </p:spPr>
        <p:txBody>
          <a:bodyPr wrap="square" lIns="0" tIns="0" rIns="0" bIns="0" rtlCol="0" anchor="ctr"/>
          <a:lstStyle/>
          <a:p>
            <a:pPr indent="0" marL="0">
              <a:buNone/>
            </a:pPr>
            <a:r>
              <a:rPr lang="en-US" sz="1400" dirty="0">
                <a:solidFill>
                  <a:srgbClr val="5B6678"/>
                </a:solidFill>
                <a:latin typeface="Calibri" pitchFamily="34" charset="0"/>
                <a:ea typeface="Calibri" pitchFamily="34" charset="-122"/>
                <a:cs typeface="Calibri" pitchFamily="34" charset="-120"/>
              </a:rPr>
              <a:t>Purpose, rules, where the data lives.</a:t>
            </a:r>
            <a:endParaRPr lang="en-US" sz="1400" dirty="0"/>
          </a:p>
        </p:txBody>
      </p:sp>
      <p:sp>
        <p:nvSpPr>
          <p:cNvPr id="18" name="Shape 16"/>
          <p:cNvSpPr/>
          <p:nvPr/>
        </p:nvSpPr>
        <p:spPr>
          <a:xfrm>
            <a:off x="6263640" y="1463040"/>
            <a:ext cx="5394960" cy="1325880"/>
          </a:xfrm>
          <a:prstGeom prst="roundRect">
            <a:avLst>
              <a:gd name="adj" fmla="val 8276"/>
            </a:avLst>
          </a:prstGeom>
          <a:solidFill>
            <a:srgbClr val="FFFFFF"/>
          </a:solidFill>
          <a:ln w="9525">
            <a:solidFill>
              <a:srgbClr val="E1E6EE"/>
            </a:solidFill>
            <a:prstDash val="solid"/>
          </a:ln>
          <a:effectLst>
            <a:outerShdw sx="100000" sy="100000" kx="0" ky="0" algn="bl" rotWithShape="0" blurRad="101600" dist="25400" dir="5400000">
              <a:srgbClr val="000000">
                <a:alpha val="12000"/>
              </a:srgbClr>
            </a:outerShdw>
          </a:effectLst>
        </p:spPr>
      </p:sp>
      <p:sp>
        <p:nvSpPr>
          <p:cNvPr id="19" name="Shape 17"/>
          <p:cNvSpPr/>
          <p:nvPr/>
        </p:nvSpPr>
        <p:spPr>
          <a:xfrm>
            <a:off x="6537960" y="1828800"/>
            <a:ext cx="594360" cy="594360"/>
          </a:xfrm>
          <a:prstGeom prst="ellipse">
            <a:avLst/>
          </a:prstGeom>
          <a:solidFill>
            <a:srgbClr val="2A78D6"/>
          </a:solidFill>
          <a:ln w="12700">
            <a:solidFill>
              <a:srgbClr val="2A78D6"/>
            </a:solidFill>
            <a:prstDash val="solid"/>
          </a:ln>
        </p:spPr>
      </p:sp>
      <p:sp>
        <p:nvSpPr>
          <p:cNvPr id="20" name="Text 18"/>
          <p:cNvSpPr txBox="1"/>
          <p:nvPr/>
        </p:nvSpPr>
        <p:spPr>
          <a:xfrm>
            <a:off x="6537960" y="1828800"/>
            <a:ext cx="594360" cy="594360"/>
          </a:xfrm>
          <a:prstGeom prst="rect">
            <a:avLst/>
          </a:prstGeom>
          <a:noFill/>
          <a:ln/>
        </p:spPr>
        <p:txBody>
          <a:bodyPr wrap="square" lIns="0" tIns="0" rIns="0" bIns="0" rtlCol="0" anchor="ctr"/>
          <a:lstStyle/>
          <a:p>
            <a:pPr algn="ctr" indent="0" marL="0">
              <a:buNone/>
            </a:pPr>
            <a:r>
              <a:rPr lang="en-US" sz="1950" b="1" dirty="0">
                <a:solidFill>
                  <a:srgbClr val="FFFFFF"/>
                </a:solidFill>
                <a:latin typeface="Arial" pitchFamily="34" charset="0"/>
                <a:ea typeface="Arial" pitchFamily="34" charset="-122"/>
                <a:cs typeface="Arial" pitchFamily="34" charset="-120"/>
              </a:rPr>
              <a:t>4</a:t>
            </a:r>
            <a:endParaRPr lang="en-US" sz="1950" dirty="0"/>
          </a:p>
        </p:txBody>
      </p:sp>
      <p:sp>
        <p:nvSpPr>
          <p:cNvPr id="21" name="Text 19"/>
          <p:cNvSpPr txBox="1"/>
          <p:nvPr/>
        </p:nvSpPr>
        <p:spPr>
          <a:xfrm>
            <a:off x="7360920" y="1664208"/>
            <a:ext cx="4114800" cy="548640"/>
          </a:xfrm>
          <a:prstGeom prst="rect">
            <a:avLst/>
          </a:prstGeom>
          <a:noFill/>
          <a:ln/>
        </p:spPr>
        <p:txBody>
          <a:bodyPr wrap="square" lIns="0" tIns="0" rIns="0" bIns="0" rtlCol="0" anchor="ctr"/>
          <a:lstStyle/>
          <a:p>
            <a:pPr indent="0" marL="0">
              <a:buNone/>
            </a:pPr>
            <a:r>
              <a:rPr lang="en-US" sz="1600" b="1" dirty="0">
                <a:solidFill>
                  <a:srgbClr val="0B2545"/>
                </a:solidFill>
                <a:latin typeface="Arial" pitchFamily="34" charset="0"/>
                <a:ea typeface="Arial" pitchFamily="34" charset="-122"/>
                <a:cs typeface="Arial" pitchFamily="34" charset="-120"/>
              </a:rPr>
              <a:t>Ask for a plan, then say “build it”</a:t>
            </a:r>
            <a:endParaRPr lang="en-US" sz="1600" dirty="0"/>
          </a:p>
        </p:txBody>
      </p:sp>
      <p:sp>
        <p:nvSpPr>
          <p:cNvPr id="22" name="Text 20"/>
          <p:cNvSpPr txBox="1"/>
          <p:nvPr/>
        </p:nvSpPr>
        <p:spPr>
          <a:xfrm>
            <a:off x="7360920" y="2212848"/>
            <a:ext cx="4114800" cy="411480"/>
          </a:xfrm>
          <a:prstGeom prst="rect">
            <a:avLst/>
          </a:prstGeom>
          <a:noFill/>
          <a:ln/>
        </p:spPr>
        <p:txBody>
          <a:bodyPr wrap="square" lIns="0" tIns="0" rIns="0" bIns="0" rtlCol="0" anchor="ctr"/>
          <a:lstStyle/>
          <a:p>
            <a:pPr indent="0" marL="0">
              <a:buNone/>
            </a:pPr>
            <a:r>
              <a:rPr lang="en-US" sz="1400" dirty="0">
                <a:solidFill>
                  <a:srgbClr val="5B6678"/>
                </a:solidFill>
                <a:latin typeface="Calibri" pitchFamily="34" charset="0"/>
                <a:ea typeface="Calibri" pitchFamily="34" charset="-122"/>
                <a:cs typeface="Calibri" pitchFamily="34" charset="-120"/>
              </a:rPr>
              <a:t>Read the plan. Push back on anything unclear.</a:t>
            </a:r>
            <a:endParaRPr lang="en-US" sz="1400" dirty="0"/>
          </a:p>
        </p:txBody>
      </p:sp>
      <p:sp>
        <p:nvSpPr>
          <p:cNvPr id="23" name="Shape 21"/>
          <p:cNvSpPr/>
          <p:nvPr/>
        </p:nvSpPr>
        <p:spPr>
          <a:xfrm>
            <a:off x="6263640" y="3017520"/>
            <a:ext cx="5394960" cy="1325880"/>
          </a:xfrm>
          <a:prstGeom prst="roundRect">
            <a:avLst>
              <a:gd name="adj" fmla="val 8276"/>
            </a:avLst>
          </a:prstGeom>
          <a:solidFill>
            <a:srgbClr val="FFFFFF"/>
          </a:solidFill>
          <a:ln w="9525">
            <a:solidFill>
              <a:srgbClr val="E1E6EE"/>
            </a:solidFill>
            <a:prstDash val="solid"/>
          </a:ln>
          <a:effectLst>
            <a:outerShdw sx="100000" sy="100000" kx="0" ky="0" algn="bl" rotWithShape="0" blurRad="101600" dist="25400" dir="5400000">
              <a:srgbClr val="000000">
                <a:alpha val="12000"/>
              </a:srgbClr>
            </a:outerShdw>
          </a:effectLst>
        </p:spPr>
      </p:sp>
      <p:sp>
        <p:nvSpPr>
          <p:cNvPr id="24" name="Shape 22"/>
          <p:cNvSpPr/>
          <p:nvPr/>
        </p:nvSpPr>
        <p:spPr>
          <a:xfrm>
            <a:off x="6537960" y="3383280"/>
            <a:ext cx="594360" cy="594360"/>
          </a:xfrm>
          <a:prstGeom prst="ellipse">
            <a:avLst/>
          </a:prstGeom>
          <a:solidFill>
            <a:srgbClr val="2A78D6"/>
          </a:solidFill>
          <a:ln w="12700">
            <a:solidFill>
              <a:srgbClr val="2A78D6"/>
            </a:solidFill>
            <a:prstDash val="solid"/>
          </a:ln>
        </p:spPr>
      </p:sp>
      <p:sp>
        <p:nvSpPr>
          <p:cNvPr id="25" name="Text 23"/>
          <p:cNvSpPr txBox="1"/>
          <p:nvPr/>
        </p:nvSpPr>
        <p:spPr>
          <a:xfrm>
            <a:off x="6537960" y="3383280"/>
            <a:ext cx="594360" cy="594360"/>
          </a:xfrm>
          <a:prstGeom prst="rect">
            <a:avLst/>
          </a:prstGeom>
          <a:noFill/>
          <a:ln/>
        </p:spPr>
        <p:txBody>
          <a:bodyPr wrap="square" lIns="0" tIns="0" rIns="0" bIns="0" rtlCol="0" anchor="ctr"/>
          <a:lstStyle/>
          <a:p>
            <a:pPr algn="ctr" indent="0" marL="0">
              <a:buNone/>
            </a:pPr>
            <a:r>
              <a:rPr lang="en-US" sz="1950" b="1" dirty="0">
                <a:solidFill>
                  <a:srgbClr val="FFFFFF"/>
                </a:solidFill>
                <a:latin typeface="Arial" pitchFamily="34" charset="0"/>
                <a:ea typeface="Arial" pitchFamily="34" charset="-122"/>
                <a:cs typeface="Arial" pitchFamily="34" charset="-120"/>
              </a:rPr>
              <a:t>5</a:t>
            </a:r>
            <a:endParaRPr lang="en-US" sz="1950" dirty="0"/>
          </a:p>
        </p:txBody>
      </p:sp>
      <p:sp>
        <p:nvSpPr>
          <p:cNvPr id="26" name="Text 24"/>
          <p:cNvSpPr txBox="1"/>
          <p:nvPr/>
        </p:nvSpPr>
        <p:spPr>
          <a:xfrm>
            <a:off x="7360920" y="3218688"/>
            <a:ext cx="4114800" cy="548640"/>
          </a:xfrm>
          <a:prstGeom prst="rect">
            <a:avLst/>
          </a:prstGeom>
          <a:noFill/>
          <a:ln/>
        </p:spPr>
        <p:txBody>
          <a:bodyPr wrap="square" lIns="0" tIns="0" rIns="0" bIns="0" rtlCol="0" anchor="ctr"/>
          <a:lstStyle/>
          <a:p>
            <a:pPr indent="0" marL="0">
              <a:buNone/>
            </a:pPr>
            <a:r>
              <a:rPr lang="en-US" sz="1600" b="1" dirty="0">
                <a:solidFill>
                  <a:srgbClr val="0B2545"/>
                </a:solidFill>
                <a:latin typeface="Arial" pitchFamily="34" charset="0"/>
                <a:ea typeface="Arial" pitchFamily="34" charset="-122"/>
                <a:cs typeface="Arial" pitchFamily="34" charset="-120"/>
              </a:rPr>
              <a:t>Ask it to publish on GitHub Pages</a:t>
            </a:r>
            <a:endParaRPr lang="en-US" sz="1600" dirty="0"/>
          </a:p>
        </p:txBody>
      </p:sp>
      <p:sp>
        <p:nvSpPr>
          <p:cNvPr id="27" name="Text 25"/>
          <p:cNvSpPr txBox="1"/>
          <p:nvPr/>
        </p:nvSpPr>
        <p:spPr>
          <a:xfrm>
            <a:off x="7360920" y="3767328"/>
            <a:ext cx="4114800" cy="411480"/>
          </a:xfrm>
          <a:prstGeom prst="rect">
            <a:avLst/>
          </a:prstGeom>
          <a:noFill/>
          <a:ln/>
        </p:spPr>
        <p:txBody>
          <a:bodyPr wrap="square" lIns="0" tIns="0" rIns="0" bIns="0" rtlCol="0" anchor="ctr"/>
          <a:lstStyle/>
          <a:p>
            <a:pPr indent="0" marL="0">
              <a:buNone/>
            </a:pPr>
            <a:r>
              <a:rPr lang="en-US" sz="1400" dirty="0">
                <a:solidFill>
                  <a:srgbClr val="5B6678"/>
                </a:solidFill>
                <a:latin typeface="Calibri" pitchFamily="34" charset="0"/>
                <a:ea typeface="Calibri" pitchFamily="34" charset="-122"/>
                <a:cs typeface="Calibri" pitchFamily="34" charset="-120"/>
              </a:rPr>
              <a:t>You now have a live site.</a:t>
            </a:r>
            <a:endParaRPr lang="en-US" sz="1400" dirty="0"/>
          </a:p>
        </p:txBody>
      </p:sp>
      <p:sp>
        <p:nvSpPr>
          <p:cNvPr id="28" name="Shape 26"/>
          <p:cNvSpPr/>
          <p:nvPr/>
        </p:nvSpPr>
        <p:spPr>
          <a:xfrm>
            <a:off x="6263640" y="4572000"/>
            <a:ext cx="5394960" cy="1325880"/>
          </a:xfrm>
          <a:prstGeom prst="roundRect">
            <a:avLst>
              <a:gd name="adj" fmla="val 8276"/>
            </a:avLst>
          </a:prstGeom>
          <a:solidFill>
            <a:srgbClr val="FFFFFF"/>
          </a:solidFill>
          <a:ln w="9525">
            <a:solidFill>
              <a:srgbClr val="E1E6EE"/>
            </a:solidFill>
            <a:prstDash val="solid"/>
          </a:ln>
          <a:effectLst>
            <a:outerShdw sx="100000" sy="100000" kx="0" ky="0" algn="bl" rotWithShape="0" blurRad="101600" dist="25400" dir="5400000">
              <a:srgbClr val="000000">
                <a:alpha val="12000"/>
              </a:srgbClr>
            </a:outerShdw>
          </a:effectLst>
        </p:spPr>
      </p:sp>
      <p:sp>
        <p:nvSpPr>
          <p:cNvPr id="29" name="Shape 27"/>
          <p:cNvSpPr/>
          <p:nvPr/>
        </p:nvSpPr>
        <p:spPr>
          <a:xfrm>
            <a:off x="6537960" y="4937760"/>
            <a:ext cx="594360" cy="594360"/>
          </a:xfrm>
          <a:prstGeom prst="ellipse">
            <a:avLst/>
          </a:prstGeom>
          <a:solidFill>
            <a:srgbClr val="2A78D6"/>
          </a:solidFill>
          <a:ln w="12700">
            <a:solidFill>
              <a:srgbClr val="2A78D6"/>
            </a:solidFill>
            <a:prstDash val="solid"/>
          </a:ln>
        </p:spPr>
      </p:sp>
      <p:sp>
        <p:nvSpPr>
          <p:cNvPr id="30" name="Text 28"/>
          <p:cNvSpPr txBox="1"/>
          <p:nvPr/>
        </p:nvSpPr>
        <p:spPr>
          <a:xfrm>
            <a:off x="6537960" y="4937760"/>
            <a:ext cx="594360" cy="594360"/>
          </a:xfrm>
          <a:prstGeom prst="rect">
            <a:avLst/>
          </a:prstGeom>
          <a:noFill/>
          <a:ln/>
        </p:spPr>
        <p:txBody>
          <a:bodyPr wrap="square" lIns="0" tIns="0" rIns="0" bIns="0" rtlCol="0" anchor="ctr"/>
          <a:lstStyle/>
          <a:p>
            <a:pPr algn="ctr" indent="0" marL="0">
              <a:buNone/>
            </a:pPr>
            <a:r>
              <a:rPr lang="en-US" sz="1950" b="1" dirty="0">
                <a:solidFill>
                  <a:srgbClr val="FFFFFF"/>
                </a:solidFill>
                <a:latin typeface="Arial" pitchFamily="34" charset="0"/>
                <a:ea typeface="Arial" pitchFamily="34" charset="-122"/>
                <a:cs typeface="Arial" pitchFamily="34" charset="-120"/>
              </a:rPr>
              <a:t>6</a:t>
            </a:r>
            <a:endParaRPr lang="en-US" sz="1950" dirty="0"/>
          </a:p>
        </p:txBody>
      </p:sp>
      <p:sp>
        <p:nvSpPr>
          <p:cNvPr id="31" name="Text 29"/>
          <p:cNvSpPr txBox="1"/>
          <p:nvPr/>
        </p:nvSpPr>
        <p:spPr>
          <a:xfrm>
            <a:off x="7360920" y="4773168"/>
            <a:ext cx="4114800" cy="548640"/>
          </a:xfrm>
          <a:prstGeom prst="rect">
            <a:avLst/>
          </a:prstGeom>
          <a:noFill/>
          <a:ln/>
        </p:spPr>
        <p:txBody>
          <a:bodyPr wrap="square" lIns="0" tIns="0" rIns="0" bIns="0" rtlCol="0" anchor="ctr"/>
          <a:lstStyle/>
          <a:p>
            <a:pPr indent="0" marL="0">
              <a:buNone/>
            </a:pPr>
            <a:r>
              <a:rPr lang="en-US" sz="1600" b="1" dirty="0">
                <a:solidFill>
                  <a:srgbClr val="0B2545"/>
                </a:solidFill>
                <a:latin typeface="Arial" pitchFamily="34" charset="0"/>
                <a:ea typeface="Arial" pitchFamily="34" charset="-122"/>
                <a:cs typeface="Arial" pitchFamily="34" charset="-120"/>
              </a:rPr>
              <a:t>Iterate one change at a time</a:t>
            </a:r>
            <a:endParaRPr lang="en-US" sz="1600" dirty="0"/>
          </a:p>
        </p:txBody>
      </p:sp>
      <p:sp>
        <p:nvSpPr>
          <p:cNvPr id="32" name="Text 30"/>
          <p:cNvSpPr txBox="1"/>
          <p:nvPr/>
        </p:nvSpPr>
        <p:spPr>
          <a:xfrm>
            <a:off x="7360920" y="5321808"/>
            <a:ext cx="4114800" cy="411480"/>
          </a:xfrm>
          <a:prstGeom prst="rect">
            <a:avLst/>
          </a:prstGeom>
          <a:noFill/>
          <a:ln/>
        </p:spPr>
        <p:txBody>
          <a:bodyPr wrap="square" lIns="0" tIns="0" rIns="0" bIns="0" rtlCol="0" anchor="ctr"/>
          <a:lstStyle/>
          <a:p>
            <a:pPr indent="0" marL="0">
              <a:buNone/>
            </a:pPr>
            <a:r>
              <a:rPr lang="en-US" sz="1400" dirty="0">
                <a:solidFill>
                  <a:srgbClr val="5B6678"/>
                </a:solidFill>
                <a:latin typeface="Calibri" pitchFamily="34" charset="0"/>
                <a:ea typeface="Calibri" pitchFamily="34" charset="-122"/>
                <a:cs typeface="Calibri" pitchFamily="34" charset="-120"/>
              </a:rPr>
              <a:t>Look, react, repeat. Ask for reviews.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2545"/>
        </a:solidFill>
      </p:bgPr>
    </p:bg>
    <p:spTree>
      <p:nvGrpSpPr>
        <p:cNvPr id="1" name=""/>
        <p:cNvGrpSpPr/>
        <p:nvPr/>
      </p:nvGrpSpPr>
      <p:grpSpPr>
        <a:xfrm>
          <a:off x="0" y="0"/>
          <a:ext cx="0" cy="0"/>
          <a:chOff x="0" y="0"/>
          <a:chExt cx="0" cy="0"/>
        </a:xfrm>
      </p:grpSpPr>
      <p:sp>
        <p:nvSpPr>
          <p:cNvPr id="2" name="Text 0"/>
          <p:cNvSpPr txBox="1"/>
          <p:nvPr/>
        </p:nvSpPr>
        <p:spPr>
          <a:xfrm>
            <a:off x="640080" y="1188720"/>
            <a:ext cx="10972800" cy="457200"/>
          </a:xfrm>
          <a:prstGeom prst="rect">
            <a:avLst/>
          </a:prstGeom>
          <a:noFill/>
          <a:ln/>
        </p:spPr>
        <p:txBody>
          <a:bodyPr wrap="square" lIns="0" tIns="0" rIns="0" bIns="0" rtlCol="0" anchor="ctr"/>
          <a:lstStyle/>
          <a:p>
            <a:pPr indent="0" marL="0">
              <a:buNone/>
            </a:pPr>
            <a:r>
              <a:rPr lang="en-US" sz="1600" b="1" spc="400" kern="0" dirty="0">
                <a:solidFill>
                  <a:srgbClr val="E8A33D"/>
                </a:solidFill>
                <a:latin typeface="Arial" pitchFamily="34" charset="0"/>
                <a:ea typeface="Arial" pitchFamily="34" charset="-122"/>
                <a:cs typeface="Arial" pitchFamily="34" charset="-120"/>
              </a:rPr>
              <a:t>The takeaway</a:t>
            </a:r>
            <a:endParaRPr lang="en-US" sz="1600" dirty="0"/>
          </a:p>
        </p:txBody>
      </p:sp>
      <p:sp>
        <p:nvSpPr>
          <p:cNvPr id="3" name="Text 1"/>
          <p:cNvSpPr txBox="1"/>
          <p:nvPr/>
        </p:nvSpPr>
        <p:spPr>
          <a:xfrm>
            <a:off x="640080" y="1737360"/>
            <a:ext cx="10972800" cy="201168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Claude writes the code.</a:t>
            </a:r>
            <a:endParaRPr lang="en-US" sz="4800" dirty="0"/>
          </a:p>
          <a:p>
            <a:pPr indent="0" marL="0">
              <a:buNone/>
            </a:pPr>
            <a:r>
              <a:rPr lang="en-US" sz="4800" b="1" dirty="0">
                <a:solidFill>
                  <a:srgbClr val="FFFFFF"/>
                </a:solidFill>
                <a:latin typeface="Arial" pitchFamily="34" charset="0"/>
                <a:ea typeface="Arial" pitchFamily="34" charset="-122"/>
                <a:cs typeface="Arial" pitchFamily="34" charset="-120"/>
              </a:rPr>
              <a:t>You supply the judgment.</a:t>
            </a:r>
            <a:endParaRPr lang="en-US" sz="4800" dirty="0"/>
          </a:p>
        </p:txBody>
      </p:sp>
      <p:sp>
        <p:nvSpPr>
          <p:cNvPr id="4" name="Text 2"/>
          <p:cNvSpPr txBox="1"/>
          <p:nvPr/>
        </p:nvSpPr>
        <p:spPr>
          <a:xfrm>
            <a:off x="640080" y="4023360"/>
            <a:ext cx="9601200" cy="1005840"/>
          </a:xfrm>
          <a:prstGeom prst="rect">
            <a:avLst/>
          </a:prstGeom>
          <a:noFill/>
          <a:ln/>
        </p:spPr>
        <p:txBody>
          <a:bodyPr wrap="square" lIns="0" tIns="0" rIns="0" bIns="0" rtlCol="0" anchor="ctr"/>
          <a:lstStyle/>
          <a:p>
            <a:pPr indent="0" marL="0">
              <a:buNone/>
            </a:pPr>
            <a:r>
              <a:rPr lang="en-US" sz="2000" dirty="0">
                <a:solidFill>
                  <a:srgbClr val="B8C7DD"/>
                </a:solidFill>
                <a:latin typeface="Calibri" pitchFamily="34" charset="0"/>
                <a:ea typeface="Calibri" pitchFamily="34" charset="-122"/>
                <a:cs typeface="Calibri" pitchFamily="34" charset="-120"/>
              </a:rPr>
              <a:t>Start with a clear spec. Change one thing at a time. Treat every error as a request for a guardrail. Have a second Claude check the first.</a:t>
            </a:r>
            <a:endParaRPr lang="en-US" sz="2000" dirty="0"/>
          </a:p>
        </p:txBody>
      </p:sp>
      <p:sp>
        <p:nvSpPr>
          <p:cNvPr id="5" name="Text 3"/>
          <p:cNvSpPr txBox="1"/>
          <p:nvPr/>
        </p:nvSpPr>
        <p:spPr>
          <a:xfrm>
            <a:off x="640080" y="5760720"/>
            <a:ext cx="10972800" cy="365760"/>
          </a:xfrm>
          <a:prstGeom prst="rect">
            <a:avLst/>
          </a:prstGeom>
          <a:noFill/>
          <a:ln/>
        </p:spPr>
        <p:txBody>
          <a:bodyPr wrap="square" lIns="0" tIns="0" rIns="0" bIns="0" rtlCol="0" anchor="ctr"/>
          <a:lstStyle/>
          <a:p>
            <a:pPr indent="0" marL="0">
              <a:buNone/>
            </a:pPr>
            <a:r>
              <a:rPr lang="en-US" sz="1400" dirty="0">
                <a:solidFill>
                  <a:srgbClr val="8FA3C0"/>
                </a:solidFill>
                <a:latin typeface="Calibri" pitchFamily="34" charset="0"/>
                <a:ea typeface="Calibri" pitchFamily="34" charset="-122"/>
                <a:cs typeface="Calibri" pitchFamily="34" charset="-120"/>
              </a:rPr>
              <a:t>flockstopscrime.com  ·  github.com/CharlesFainLehman/flock-crime-tracker</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Vibecoding a Website with Claude Code</dc:title>
  <dc:subject>PptxGenJS Presentation</dc:subject>
  <dc:creator>PptxGenJS</dc:creator>
  <cp:lastModifiedBy>PptxGenJS</cp:lastModifiedBy>
  <cp:revision>1</cp:revision>
  <dcterms:created xsi:type="dcterms:W3CDTF">2026-09-23T22:18:59Z</dcterms:created>
  <dcterms:modified xsi:type="dcterms:W3CDTF">2026-09-23T22:18:59Z</dcterms:modified>
</cp:coreProperties>
</file>